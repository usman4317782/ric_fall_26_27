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95360" y="0"/>
            <a:ext cx="3593592" cy="6858000"/>
          </a:xfrm>
          <a:prstGeom prst="rect">
            <a:avLst/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76104" y="832103"/>
            <a:ext cx="621792" cy="621792"/>
          </a:xfrm>
          <a:prstGeom prst="ellipse">
            <a:avLst/>
          </a:prstGeom>
          <a:solidFill>
            <a:srgbClr val="00B5AD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4" name="Oval 3"/>
          <p:cNvSpPr/>
          <p:nvPr/>
        </p:nvSpPr>
        <p:spPr>
          <a:xfrm>
            <a:off x="8924544" y="2112264"/>
            <a:ext cx="621792" cy="621792"/>
          </a:xfrm>
          <a:prstGeom prst="ellipse">
            <a:avLst/>
          </a:prstGeom>
          <a:solidFill>
            <a:srgbClr val="57D2DC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5" name="Oval 4"/>
          <p:cNvSpPr/>
          <p:nvPr/>
        </p:nvSpPr>
        <p:spPr>
          <a:xfrm>
            <a:off x="10981944" y="2112264"/>
            <a:ext cx="621792" cy="621792"/>
          </a:xfrm>
          <a:prstGeom prst="ellipse">
            <a:avLst/>
          </a:prstGeom>
          <a:solidFill>
            <a:srgbClr val="F6BE4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6" name="Oval 5"/>
          <p:cNvSpPr/>
          <p:nvPr/>
        </p:nvSpPr>
        <p:spPr>
          <a:xfrm>
            <a:off x="8330183" y="3483864"/>
            <a:ext cx="621792" cy="621792"/>
          </a:xfrm>
          <a:prstGeom prst="ellipse">
            <a:avLst/>
          </a:prstGeom>
          <a:solidFill>
            <a:srgbClr val="B18FFF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9518904" y="3483864"/>
            <a:ext cx="621792" cy="621792"/>
          </a:xfrm>
          <a:prstGeom prst="ellipse">
            <a:avLst/>
          </a:prstGeom>
          <a:solidFill>
            <a:srgbClr val="53CD97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8" name="Oval 7"/>
          <p:cNvSpPr/>
          <p:nvPr/>
        </p:nvSpPr>
        <p:spPr>
          <a:xfrm>
            <a:off x="10661904" y="3483864"/>
            <a:ext cx="621792" cy="621792"/>
          </a:xfrm>
          <a:prstGeom prst="ellipse">
            <a:avLst/>
          </a:prstGeom>
          <a:solidFill>
            <a:srgbClr val="57D2DC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9" name="Oval 8"/>
          <p:cNvSpPr/>
          <p:nvPr/>
        </p:nvSpPr>
        <p:spPr>
          <a:xfrm>
            <a:off x="11439144" y="3483864"/>
            <a:ext cx="621792" cy="621792"/>
          </a:xfrm>
          <a:prstGeom prst="ellipse">
            <a:avLst/>
          </a:prstGeom>
          <a:solidFill>
            <a:srgbClr val="F6BE4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F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9235440" y="1463040"/>
            <a:ext cx="1051560" cy="649224"/>
          </a:xfrm>
          <a:prstGeom prst="line">
            <a:avLst/>
          </a:prstGeom>
          <a:ln w="19050">
            <a:solidFill>
              <a:srgbClr val="5F7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287000" y="1463040"/>
            <a:ext cx="1005840" cy="649224"/>
          </a:xfrm>
          <a:prstGeom prst="line">
            <a:avLst/>
          </a:prstGeom>
          <a:ln w="19050">
            <a:solidFill>
              <a:srgbClr val="5F7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641080" y="2734056"/>
            <a:ext cx="594360" cy="749808"/>
          </a:xfrm>
          <a:prstGeom prst="line">
            <a:avLst/>
          </a:prstGeom>
          <a:ln w="19050">
            <a:solidFill>
              <a:srgbClr val="5F7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35440" y="2734056"/>
            <a:ext cx="594360" cy="749808"/>
          </a:xfrm>
          <a:prstGeom prst="line">
            <a:avLst/>
          </a:prstGeom>
          <a:ln w="19050">
            <a:solidFill>
              <a:srgbClr val="5F7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0972800" y="2734056"/>
            <a:ext cx="320040" cy="749808"/>
          </a:xfrm>
          <a:prstGeom prst="line">
            <a:avLst/>
          </a:prstGeom>
          <a:ln w="19050">
            <a:solidFill>
              <a:srgbClr val="5F7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292840" y="2734056"/>
            <a:ext cx="457200" cy="749808"/>
          </a:xfrm>
          <a:prstGeom prst="line">
            <a:avLst/>
          </a:prstGeom>
          <a:ln w="19050">
            <a:solidFill>
              <a:srgbClr val="5F7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731520"/>
            <a:ext cx="7040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00B5AD"/>
                </a:solidFill>
                <a:latin typeface="Aptos"/>
              </a:defRPr>
            </a:pPr>
            <a:r>
              <a:t>ARTIFICIAL INTELLIGENCE  /  WEEK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417320"/>
            <a:ext cx="731520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4000" b="1" i="0">
                <a:solidFill>
                  <a:srgbClr val="F8FAFD"/>
                </a:solidFill>
                <a:latin typeface="Aptos"/>
              </a:defRPr>
            </a:pPr>
            <a:r>
              <a:t>PROBLEM</a:t>
            </a:r>
          </a:p>
          <a:p>
            <a:pPr algn="l">
              <a:spcAft>
                <a:spcPts val="700"/>
              </a:spcAft>
              <a:defRPr sz="4000" b="1" i="0">
                <a:solidFill>
                  <a:srgbClr val="F8FAFD"/>
                </a:solidFill>
                <a:latin typeface="Aptos"/>
              </a:defRPr>
            </a:pPr>
            <a:r>
              <a:t>SOLVING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429000"/>
            <a:ext cx="72237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900" b="0" i="0">
                <a:solidFill>
                  <a:srgbClr val="B2C0D3"/>
                </a:solidFill>
                <a:latin typeface="Aptos"/>
              </a:defRPr>
            </a:pPr>
            <a:r>
              <a:t>Solving Problems by Searching • Uninformed Search • BFS &amp; DFS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4663440"/>
            <a:ext cx="1051560" cy="54864"/>
          </a:xfrm>
          <a:prstGeom prst="rect">
            <a:avLst/>
          </a:prstGeom>
          <a:solidFill>
            <a:srgbClr val="F6BE46"/>
          </a:solidFill>
          <a:ln>
            <a:solidFill>
              <a:srgbClr val="F6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937760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F6BE46"/>
                </a:solidFill>
                <a:latin typeface="Aptos"/>
              </a:defRPr>
            </a:pPr>
            <a:r>
              <a:t>LECTURE 03 &amp;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715000"/>
            <a:ext cx="7132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F8FAFD"/>
                </a:solidFill>
                <a:latin typeface="Aptos"/>
              </a:defRPr>
            </a:pPr>
            <a:r>
              <a:t>Concepts • Search trees • Algorithms • Tracing • Comparison • Practice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By the end of this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A clear path from problem formulation to tracing two core search strategies.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64008" cy="1417320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221992"/>
            <a:ext cx="30632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B5AD"/>
                </a:solidFill>
                <a:latin typeface="Aptos"/>
              </a:defRPr>
            </a:pPr>
            <a:r>
              <a:t>01  FORMULATE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15768"/>
            <a:ext cx="30632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Represent a task using states, actions, goals and costs.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574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057400"/>
            <a:ext cx="64008" cy="1417320"/>
          </a:xfrm>
          <a:prstGeom prst="rect">
            <a:avLst/>
          </a:prstGeom>
          <a:solidFill>
            <a:srgbClr val="F6BE46"/>
          </a:solidFill>
          <a:ln>
            <a:solidFill>
              <a:srgbClr val="F6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221992"/>
            <a:ext cx="30632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6BE46"/>
                </a:solidFill>
                <a:latin typeface="Aptos"/>
              </a:defRPr>
            </a:pPr>
            <a:r>
              <a:t>02 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715768"/>
            <a:ext cx="30632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Explain how search explores a state space.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574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057400"/>
            <a:ext cx="64008" cy="1417320"/>
          </a:xfrm>
          <a:prstGeom prst="rect">
            <a:avLst/>
          </a:prstGeom>
          <a:solidFill>
            <a:srgbClr val="57D2DC"/>
          </a:solidFill>
          <a:ln>
            <a:solidFill>
              <a:srgbClr val="57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221992"/>
            <a:ext cx="30632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57D2DC"/>
                </a:solidFill>
                <a:latin typeface="Aptos"/>
              </a:defRPr>
            </a:pPr>
            <a:r>
              <a:t>03  TRACE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715768"/>
            <a:ext cx="30632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Run BFS and DFS on a graph using a frontier.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38862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60320" y="3886200"/>
            <a:ext cx="64008" cy="1417320"/>
          </a:xfrm>
          <a:prstGeom prst="rect">
            <a:avLst/>
          </a:prstGeom>
          <a:solidFill>
            <a:srgbClr val="B18FFF"/>
          </a:solidFill>
          <a:ln>
            <a:solidFill>
              <a:srgbClr val="B1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61488" y="4050791"/>
            <a:ext cx="30632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B18FFF"/>
                </a:solidFill>
                <a:latin typeface="Aptos"/>
              </a:defRPr>
            </a:pPr>
            <a:r>
              <a:t>04  EVALUATE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1488" y="4544568"/>
            <a:ext cx="30632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Compare completeness, optimality, time and space.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8862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886200"/>
            <a:ext cx="64008" cy="1417320"/>
          </a:xfrm>
          <a:prstGeom prst="rect">
            <a:avLst/>
          </a:prstGeom>
          <a:solidFill>
            <a:srgbClr val="53CD97"/>
          </a:solidFill>
          <a:ln>
            <a:solidFill>
              <a:srgbClr val="53C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4050791"/>
            <a:ext cx="30632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53CD97"/>
                </a:solidFill>
                <a:latin typeface="Aptos"/>
              </a:defRPr>
            </a:pPr>
            <a:r>
              <a:t>05  APPLY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4544568"/>
            <a:ext cx="30632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Choose a suitable strategy for a given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ENGAGE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Warm-up: how would you find a route?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Imagine a delivery robot must move from the start point to a destination.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03120"/>
            <a:ext cx="3383280" cy="210312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103120"/>
            <a:ext cx="64008" cy="2103120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267712"/>
            <a:ext cx="3017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B5AD"/>
                </a:solidFill>
                <a:latin typeface="Aptos"/>
              </a:defRPr>
            </a:pPr>
            <a:r>
              <a:t>THE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761487"/>
            <a:ext cx="3017520" cy="1325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800" b="0" i="0">
                <a:solidFill>
                  <a:srgbClr val="F8FAFD"/>
                </a:solidFill>
                <a:latin typeface="Aptos"/>
              </a:defRPr>
            </a:pPr>
            <a:r>
              <a:t>Start: Library</a:t>
            </a:r>
          </a:p>
          <a:p>
            <a:pPr algn="l">
              <a:spcAft>
                <a:spcPts val="700"/>
              </a:spcAft>
              <a:defRPr sz="1800" b="0" i="0">
                <a:solidFill>
                  <a:srgbClr val="F8FAFD"/>
                </a:solidFill>
                <a:latin typeface="Aptos"/>
              </a:defRPr>
            </a:pPr>
            <a:r>
              <a:t>Goal: Lab</a:t>
            </a:r>
          </a:p>
          <a:p>
            <a:pPr algn="l">
              <a:spcAft>
                <a:spcPts val="700"/>
              </a:spcAft>
              <a:defRPr sz="1800" b="0" i="0">
                <a:solidFill>
                  <a:srgbClr val="F8FAFD"/>
                </a:solidFill>
                <a:latin typeface="Aptos"/>
              </a:defRPr>
            </a:pPr>
            <a:r>
              <a:t>Possible moves: connected corridors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3383280" cy="210312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103120"/>
            <a:ext cx="64008" cy="2103120"/>
          </a:xfrm>
          <a:prstGeom prst="rect">
            <a:avLst/>
          </a:prstGeom>
          <a:solidFill>
            <a:srgbClr val="F6BE46"/>
          </a:solidFill>
          <a:ln>
            <a:solidFill>
              <a:srgbClr val="F6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267712"/>
            <a:ext cx="3017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6BE46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761487"/>
            <a:ext cx="3017520" cy="1325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800" b="0" i="0">
                <a:solidFill>
                  <a:srgbClr val="F8FAFD"/>
                </a:solidFill>
                <a:latin typeface="Aptos"/>
              </a:defRPr>
            </a:pPr>
            <a:r>
              <a:t>There may be many routes.</a:t>
            </a:r>
          </a:p>
          <a:p>
            <a:pPr algn="l">
              <a:spcAft>
                <a:spcPts val="700"/>
              </a:spcAft>
              <a:defRPr sz="1800" b="0" i="0">
                <a:solidFill>
                  <a:srgbClr val="F8FAFD"/>
                </a:solidFill>
                <a:latin typeface="Aptos"/>
              </a:defRPr>
            </a:pPr>
            <a:r>
              <a:t>Which route should be checked first?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103120"/>
            <a:ext cx="3383280" cy="210312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2103120"/>
            <a:ext cx="64008" cy="2103120"/>
          </a:xfrm>
          <a:prstGeom prst="rect">
            <a:avLst/>
          </a:prstGeom>
          <a:solidFill>
            <a:srgbClr val="57D2DC"/>
          </a:solidFill>
          <a:ln>
            <a:solidFill>
              <a:srgbClr val="57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2267712"/>
            <a:ext cx="3017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57D2DC"/>
                </a:solidFill>
                <a:latin typeface="Aptos"/>
              </a:defRPr>
            </a:pPr>
            <a:r>
              <a:t>THE AI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761487"/>
            <a:ext cx="3017520" cy="1325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800" b="0" i="0">
                <a:solidFill>
                  <a:srgbClr val="F8FAFD"/>
                </a:solidFill>
                <a:latin typeface="Aptos"/>
              </a:defRPr>
            </a:pPr>
            <a:r>
              <a:t>How can an agent search systematically instead of guessing?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892040"/>
            <a:ext cx="10424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100" b="1" i="0">
                <a:solidFill>
                  <a:srgbClr val="F8FAFD"/>
                </a:solidFill>
                <a:latin typeface="Aptos"/>
              </a:defRPr>
            </a:pPr>
            <a:r>
              <a:t>Think–pair–share: Is the shortest route always the first route you discover?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LECTURE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Problem solving in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Problem solving is the process of selecting actions that lead from an initial situation to a desired goal.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9848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F8FAFD"/>
                </a:solidFill>
                <a:latin typeface="Aptos"/>
              </a:defRPr>
            </a:pPr>
            <a:r>
              <a:t>•  An agent observes a problem description and reasons about possible actions.</a:t>
            </a:r>
          </a:p>
          <a:p>
            <a:pPr>
              <a:spcAft>
                <a:spcPts val="1000"/>
              </a:spcAft>
              <a:defRPr sz="1900">
                <a:solidFill>
                  <a:srgbClr val="F8FAFD"/>
                </a:solidFill>
                <a:latin typeface="Aptos"/>
              </a:defRPr>
            </a:pPr>
            <a:r>
              <a:t>•  A solution is a sequence of actions that reaches a goal state.</a:t>
            </a:r>
          </a:p>
          <a:p>
            <a:pPr>
              <a:spcAft>
                <a:spcPts val="1000"/>
              </a:spcAft>
              <a:defRPr sz="1900">
                <a:solidFill>
                  <a:srgbClr val="F8FAFD"/>
                </a:solidFill>
                <a:latin typeface="Aptos"/>
              </a:defRPr>
            </a:pPr>
            <a:r>
              <a:t>•  Search is useful when the agent cannot immediately determine the correct action.</a:t>
            </a:r>
          </a:p>
          <a:p>
            <a:pPr>
              <a:spcAft>
                <a:spcPts val="1000"/>
              </a:spcAft>
              <a:defRPr sz="1900">
                <a:solidFill>
                  <a:srgbClr val="F8FAFD"/>
                </a:solidFill>
                <a:latin typeface="Aptos"/>
              </a:defRPr>
            </a:pPr>
            <a:r>
              <a:t>•  The search strategy determines the order in which alternatives are explored.</a:t>
            </a:r>
          </a:p>
          <a:p>
            <a:pPr>
              <a:spcAft>
                <a:spcPts val="1000"/>
              </a:spcAft>
              <a:defRPr sz="1900">
                <a:solidFill>
                  <a:srgbClr val="F8FAFD"/>
                </a:solidFill>
                <a:latin typeface="Aptos"/>
              </a:defRPr>
            </a:pPr>
            <a:r>
              <a:t>•  Examples: route finding, puzzle solving, robot navigation, game planning and troubleshooting.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LECTURE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From a goal to 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A search problem can be viewed as a pipeline.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691640" cy="150876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64008" cy="1508760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724912"/>
            <a:ext cx="13258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B5AD"/>
                </a:solidFill>
                <a:latin typeface="Aptos"/>
              </a:defRPr>
            </a:pPr>
            <a:r>
              <a:t>DEFINE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7"/>
            <a:ext cx="132588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F8FAFD"/>
                </a:solidFill>
                <a:latin typeface="Aptos"/>
              </a:defRPr>
            </a:pPr>
            <a:r>
              <a:t>What is the goal?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41448" y="3310128"/>
            <a:ext cx="502920" cy="0"/>
          </a:xfrm>
          <a:prstGeom prst="line">
            <a:avLst/>
          </a:prstGeom>
          <a:ln w="25400">
            <a:solidFill>
              <a:srgbClr val="B2C0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17520" y="2560320"/>
            <a:ext cx="1691640" cy="150876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17520" y="2560320"/>
            <a:ext cx="64008" cy="1508760"/>
          </a:xfrm>
          <a:prstGeom prst="rect">
            <a:avLst/>
          </a:prstGeom>
          <a:solidFill>
            <a:srgbClr val="57D2DC"/>
          </a:solidFill>
          <a:ln>
            <a:solidFill>
              <a:srgbClr val="57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18688" y="2724912"/>
            <a:ext cx="13258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57D2DC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3218687"/>
            <a:ext cx="132588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F8FAFD"/>
                </a:solidFill>
                <a:latin typeface="Aptos"/>
              </a:defRPr>
            </a:pPr>
            <a:r>
              <a:t>What are the states?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27448" y="3310128"/>
            <a:ext cx="502920" cy="0"/>
          </a:xfrm>
          <a:prstGeom prst="line">
            <a:avLst/>
          </a:prstGeom>
          <a:ln w="25400">
            <a:solidFill>
              <a:srgbClr val="B2C0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303520" y="2560320"/>
            <a:ext cx="1691640" cy="150876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03520" y="2560320"/>
            <a:ext cx="64008" cy="1508760"/>
          </a:xfrm>
          <a:prstGeom prst="rect">
            <a:avLst/>
          </a:prstGeom>
          <a:solidFill>
            <a:srgbClr val="F6BE46"/>
          </a:solidFill>
          <a:ln>
            <a:solidFill>
              <a:srgbClr val="F6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04688" y="2724912"/>
            <a:ext cx="13258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6BE46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4688" y="3218687"/>
            <a:ext cx="132588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F8FAFD"/>
                </a:solidFill>
                <a:latin typeface="Aptos"/>
              </a:defRPr>
            </a:pPr>
            <a:r>
              <a:t>Which states next?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13448" y="3310128"/>
            <a:ext cx="502920" cy="0"/>
          </a:xfrm>
          <a:prstGeom prst="line">
            <a:avLst/>
          </a:prstGeom>
          <a:ln w="25400">
            <a:solidFill>
              <a:srgbClr val="B2C0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589520" y="2560320"/>
            <a:ext cx="1691640" cy="150876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89520" y="2560320"/>
            <a:ext cx="64008" cy="1508760"/>
          </a:xfrm>
          <a:prstGeom prst="rect">
            <a:avLst/>
          </a:prstGeom>
          <a:solidFill>
            <a:srgbClr val="B18FFF"/>
          </a:solidFill>
          <a:ln>
            <a:solidFill>
              <a:srgbClr val="B1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90688" y="2724912"/>
            <a:ext cx="13258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B18FF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0688" y="3218687"/>
            <a:ext cx="132588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F8FAFD"/>
                </a:solidFill>
                <a:latin typeface="Aptos"/>
              </a:defRPr>
            </a:pPr>
            <a:r>
              <a:t>Have we reached goal?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299448" y="3310128"/>
            <a:ext cx="502920" cy="0"/>
          </a:xfrm>
          <a:prstGeom prst="line">
            <a:avLst/>
          </a:prstGeom>
          <a:ln w="25400">
            <a:solidFill>
              <a:srgbClr val="B2C0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875520" y="2560320"/>
            <a:ext cx="1691640" cy="150876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75520" y="2560320"/>
            <a:ext cx="64008" cy="1508760"/>
          </a:xfrm>
          <a:prstGeom prst="rect">
            <a:avLst/>
          </a:prstGeom>
          <a:solidFill>
            <a:srgbClr val="53CD97"/>
          </a:solidFill>
          <a:ln>
            <a:solidFill>
              <a:srgbClr val="53C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76688" y="2724912"/>
            <a:ext cx="13258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53CD97"/>
                </a:solidFill>
                <a:latin typeface="Aptos"/>
              </a:defRPr>
            </a:pPr>
            <a:r>
              <a:t>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76688" y="3218687"/>
            <a:ext cx="132588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F8FAFD"/>
                </a:solidFill>
                <a:latin typeface="Aptos"/>
              </a:defRPr>
            </a:pPr>
            <a:r>
              <a:t>Action sequence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800600"/>
            <a:ext cx="10058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800" b="0" i="0">
                <a:solidFill>
                  <a:srgbClr val="B2C0D3"/>
                </a:solidFill>
                <a:latin typeface="Aptos"/>
              </a:defRPr>
            </a:pPr>
            <a:r>
              <a:t>If the goal test fails, the algorithm expands another candidate state.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LECTURE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The five components of a search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A precise formulation makes the problem solvable by an algorithm.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64008" cy="1508760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30632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B5AD"/>
                </a:solidFill>
                <a:latin typeface="Aptos"/>
              </a:defRPr>
            </a:pPr>
            <a:r>
              <a:t>INITIAL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70048"/>
            <a:ext cx="306324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Where does the agent begin?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1168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011680"/>
            <a:ext cx="64008" cy="1508760"/>
          </a:xfrm>
          <a:prstGeom prst="rect">
            <a:avLst/>
          </a:prstGeom>
          <a:solidFill>
            <a:srgbClr val="57D2DC"/>
          </a:solidFill>
          <a:ln>
            <a:solidFill>
              <a:srgbClr val="57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176272"/>
            <a:ext cx="30632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57D2DC"/>
                </a:solidFill>
                <a:latin typeface="Aptos"/>
              </a:defRPr>
            </a:pPr>
            <a:r>
              <a:t>ACTIONS / SUCCESSOR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670048"/>
            <a:ext cx="306324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Which actions are legal, and what state follows?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1168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011680"/>
            <a:ext cx="64008" cy="1508760"/>
          </a:xfrm>
          <a:prstGeom prst="rect">
            <a:avLst/>
          </a:prstGeom>
          <a:solidFill>
            <a:srgbClr val="F6BE46"/>
          </a:solidFill>
          <a:ln>
            <a:solidFill>
              <a:srgbClr val="F6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176272"/>
            <a:ext cx="30632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6BE46"/>
                </a:solidFill>
                <a:latin typeface="Aptos"/>
              </a:defRPr>
            </a:pPr>
            <a:r>
              <a:t>GOAL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670048"/>
            <a:ext cx="306324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How can the agent recognize success?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3977639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60320" y="3977639"/>
            <a:ext cx="64008" cy="1508760"/>
          </a:xfrm>
          <a:prstGeom prst="rect">
            <a:avLst/>
          </a:prstGeom>
          <a:solidFill>
            <a:srgbClr val="B18FFF"/>
          </a:solidFill>
          <a:ln>
            <a:solidFill>
              <a:srgbClr val="B1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61488" y="4142231"/>
            <a:ext cx="30632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B18FFF"/>
                </a:solidFill>
                <a:latin typeface="Aptos"/>
              </a:defRPr>
            </a:pPr>
            <a:r>
              <a:t>PATH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1488" y="4636007"/>
            <a:ext cx="306324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What does a route or solution cost?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977639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977639"/>
            <a:ext cx="64008" cy="1508760"/>
          </a:xfrm>
          <a:prstGeom prst="rect">
            <a:avLst/>
          </a:prstGeom>
          <a:solidFill>
            <a:srgbClr val="53CD97"/>
          </a:solidFill>
          <a:ln>
            <a:solidFill>
              <a:srgbClr val="53C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4142231"/>
            <a:ext cx="30632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53CD97"/>
                </a:solidFill>
                <a:latin typeface="Aptos"/>
              </a:defRPr>
            </a:pPr>
            <a:r>
              <a:t>STATE SPACE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4636007"/>
            <a:ext cx="306324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All reachable states under legal actions.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LECTURE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Worked formulation: a campus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Find a route from the Main Gate to the Computer Lab.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658368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D"/>
                </a:solidFill>
                <a:latin typeface="Aptos"/>
              </a:defRPr>
            </a:pPr>
            <a:r>
              <a:t>•  Initial state: Main Gate.</a:t>
            </a:r>
          </a:p>
          <a:p>
            <a:pPr>
              <a:spcAft>
                <a:spcPts val="1000"/>
              </a:spcAft>
              <a:defRPr sz="1800">
                <a:solidFill>
                  <a:srgbClr val="F8FAFD"/>
                </a:solidFill>
                <a:latin typeface="Aptos"/>
              </a:defRPr>
            </a:pPr>
            <a:r>
              <a:t>•  Actions: move to any directly connected location.</a:t>
            </a:r>
          </a:p>
          <a:p>
            <a:pPr>
              <a:spcAft>
                <a:spcPts val="1000"/>
              </a:spcAft>
              <a:defRPr sz="1800">
                <a:solidFill>
                  <a:srgbClr val="F8FAFD"/>
                </a:solidFill>
                <a:latin typeface="Aptos"/>
              </a:defRPr>
            </a:pPr>
            <a:r>
              <a:t>•  Transition model: moving along a corridor changes the current location.</a:t>
            </a:r>
          </a:p>
          <a:p>
            <a:pPr>
              <a:spcAft>
                <a:spcPts val="1000"/>
              </a:spcAft>
              <a:defRPr sz="1800">
                <a:solidFill>
                  <a:srgbClr val="F8FAFD"/>
                </a:solidFill>
                <a:latin typeface="Aptos"/>
              </a:defRPr>
            </a:pPr>
            <a:r>
              <a:t>•  Goal test: current location is Computer Lab.</a:t>
            </a:r>
          </a:p>
          <a:p>
            <a:pPr>
              <a:spcAft>
                <a:spcPts val="1000"/>
              </a:spcAft>
              <a:defRPr sz="1800">
                <a:solidFill>
                  <a:srgbClr val="F8FAFD"/>
                </a:solidFill>
                <a:latin typeface="Aptos"/>
              </a:defRPr>
            </a:pPr>
            <a:r>
              <a:t>•  Path cost: number of corridors travelled (assume each corridor costs 1).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8412480" y="2331720"/>
            <a:ext cx="1097280" cy="411480"/>
          </a:xfrm>
          <a:prstGeom prst="line">
            <a:avLst/>
          </a:prstGeom>
          <a:ln w="25400">
            <a:solidFill>
              <a:srgbClr val="00B5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412480" y="2743200"/>
            <a:ext cx="1097280" cy="685800"/>
          </a:xfrm>
          <a:prstGeom prst="line">
            <a:avLst/>
          </a:prstGeom>
          <a:ln w="25400">
            <a:solidFill>
              <a:srgbClr val="00B5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509760" y="2331720"/>
            <a:ext cx="1097280" cy="411480"/>
          </a:xfrm>
          <a:prstGeom prst="line">
            <a:avLst/>
          </a:prstGeom>
          <a:ln w="25400">
            <a:solidFill>
              <a:srgbClr val="00B5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509760" y="2743200"/>
            <a:ext cx="1097280" cy="685800"/>
          </a:xfrm>
          <a:prstGeom prst="line">
            <a:avLst/>
          </a:prstGeom>
          <a:ln w="25400">
            <a:solidFill>
              <a:srgbClr val="00B5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818120" y="2331720"/>
            <a:ext cx="822960" cy="822960"/>
          </a:xfrm>
          <a:prstGeom prst="ellipse">
            <a:avLst/>
          </a:prstGeom>
          <a:solidFill>
            <a:srgbClr val="F6BE4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1C30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4" name="Oval 13"/>
          <p:cNvSpPr/>
          <p:nvPr/>
        </p:nvSpPr>
        <p:spPr>
          <a:xfrm>
            <a:off x="9189719" y="1920240"/>
            <a:ext cx="731520" cy="731520"/>
          </a:xfrm>
          <a:prstGeom prst="ellipse">
            <a:avLst/>
          </a:prstGeom>
          <a:solidFill>
            <a:srgbClr val="57D2DC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11C30"/>
                </a:solidFill>
                <a:latin typeface="Aptos"/>
              </a:defRPr>
            </a:pPr>
            <a:r>
              <a:t>Hall</a:t>
            </a:r>
          </a:p>
        </p:txBody>
      </p:sp>
      <p:sp>
        <p:nvSpPr>
          <p:cNvPr id="15" name="Oval 14"/>
          <p:cNvSpPr/>
          <p:nvPr/>
        </p:nvSpPr>
        <p:spPr>
          <a:xfrm>
            <a:off x="9189719" y="3108960"/>
            <a:ext cx="731520" cy="731520"/>
          </a:xfrm>
          <a:prstGeom prst="ellipse">
            <a:avLst/>
          </a:prstGeom>
          <a:solidFill>
            <a:srgbClr val="B18FFF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11C30"/>
                </a:solidFill>
                <a:latin typeface="Aptos"/>
              </a:defRPr>
            </a:pPr>
            <a:r>
              <a:t>Cafe</a:t>
            </a:r>
          </a:p>
        </p:txBody>
      </p:sp>
      <p:sp>
        <p:nvSpPr>
          <p:cNvPr id="16" name="Oval 15"/>
          <p:cNvSpPr/>
          <p:nvPr/>
        </p:nvSpPr>
        <p:spPr>
          <a:xfrm>
            <a:off x="10405872" y="2359152"/>
            <a:ext cx="768096" cy="768096"/>
          </a:xfrm>
          <a:prstGeom prst="ellipse">
            <a:avLst/>
          </a:prstGeom>
          <a:solidFill>
            <a:srgbClr val="53CD97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1C30"/>
                </a:solidFill>
                <a:latin typeface="Aptos"/>
              </a:defRPr>
            </a:pPr>
            <a:r>
              <a:t>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206240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B2C0D3"/>
                </a:solidFill>
                <a:latin typeface="Aptos"/>
              </a:defRPr>
            </a:pPr>
            <a:r>
              <a:t>Illustrative state graph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LECTURE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State space versus search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These are related, but they are not identical.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57400"/>
            <a:ext cx="5074920" cy="242316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64008" cy="2423160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221992"/>
            <a:ext cx="470915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B5AD"/>
                </a:solidFill>
                <a:latin typeface="Aptos"/>
              </a:defRPr>
            </a:pPr>
            <a:r>
              <a:t>STATE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715768"/>
            <a:ext cx="4709159" cy="16459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800" b="0" i="0">
                <a:solidFill>
                  <a:srgbClr val="F8FAFD"/>
                </a:solidFill>
                <a:latin typeface="Aptos"/>
              </a:defRPr>
            </a:pPr>
            <a:r>
              <a:t>The problem’s possible states and legal transitions.</a:t>
            </a:r>
          </a:p>
          <a:p>
            <a:pPr algn="l">
              <a:spcAft>
                <a:spcPts val="700"/>
              </a:spcAft>
              <a:defRPr sz="1800" b="0" i="0">
                <a:solidFill>
                  <a:srgbClr val="F8FAFD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800" b="0" i="0">
                <a:solidFill>
                  <a:srgbClr val="F8FAFD"/>
                </a:solidFill>
                <a:latin typeface="Aptos"/>
              </a:defRPr>
            </a:pPr>
            <a:r>
              <a:t>A state may be reachable through multiple paths.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057400"/>
            <a:ext cx="5074920" cy="242316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057400"/>
            <a:ext cx="64008" cy="2423160"/>
          </a:xfrm>
          <a:prstGeom prst="rect">
            <a:avLst/>
          </a:prstGeom>
          <a:solidFill>
            <a:srgbClr val="F6BE46"/>
          </a:solidFill>
          <a:ln>
            <a:solidFill>
              <a:srgbClr val="F6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221992"/>
            <a:ext cx="470915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6BE46"/>
                </a:solidFill>
                <a:latin typeface="Aptos"/>
              </a:defRPr>
            </a:pPr>
            <a:r>
              <a:t>SEARCH 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715768"/>
            <a:ext cx="4709159" cy="16459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800" b="0" i="0">
                <a:solidFill>
                  <a:srgbClr val="F8FAFD"/>
                </a:solidFill>
                <a:latin typeface="Aptos"/>
              </a:defRPr>
            </a:pPr>
            <a:r>
              <a:t>The paths generated while the algorithm explores.</a:t>
            </a:r>
          </a:p>
          <a:p>
            <a:pPr algn="l">
              <a:spcAft>
                <a:spcPts val="700"/>
              </a:spcAft>
              <a:defRPr sz="1800" b="0" i="0">
                <a:solidFill>
                  <a:srgbClr val="F8FAFD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800" b="0" i="0">
                <a:solidFill>
                  <a:srgbClr val="F8FAFD"/>
                </a:solidFill>
                <a:latin typeface="Aptos"/>
              </a:defRPr>
            </a:pPr>
            <a:r>
              <a:t>The same state can appear more than once through different paths.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74920"/>
            <a:ext cx="10424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F8FAFD"/>
                </a:solidFill>
                <a:latin typeface="Aptos"/>
              </a:defRPr>
            </a:pPr>
            <a:r>
              <a:t>Practical implication: graph-search algorithms often track explored states to avoid repeated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LECTURE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Graph, node, edge and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Search problems are commonly represented as graphs.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828800" y="2194560"/>
            <a:ext cx="2194560" cy="640080"/>
          </a:xfrm>
          <a:prstGeom prst="line">
            <a:avLst/>
          </a:prstGeom>
          <a:ln w="25400">
            <a:solidFill>
              <a:srgbClr val="658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2834640"/>
            <a:ext cx="2194560" cy="822960"/>
          </a:xfrm>
          <a:prstGeom prst="line">
            <a:avLst/>
          </a:prstGeom>
          <a:ln w="25400">
            <a:solidFill>
              <a:srgbClr val="658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23360" y="2194560"/>
            <a:ext cx="2286000" cy="0"/>
          </a:xfrm>
          <a:prstGeom prst="line">
            <a:avLst/>
          </a:prstGeom>
          <a:ln w="25400">
            <a:solidFill>
              <a:srgbClr val="658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023360" y="3657600"/>
            <a:ext cx="2286000" cy="0"/>
          </a:xfrm>
          <a:prstGeom prst="line">
            <a:avLst/>
          </a:prstGeom>
          <a:ln w="25400">
            <a:solidFill>
              <a:srgbClr val="658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309360" y="2194560"/>
            <a:ext cx="2286000" cy="640080"/>
          </a:xfrm>
          <a:prstGeom prst="line">
            <a:avLst/>
          </a:prstGeom>
          <a:ln w="25400">
            <a:solidFill>
              <a:srgbClr val="658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309360" y="2834640"/>
            <a:ext cx="2286000" cy="822960"/>
          </a:xfrm>
          <a:prstGeom prst="line">
            <a:avLst/>
          </a:prstGeom>
          <a:ln w="25400">
            <a:solidFill>
              <a:srgbClr val="658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023360" y="2194560"/>
            <a:ext cx="0" cy="1463040"/>
          </a:xfrm>
          <a:prstGeom prst="line">
            <a:avLst/>
          </a:prstGeom>
          <a:ln w="25400">
            <a:solidFill>
              <a:srgbClr val="658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490472" y="2496312"/>
            <a:ext cx="676656" cy="676656"/>
          </a:xfrm>
          <a:prstGeom prst="ellipse">
            <a:avLst/>
          </a:prstGeom>
          <a:solidFill>
            <a:srgbClr val="F6BE4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C30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6" name="Oval 15"/>
          <p:cNvSpPr/>
          <p:nvPr/>
        </p:nvSpPr>
        <p:spPr>
          <a:xfrm>
            <a:off x="3685032" y="1856231"/>
            <a:ext cx="676656" cy="676656"/>
          </a:xfrm>
          <a:prstGeom prst="ellipse">
            <a:avLst/>
          </a:prstGeom>
          <a:solidFill>
            <a:srgbClr val="00B5AD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C30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3685032" y="3319272"/>
            <a:ext cx="676656" cy="676656"/>
          </a:xfrm>
          <a:prstGeom prst="ellipse">
            <a:avLst/>
          </a:prstGeom>
          <a:solidFill>
            <a:srgbClr val="00B5AD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C30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5971032" y="1856231"/>
            <a:ext cx="676656" cy="676656"/>
          </a:xfrm>
          <a:prstGeom prst="ellipse">
            <a:avLst/>
          </a:prstGeom>
          <a:solidFill>
            <a:srgbClr val="00B5AD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C30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9" name="Oval 18"/>
          <p:cNvSpPr/>
          <p:nvPr/>
        </p:nvSpPr>
        <p:spPr>
          <a:xfrm>
            <a:off x="5971032" y="3319272"/>
            <a:ext cx="676656" cy="676656"/>
          </a:xfrm>
          <a:prstGeom prst="ellipse">
            <a:avLst/>
          </a:prstGeom>
          <a:solidFill>
            <a:srgbClr val="00B5AD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C30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20" name="Oval 19"/>
          <p:cNvSpPr/>
          <p:nvPr/>
        </p:nvSpPr>
        <p:spPr>
          <a:xfrm>
            <a:off x="8257032" y="2496312"/>
            <a:ext cx="676656" cy="676656"/>
          </a:xfrm>
          <a:prstGeom prst="ellipse">
            <a:avLst/>
          </a:prstGeom>
          <a:solidFill>
            <a:srgbClr val="53CD97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C30"/>
                </a:solidFill>
                <a:latin typeface="Aptos"/>
              </a:defRPr>
            </a:pPr>
            <a:r>
              <a:t>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057400"/>
            <a:ext cx="2103120" cy="265176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2057400"/>
            <a:ext cx="64008" cy="2651760"/>
          </a:xfrm>
          <a:prstGeom prst="rect">
            <a:avLst/>
          </a:prstGeom>
          <a:solidFill>
            <a:srgbClr val="B18FFF"/>
          </a:solidFill>
          <a:ln>
            <a:solidFill>
              <a:srgbClr val="B1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36608" y="2221992"/>
            <a:ext cx="1737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B18FFF"/>
                </a:solidFill>
                <a:latin typeface="Aptos"/>
              </a:defRPr>
            </a:pPr>
            <a:r>
              <a:t>KEY TERMS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6608" y="2715768"/>
            <a:ext cx="1737360" cy="1874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F8FAFD"/>
                </a:solidFill>
                <a:latin typeface="Aptos"/>
              </a:defRPr>
            </a:pPr>
            <a:r>
              <a:t>Node: state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F8FAFD"/>
                </a:solidFill>
                <a:latin typeface="Aptos"/>
              </a:defRPr>
            </a:pPr>
            <a:r>
              <a:t>Edge: action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F8FAFD"/>
                </a:solidFill>
                <a:latin typeface="Aptos"/>
              </a:defRPr>
            </a:pPr>
            <a:r>
              <a:t>Path: connected sequence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F8FAFD"/>
                </a:solidFill>
                <a:latin typeface="Aptos"/>
              </a:defRPr>
            </a:pPr>
            <a:r>
              <a:t>Goal: target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120640"/>
            <a:ext cx="9966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B2C0D3"/>
                </a:solidFill>
                <a:latin typeface="Aptos"/>
              </a:defRPr>
            </a:pPr>
            <a:r>
              <a:t>A graph may contain cycles: A → B → C → A. Search must handle revisiting carefully.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LECTURE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What does a search algorithm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It repeatedly chooses a frontier node, checks it, and expands it if needed.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3291840" cy="201168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64008" cy="2011680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221992"/>
            <a:ext cx="2926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B5AD"/>
                </a:solidFill>
                <a:latin typeface="Aptos"/>
              </a:defRPr>
            </a:pPr>
            <a:r>
              <a:t>FRONTIER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15768"/>
            <a:ext cx="292608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0" i="0">
                <a:solidFill>
                  <a:srgbClr val="F8FAFD"/>
                </a:solidFill>
                <a:latin typeface="Aptos"/>
              </a:defRPr>
            </a:pPr>
            <a:r>
              <a:t>Discovered nodes waiting to be explored.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057400"/>
            <a:ext cx="3291840" cy="201168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057400"/>
            <a:ext cx="64008" cy="2011680"/>
          </a:xfrm>
          <a:prstGeom prst="rect">
            <a:avLst/>
          </a:prstGeom>
          <a:solidFill>
            <a:srgbClr val="F6BE46"/>
          </a:solidFill>
          <a:ln>
            <a:solidFill>
              <a:srgbClr val="F6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2221992"/>
            <a:ext cx="2926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6BE46"/>
                </a:solidFill>
                <a:latin typeface="Aptos"/>
              </a:defRPr>
            </a:pPr>
            <a:r>
              <a:t>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715768"/>
            <a:ext cx="292608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0" i="0">
                <a:solidFill>
                  <a:srgbClr val="F8FAFD"/>
                </a:solidFill>
                <a:latin typeface="Aptos"/>
              </a:defRPr>
            </a:pPr>
            <a:r>
              <a:t>Generate the node’s legal successors.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057400"/>
            <a:ext cx="3291840" cy="201168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057400"/>
            <a:ext cx="64008" cy="2011680"/>
          </a:xfrm>
          <a:prstGeom prst="rect">
            <a:avLst/>
          </a:prstGeom>
          <a:solidFill>
            <a:srgbClr val="57D2DC"/>
          </a:solidFill>
          <a:ln>
            <a:solidFill>
              <a:srgbClr val="57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2221992"/>
            <a:ext cx="2926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57D2DC"/>
                </a:solidFill>
                <a:latin typeface="Aptos"/>
              </a:defRPr>
            </a:pPr>
            <a:r>
              <a:t>EXPLORED 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715768"/>
            <a:ext cx="292608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0" i="0">
                <a:solidFill>
                  <a:srgbClr val="F8FAFD"/>
                </a:solidFill>
                <a:latin typeface="Aptos"/>
              </a:defRPr>
            </a:pPr>
            <a:r>
              <a:t>States already expanded in graph search.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23360" y="3063240"/>
            <a:ext cx="365760" cy="0"/>
          </a:xfrm>
          <a:prstGeom prst="line">
            <a:avLst/>
          </a:prstGeom>
          <a:ln w="25400">
            <a:solidFill>
              <a:srgbClr val="B2C0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26679" y="3063240"/>
            <a:ext cx="365761" cy="0"/>
          </a:xfrm>
          <a:prstGeom prst="line">
            <a:avLst/>
          </a:prstGeom>
          <a:ln w="25400">
            <a:solidFill>
              <a:srgbClr val="B2C0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" y="4800600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000" b="1" i="0">
                <a:solidFill>
                  <a:srgbClr val="F8FAFD"/>
                </a:solidFill>
                <a:latin typeface="Aptos"/>
              </a:defRPr>
            </a:pPr>
            <a:r>
              <a:t>The frontier data structure is the key difference between BFS and DFS.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LECTURE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Uninformed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Uninformed strategies use the problem definition, but no extra estimate of distance to the goal.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9848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F8FAFD"/>
                </a:solidFill>
                <a:latin typeface="Aptos"/>
              </a:defRPr>
            </a:pPr>
            <a:r>
              <a:t>•  They do not use a heuristic function such as “estimated distance to goal.”</a:t>
            </a:r>
          </a:p>
          <a:p>
            <a:pPr>
              <a:spcAft>
                <a:spcPts val="1000"/>
              </a:spcAft>
              <a:defRPr sz="1900">
                <a:solidFill>
                  <a:srgbClr val="F8FAFD"/>
                </a:solidFill>
                <a:latin typeface="Aptos"/>
              </a:defRPr>
            </a:pPr>
            <a:r>
              <a:t>•  They rely on the start state, legal actions, goal test and (where applicable) path costs.</a:t>
            </a:r>
          </a:p>
          <a:p>
            <a:pPr>
              <a:spcAft>
                <a:spcPts val="1000"/>
              </a:spcAft>
              <a:defRPr sz="1900">
                <a:solidFill>
                  <a:srgbClr val="F8FAFD"/>
                </a:solidFill>
                <a:latin typeface="Aptos"/>
              </a:defRPr>
            </a:pPr>
            <a:r>
              <a:t>•  Different strategies vary mainly in which frontier node they select next.</a:t>
            </a:r>
          </a:p>
          <a:p>
            <a:pPr>
              <a:spcAft>
                <a:spcPts val="1000"/>
              </a:spcAft>
              <a:defRPr sz="1900">
                <a:solidFill>
                  <a:srgbClr val="F8FAFD"/>
                </a:solidFill>
                <a:latin typeface="Aptos"/>
              </a:defRPr>
            </a:pPr>
            <a:r>
              <a:t>•  Examples: breadth-first search, depth-first search, uniform-cost search and depth-limited search.</a:t>
            </a:r>
          </a:p>
          <a:p>
            <a:pPr>
              <a:spcAft>
                <a:spcPts val="1000"/>
              </a:spcAft>
              <a:defRPr sz="1900">
                <a:solidFill>
                  <a:srgbClr val="F8FAFD"/>
                </a:solidFill>
                <a:latin typeface="Aptos"/>
              </a:defRPr>
            </a:pPr>
            <a:r>
              <a:t>•  BFS and DFS are the focus of this lecture.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LECTURE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The frontier: queue versus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BFS and DFS differ in how they organize the frontier.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48840"/>
            <a:ext cx="5074920" cy="233172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148840"/>
            <a:ext cx="64008" cy="2331720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13432"/>
            <a:ext cx="470915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B5AD"/>
                </a:solidFill>
                <a:latin typeface="Aptos"/>
              </a:defRPr>
            </a:pPr>
            <a:r>
              <a:t>BFS • QUEUE (FIFO)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07208"/>
            <a:ext cx="4709159" cy="15544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000" b="0" i="0">
                <a:solidFill>
                  <a:srgbClr val="F8FAFD"/>
                </a:solidFill>
                <a:latin typeface="Aptos"/>
              </a:defRPr>
            </a:pPr>
            <a:r>
              <a:t>First In, First Out</a:t>
            </a:r>
          </a:p>
          <a:p>
            <a:pPr algn="l">
              <a:spcAft>
                <a:spcPts val="700"/>
              </a:spcAft>
              <a:defRPr sz="2000" b="0" i="0">
                <a:solidFill>
                  <a:srgbClr val="F8FAFD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2000" b="0" i="0">
                <a:solidFill>
                  <a:srgbClr val="F8FAFD"/>
                </a:solidFill>
                <a:latin typeface="Aptos"/>
              </a:defRPr>
            </a:pPr>
            <a:r>
              <a:t>The earliest discovered waiting node is explored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48840"/>
            <a:ext cx="5074920" cy="233172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148840"/>
            <a:ext cx="64008" cy="2331720"/>
          </a:xfrm>
          <a:prstGeom prst="rect">
            <a:avLst/>
          </a:prstGeom>
          <a:solidFill>
            <a:srgbClr val="F6BE46"/>
          </a:solidFill>
          <a:ln>
            <a:solidFill>
              <a:srgbClr val="F6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313432"/>
            <a:ext cx="470915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6BE46"/>
                </a:solidFill>
                <a:latin typeface="Aptos"/>
              </a:defRPr>
            </a:pPr>
            <a:r>
              <a:t>DFS • STACK (LIFO)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807208"/>
            <a:ext cx="4709159" cy="15544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000" b="0" i="0">
                <a:solidFill>
                  <a:srgbClr val="F8FAFD"/>
                </a:solidFill>
                <a:latin typeface="Aptos"/>
              </a:defRPr>
            </a:pPr>
            <a:r>
              <a:t>Last In, First Out</a:t>
            </a:r>
          </a:p>
          <a:p>
            <a:pPr algn="l">
              <a:spcAft>
                <a:spcPts val="700"/>
              </a:spcAft>
              <a:defRPr sz="2000" b="0" i="0">
                <a:solidFill>
                  <a:srgbClr val="F8FAFD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2000" b="0" i="0">
                <a:solidFill>
                  <a:srgbClr val="F8FAFD"/>
                </a:solidFill>
                <a:latin typeface="Aptos"/>
              </a:defRPr>
            </a:pPr>
            <a:r>
              <a:t>The most recently discovered waiting node is explored first.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66360"/>
            <a:ext cx="10241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800" b="0" i="0">
                <a:solidFill>
                  <a:srgbClr val="B2C0D3"/>
                </a:solidFill>
                <a:latin typeface="Aptos"/>
              </a:defRPr>
            </a:pPr>
            <a:r>
              <a:t>Memory cue: queue = line at a counter; stack = pile of trays.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LECTURE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Breadth-first search (BFS)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BFS explores the search tree level by level.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9848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D"/>
                </a:solidFill>
                <a:latin typeface="Aptos"/>
              </a:defRPr>
            </a:pPr>
            <a:r>
              <a:t>•  Start by placing the initial node in a FIFO queue.</a:t>
            </a:r>
          </a:p>
          <a:p>
            <a:pPr>
              <a:spcAft>
                <a:spcPts val="1000"/>
              </a:spcAft>
              <a:defRPr sz="1800">
                <a:solidFill>
                  <a:srgbClr val="F8FAFD"/>
                </a:solidFill>
                <a:latin typeface="Aptos"/>
              </a:defRPr>
            </a:pPr>
            <a:r>
              <a:t>•  Remove the front node and perform the goal test.</a:t>
            </a:r>
          </a:p>
          <a:p>
            <a:pPr>
              <a:spcAft>
                <a:spcPts val="1000"/>
              </a:spcAft>
              <a:defRPr sz="1800">
                <a:solidFill>
                  <a:srgbClr val="F8FAFD"/>
                </a:solidFill>
                <a:latin typeface="Aptos"/>
              </a:defRPr>
            </a:pPr>
            <a:r>
              <a:t>•  If it is not the goal, add its unvisited successors to the rear of the queue.</a:t>
            </a:r>
          </a:p>
          <a:p>
            <a:pPr>
              <a:spcAft>
                <a:spcPts val="1000"/>
              </a:spcAft>
              <a:defRPr sz="1800">
                <a:solidFill>
                  <a:srgbClr val="F8FAFD"/>
                </a:solidFill>
                <a:latin typeface="Aptos"/>
              </a:defRPr>
            </a:pPr>
            <a:r>
              <a:t>•  Repeat until the goal is found or the queue becomes empty.</a:t>
            </a:r>
          </a:p>
          <a:p>
            <a:pPr>
              <a:spcAft>
                <a:spcPts val="1000"/>
              </a:spcAft>
              <a:defRPr sz="1800">
                <a:solidFill>
                  <a:srgbClr val="F8FAFD"/>
                </a:solidFill>
                <a:latin typeface="Aptos"/>
              </a:defRPr>
            </a:pPr>
            <a:r>
              <a:t>•  When all edges have equal cost, BFS finds a path with the fewest edges.</a:t>
            </a:r>
          </a:p>
        </p:txBody>
      </p:sp>
      <p:sp>
        <p:nvSpPr>
          <p:cNvPr id="9" name="Oval 8"/>
          <p:cNvSpPr/>
          <p:nvPr/>
        </p:nvSpPr>
        <p:spPr>
          <a:xfrm>
            <a:off x="9290304" y="1975104"/>
            <a:ext cx="621792" cy="621792"/>
          </a:xfrm>
          <a:prstGeom prst="ellipse">
            <a:avLst/>
          </a:prstGeom>
          <a:solidFill>
            <a:srgbClr val="F6BE4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S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8503920" y="2596896"/>
            <a:ext cx="1097280" cy="557784"/>
          </a:xfrm>
          <a:prstGeom prst="line">
            <a:avLst/>
          </a:prstGeom>
          <a:ln w="19050">
            <a:solidFill>
              <a:srgbClr val="B2C0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211312" y="3136392"/>
            <a:ext cx="585216" cy="585216"/>
          </a:xfrm>
          <a:prstGeom prst="ellipse">
            <a:avLst/>
          </a:prstGeom>
          <a:solidFill>
            <a:srgbClr val="00B5AD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601200" y="2596896"/>
            <a:ext cx="1097280" cy="557784"/>
          </a:xfrm>
          <a:prstGeom prst="line">
            <a:avLst/>
          </a:prstGeom>
          <a:ln w="19050">
            <a:solidFill>
              <a:srgbClr val="B2C0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0405872" y="3136392"/>
            <a:ext cx="585216" cy="585216"/>
          </a:xfrm>
          <a:prstGeom prst="ellipse">
            <a:avLst/>
          </a:prstGeom>
          <a:solidFill>
            <a:srgbClr val="00B5AD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B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955279" y="3721608"/>
            <a:ext cx="548641" cy="576072"/>
          </a:xfrm>
          <a:prstGeom prst="line">
            <a:avLst/>
          </a:prstGeom>
          <a:ln w="19050">
            <a:solidFill>
              <a:srgbClr val="B2C0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699248" y="4315968"/>
            <a:ext cx="512064" cy="512064"/>
          </a:xfrm>
          <a:prstGeom prst="ellipse">
            <a:avLst/>
          </a:prstGeom>
          <a:solidFill>
            <a:srgbClr val="57D2DC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1C30"/>
                </a:solidFill>
                <a:latin typeface="Aptos"/>
              </a:defRPr>
            </a:pPr>
            <a:r>
              <a:t>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03920" y="3721608"/>
            <a:ext cx="457200" cy="576072"/>
          </a:xfrm>
          <a:prstGeom prst="line">
            <a:avLst/>
          </a:prstGeom>
          <a:ln w="19050">
            <a:solidFill>
              <a:srgbClr val="B2C0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705088" y="4315968"/>
            <a:ext cx="512064" cy="512064"/>
          </a:xfrm>
          <a:prstGeom prst="ellipse">
            <a:avLst/>
          </a:prstGeom>
          <a:solidFill>
            <a:srgbClr val="57D2DC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1C30"/>
                </a:solidFill>
                <a:latin typeface="Aptos"/>
              </a:defRPr>
            </a:pPr>
            <a:r>
              <a:t>D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0149840" y="3721608"/>
            <a:ext cx="548640" cy="576072"/>
          </a:xfrm>
          <a:prstGeom prst="line">
            <a:avLst/>
          </a:prstGeom>
          <a:ln w="19050">
            <a:solidFill>
              <a:srgbClr val="B2C0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893808" y="4315968"/>
            <a:ext cx="512064" cy="512064"/>
          </a:xfrm>
          <a:prstGeom prst="ellipse">
            <a:avLst/>
          </a:prstGeom>
          <a:solidFill>
            <a:srgbClr val="57D2DC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1C30"/>
                </a:solidFill>
                <a:latin typeface="Aptos"/>
              </a:defRPr>
            </a:pPr>
            <a:r>
              <a:t>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698480" y="3721608"/>
            <a:ext cx="457200" cy="576072"/>
          </a:xfrm>
          <a:prstGeom prst="line">
            <a:avLst/>
          </a:prstGeom>
          <a:ln w="19050">
            <a:solidFill>
              <a:srgbClr val="B2C0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0899648" y="4315968"/>
            <a:ext cx="512064" cy="512064"/>
          </a:xfrm>
          <a:prstGeom prst="ellipse">
            <a:avLst/>
          </a:prstGeom>
          <a:solidFill>
            <a:srgbClr val="57D2DC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1C30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000" b="0" i="0">
                <a:solidFill>
                  <a:srgbClr val="B2C0D3"/>
                </a:solidFill>
                <a:latin typeface="Aptos"/>
              </a:defRPr>
            </a:pPr>
            <a:r>
              <a:t>Level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880360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000" b="0" i="0">
                <a:solidFill>
                  <a:srgbClr val="B2C0D3"/>
                </a:solidFill>
                <a:latin typeface="Aptos"/>
              </a:defRPr>
            </a:pPr>
            <a:r>
              <a:t>Level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023360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000" b="0" i="0">
                <a:solidFill>
                  <a:srgbClr val="B2C0D3"/>
                </a:solidFill>
                <a:latin typeface="Aptos"/>
              </a:defRPr>
            </a:pPr>
            <a:r>
              <a:t>Level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LECTURE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BFS: core pseudocode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Use a queue and mark nodes when they are discovered.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6492240" cy="4069080"/>
          </a:xfrm>
          <a:prstGeom prst="roundRect">
            <a:avLst>
              <a:gd name="adj" fmla="val 12000"/>
            </a:avLst>
          </a:prstGeom>
          <a:solidFill>
            <a:srgbClr val="09111F"/>
          </a:solidFill>
          <a:ln>
            <a:solidFill>
              <a:srgbClr val="091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12848"/>
            <a:ext cx="5943600" cy="36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  <a:r>
              <a:t>BFS(start):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  <a:r>
              <a:t>  queue ← [start]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  <a:r>
              <a:t>  visited ← {start}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</a:p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  <a:r>
              <a:t>  while queue is not empty: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  <a:r>
              <a:t>      node ← remove_front(queue)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  <a:r>
              <a:t>      if goal_test(node):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  <a:r>
              <a:t>          return path_to(node)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</a:p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  <a:r>
              <a:t>      for each successor of node: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  <a:r>
              <a:t>          if successor not in visited: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  <a:r>
              <a:t>              visited.add(successor)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  <a:r>
              <a:t>              parent[successor] ← node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  <a:r>
              <a:t>              queue.add_rear(successor)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</a:p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  <a:r>
              <a:t>  return failure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148840"/>
            <a:ext cx="3520440" cy="141732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0" y="2148840"/>
            <a:ext cx="64008" cy="1417320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3568" y="2313432"/>
            <a:ext cx="31546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B5AD"/>
                </a:solidFill>
                <a:latin typeface="Aptos"/>
              </a:defRPr>
            </a:pPr>
            <a:r>
              <a:t>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3568" y="2807208"/>
            <a:ext cx="31546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FIFO order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3840480"/>
            <a:ext cx="3520440" cy="141732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3840480"/>
            <a:ext cx="64008" cy="1417320"/>
          </a:xfrm>
          <a:prstGeom prst="rect">
            <a:avLst/>
          </a:prstGeom>
          <a:solidFill>
            <a:srgbClr val="F6BE46"/>
          </a:solidFill>
          <a:ln>
            <a:solidFill>
              <a:srgbClr val="F6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4005072"/>
            <a:ext cx="31546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6BE46"/>
                </a:solidFill>
                <a:latin typeface="Aptos"/>
              </a:defRPr>
            </a:pPr>
            <a:r>
              <a:t>PARENT LINKS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4498848"/>
            <a:ext cx="31546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F8FAFD"/>
                </a:solidFill>
                <a:latin typeface="Aptos"/>
              </a:defRPr>
            </a:pPr>
            <a:r>
              <a:t>Reconstruct the path after reaching the goal.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BFS trace: explore left to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Graph edges: S–A, S–B, A–C, A–D, B–E, B–F. Goal = 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4114800" y="2331720"/>
            <a:ext cx="1828800" cy="1051560"/>
          </a:xfrm>
          <a:prstGeom prst="line">
            <a:avLst/>
          </a:prstGeom>
          <a:ln w="25400">
            <a:solidFill>
              <a:srgbClr val="648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43600" y="2331720"/>
            <a:ext cx="1828800" cy="1051560"/>
          </a:xfrm>
          <a:prstGeom prst="line">
            <a:avLst/>
          </a:prstGeom>
          <a:ln w="25400">
            <a:solidFill>
              <a:srgbClr val="648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017520" y="3383280"/>
            <a:ext cx="1097280" cy="1188720"/>
          </a:xfrm>
          <a:prstGeom prst="line">
            <a:avLst/>
          </a:prstGeom>
          <a:ln w="25400">
            <a:solidFill>
              <a:srgbClr val="648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3383280"/>
            <a:ext cx="640080" cy="1188720"/>
          </a:xfrm>
          <a:prstGeom prst="line">
            <a:avLst/>
          </a:prstGeom>
          <a:ln w="25400">
            <a:solidFill>
              <a:srgbClr val="648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040880" y="3383280"/>
            <a:ext cx="731520" cy="1188720"/>
          </a:xfrm>
          <a:prstGeom prst="line">
            <a:avLst/>
          </a:prstGeom>
          <a:ln w="25400">
            <a:solidFill>
              <a:srgbClr val="648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0" y="3383280"/>
            <a:ext cx="1005840" cy="1188720"/>
          </a:xfrm>
          <a:prstGeom prst="line">
            <a:avLst/>
          </a:prstGeom>
          <a:ln w="25400">
            <a:solidFill>
              <a:srgbClr val="648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632704" y="2020824"/>
            <a:ext cx="621792" cy="621792"/>
          </a:xfrm>
          <a:prstGeom prst="ellipse">
            <a:avLst/>
          </a:prstGeom>
          <a:solidFill>
            <a:srgbClr val="F6BE4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15" name="Oval 14"/>
          <p:cNvSpPr/>
          <p:nvPr/>
        </p:nvSpPr>
        <p:spPr>
          <a:xfrm>
            <a:off x="3803904" y="3072384"/>
            <a:ext cx="621792" cy="621792"/>
          </a:xfrm>
          <a:prstGeom prst="ellipse">
            <a:avLst/>
          </a:prstGeom>
          <a:solidFill>
            <a:srgbClr val="00B5AD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6" name="Oval 15"/>
          <p:cNvSpPr/>
          <p:nvPr/>
        </p:nvSpPr>
        <p:spPr>
          <a:xfrm>
            <a:off x="7461504" y="3072384"/>
            <a:ext cx="621792" cy="621792"/>
          </a:xfrm>
          <a:prstGeom prst="ellipse">
            <a:avLst/>
          </a:prstGeom>
          <a:solidFill>
            <a:srgbClr val="00B5AD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2706624" y="4261104"/>
            <a:ext cx="621792" cy="621792"/>
          </a:xfrm>
          <a:prstGeom prst="ellipse">
            <a:avLst/>
          </a:prstGeom>
          <a:solidFill>
            <a:srgbClr val="00B5AD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4443984" y="4261104"/>
            <a:ext cx="621792" cy="621792"/>
          </a:xfrm>
          <a:prstGeom prst="ellipse">
            <a:avLst/>
          </a:prstGeom>
          <a:solidFill>
            <a:srgbClr val="00B5AD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9" name="Oval 18"/>
          <p:cNvSpPr/>
          <p:nvPr/>
        </p:nvSpPr>
        <p:spPr>
          <a:xfrm>
            <a:off x="6729984" y="4261104"/>
            <a:ext cx="621792" cy="621792"/>
          </a:xfrm>
          <a:prstGeom prst="ellipse">
            <a:avLst/>
          </a:prstGeom>
          <a:solidFill>
            <a:srgbClr val="53CD97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20" name="Oval 19"/>
          <p:cNvSpPr/>
          <p:nvPr/>
        </p:nvSpPr>
        <p:spPr>
          <a:xfrm>
            <a:off x="8467344" y="4261104"/>
            <a:ext cx="621792" cy="621792"/>
          </a:xfrm>
          <a:prstGeom prst="ellipse">
            <a:avLst/>
          </a:prstGeom>
          <a:solidFill>
            <a:srgbClr val="00B5AD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2194560"/>
            <a:ext cx="2194560" cy="196596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2194560"/>
            <a:ext cx="64008" cy="1965960"/>
          </a:xfrm>
          <a:prstGeom prst="rect">
            <a:avLst/>
          </a:prstGeom>
          <a:solidFill>
            <a:srgbClr val="57D2DC"/>
          </a:solidFill>
          <a:ln>
            <a:solidFill>
              <a:srgbClr val="57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2359152"/>
            <a:ext cx="1828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57D2DC"/>
                </a:solidFill>
                <a:latin typeface="Aptos"/>
              </a:defRPr>
            </a:pPr>
            <a:r>
              <a:t>VISIT 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2852928"/>
            <a:ext cx="1828800" cy="11887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F8FAFD"/>
                </a:solidFill>
                <a:latin typeface="Aptos"/>
              </a:defRPr>
            </a:pPr>
            <a:r>
              <a:t>S → A → B → C → D → 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2194560"/>
            <a:ext cx="2057400" cy="196596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18320" y="2194560"/>
            <a:ext cx="64008" cy="1965960"/>
          </a:xfrm>
          <a:prstGeom prst="rect">
            <a:avLst/>
          </a:prstGeom>
          <a:solidFill>
            <a:srgbClr val="53CD97"/>
          </a:solidFill>
          <a:ln>
            <a:solidFill>
              <a:srgbClr val="53C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19488" y="2359152"/>
            <a:ext cx="16916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53CD97"/>
                </a:solidFill>
                <a:latin typeface="Aptos"/>
              </a:defRPr>
            </a:pPr>
            <a:r>
              <a:t>FOUND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9488" y="2852928"/>
            <a:ext cx="1691640" cy="11887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F8FAFD"/>
                </a:solidFill>
                <a:latin typeface="Aptos"/>
              </a:defRPr>
            </a:pPr>
            <a:r>
              <a:t>Goal E is reached at depth 2.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48640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700" b="1" i="0">
                <a:solidFill>
                  <a:srgbClr val="F8FAFD"/>
                </a:solidFill>
                <a:latin typeface="Aptos"/>
              </a:defRPr>
            </a:pPr>
            <a:r>
              <a:t>BFS discovers every node at depth 1 before expanding nodes at depth 2.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BFS queue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Assume successors are added from left to right; stop when E is removed and tested.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93392"/>
            <a:ext cx="10515600" cy="438912"/>
          </a:xfrm>
          <a:prstGeom prst="roundRect">
            <a:avLst>
              <a:gd name="adj" fmla="val 12000"/>
            </a:avLst>
          </a:prstGeom>
          <a:solidFill>
            <a:srgbClr val="1F314B"/>
          </a:solidFill>
          <a:ln>
            <a:solidFill>
              <a:srgbClr val="1F3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57400"/>
            <a:ext cx="2011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F8FAFD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057400"/>
            <a:ext cx="32918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57D2DC"/>
                </a:solidFill>
                <a:latin typeface="Aptos"/>
              </a:defRPr>
            </a:pPr>
            <a:r>
              <a:t>[S]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057400"/>
            <a:ext cx="3566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514600"/>
            <a:ext cx="10515600" cy="438912"/>
          </a:xfrm>
          <a:prstGeom prst="roundRect">
            <a:avLst>
              <a:gd name="adj" fmla="val 12000"/>
            </a:avLst>
          </a:prstGeom>
          <a:solidFill>
            <a:srgbClr val="18273D"/>
          </a:solidFill>
          <a:ln>
            <a:solidFill>
              <a:srgbClr val="18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578608"/>
            <a:ext cx="2011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F8FAFD"/>
                </a:solidFill>
                <a:latin typeface="Aptos"/>
              </a:defRPr>
            </a:pPr>
            <a:r>
              <a:t>Expand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78608"/>
            <a:ext cx="32918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57D2DC"/>
                </a:solidFill>
                <a:latin typeface="Aptos"/>
              </a:defRPr>
            </a:pPr>
            <a:r>
              <a:t>[A, B]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578608"/>
            <a:ext cx="3566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035808"/>
            <a:ext cx="10515600" cy="438912"/>
          </a:xfrm>
          <a:prstGeom prst="roundRect">
            <a:avLst>
              <a:gd name="adj" fmla="val 12000"/>
            </a:avLst>
          </a:prstGeom>
          <a:solidFill>
            <a:srgbClr val="1F314B"/>
          </a:solidFill>
          <a:ln>
            <a:solidFill>
              <a:srgbClr val="1F3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099816"/>
            <a:ext cx="2011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F8FAFD"/>
                </a:solidFill>
                <a:latin typeface="Aptos"/>
              </a:defRPr>
            </a:pPr>
            <a:r>
              <a:t>Expand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099816"/>
            <a:ext cx="32918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57D2DC"/>
                </a:solidFill>
                <a:latin typeface="Aptos"/>
              </a:defRPr>
            </a:pPr>
            <a:r>
              <a:t>[B, C, 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099816"/>
            <a:ext cx="3566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S, 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557016"/>
            <a:ext cx="10515600" cy="438912"/>
          </a:xfrm>
          <a:prstGeom prst="roundRect">
            <a:avLst>
              <a:gd name="adj" fmla="val 12000"/>
            </a:avLst>
          </a:prstGeom>
          <a:solidFill>
            <a:srgbClr val="18273D"/>
          </a:solidFill>
          <a:ln>
            <a:solidFill>
              <a:srgbClr val="18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3621024"/>
            <a:ext cx="2011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F8FAFD"/>
                </a:solidFill>
                <a:latin typeface="Aptos"/>
              </a:defRPr>
            </a:pPr>
            <a:r>
              <a:t>Expand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621024"/>
            <a:ext cx="32918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57D2DC"/>
                </a:solidFill>
                <a:latin typeface="Aptos"/>
              </a:defRPr>
            </a:pPr>
            <a:r>
              <a:t>[C, D, E, F]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621024"/>
            <a:ext cx="3566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S, A, 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078224"/>
            <a:ext cx="10515600" cy="438912"/>
          </a:xfrm>
          <a:prstGeom prst="roundRect">
            <a:avLst>
              <a:gd name="adj" fmla="val 12000"/>
            </a:avLst>
          </a:prstGeom>
          <a:solidFill>
            <a:srgbClr val="1F314B"/>
          </a:solidFill>
          <a:ln>
            <a:solidFill>
              <a:srgbClr val="1F3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142232"/>
            <a:ext cx="2011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F8FAFD"/>
                </a:solidFill>
                <a:latin typeface="Aptos"/>
              </a:defRPr>
            </a:pPr>
            <a:r>
              <a:t>Expand 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142232"/>
            <a:ext cx="32918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57D2DC"/>
                </a:solidFill>
                <a:latin typeface="Aptos"/>
              </a:defRPr>
            </a:pPr>
            <a:r>
              <a:t>[D, E, F]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142232"/>
            <a:ext cx="3566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S, A, B, 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599431"/>
            <a:ext cx="10515600" cy="438912"/>
          </a:xfrm>
          <a:prstGeom prst="roundRect">
            <a:avLst>
              <a:gd name="adj" fmla="val 12000"/>
            </a:avLst>
          </a:prstGeom>
          <a:solidFill>
            <a:srgbClr val="18273D"/>
          </a:solidFill>
          <a:ln>
            <a:solidFill>
              <a:srgbClr val="18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4663440"/>
            <a:ext cx="2011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F8FAFD"/>
                </a:solidFill>
                <a:latin typeface="Aptos"/>
              </a:defRPr>
            </a:pPr>
            <a:r>
              <a:t>Expand 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663440"/>
            <a:ext cx="32918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57D2DC"/>
                </a:solidFill>
                <a:latin typeface="Aptos"/>
              </a:defRPr>
            </a:pPr>
            <a:r>
              <a:t>[E, F]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663440"/>
            <a:ext cx="3566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S, A, B, C, 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120640"/>
            <a:ext cx="10515600" cy="438912"/>
          </a:xfrm>
          <a:prstGeom prst="roundRect">
            <a:avLst>
              <a:gd name="adj" fmla="val 12000"/>
            </a:avLst>
          </a:prstGeom>
          <a:solidFill>
            <a:srgbClr val="1F314B"/>
          </a:solidFill>
          <a:ln>
            <a:solidFill>
              <a:srgbClr val="1F3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5184648"/>
            <a:ext cx="2011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F8FAFD"/>
                </a:solidFill>
                <a:latin typeface="Aptos"/>
              </a:defRPr>
            </a:pPr>
            <a:r>
              <a:t>Remove 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5184648"/>
            <a:ext cx="32918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57D2DC"/>
                </a:solidFill>
                <a:latin typeface="Aptos"/>
              </a:defRPr>
            </a:pPr>
            <a:r>
              <a:t>[F]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5184648"/>
            <a:ext cx="3566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53CD97"/>
                </a:solidFill>
                <a:latin typeface="Aptos"/>
              </a:defRPr>
            </a:pPr>
            <a:r>
              <a:t>Goal found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806440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0" i="0">
                <a:solidFill>
                  <a:srgbClr val="B2C0D3"/>
                </a:solidFill>
                <a:latin typeface="Aptos"/>
              </a:defRPr>
            </a:pPr>
            <a:r>
              <a:t>Queue shown after the action in the first column.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LECTURE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Depth-first search (DFS)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DFS follows one branch as deeply as possible before backtracking.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9848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D"/>
                </a:solidFill>
                <a:latin typeface="Aptos"/>
              </a:defRPr>
            </a:pPr>
            <a:r>
              <a:t>•  Start at the initial node and place it on a stack (or use recursion).</a:t>
            </a:r>
          </a:p>
          <a:p>
            <a:pPr>
              <a:spcAft>
                <a:spcPts val="1000"/>
              </a:spcAft>
              <a:defRPr sz="1800">
                <a:solidFill>
                  <a:srgbClr val="F8FAFD"/>
                </a:solidFill>
                <a:latin typeface="Aptos"/>
              </a:defRPr>
            </a:pPr>
            <a:r>
              <a:t>•  Choose the most recently discovered waiting node.</a:t>
            </a:r>
          </a:p>
          <a:p>
            <a:pPr>
              <a:spcAft>
                <a:spcPts val="1000"/>
              </a:spcAft>
              <a:defRPr sz="1800">
                <a:solidFill>
                  <a:srgbClr val="F8FAFD"/>
                </a:solidFill>
                <a:latin typeface="Aptos"/>
              </a:defRPr>
            </a:pPr>
            <a:r>
              <a:t>•  Continue down a branch until the goal is found or no unvisited successor remains.</a:t>
            </a:r>
          </a:p>
          <a:p>
            <a:pPr>
              <a:spcAft>
                <a:spcPts val="1000"/>
              </a:spcAft>
              <a:defRPr sz="1800">
                <a:solidFill>
                  <a:srgbClr val="F8FAFD"/>
                </a:solidFill>
                <a:latin typeface="Aptos"/>
              </a:defRPr>
            </a:pPr>
            <a:r>
              <a:t>•  When a branch ends, backtrack to the most recent node with unexplored successors.</a:t>
            </a:r>
          </a:p>
          <a:p>
            <a:pPr>
              <a:spcAft>
                <a:spcPts val="1000"/>
              </a:spcAft>
              <a:defRPr sz="1800">
                <a:solidFill>
                  <a:srgbClr val="F8FAFD"/>
                </a:solidFill>
                <a:latin typeface="Aptos"/>
              </a:defRPr>
            </a:pPr>
            <a:r>
              <a:t>•  DFS can use less frontier memory than BFS, but it does not guarantee a shortest path.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8412480" y="2194560"/>
            <a:ext cx="1097280" cy="1005840"/>
          </a:xfrm>
          <a:prstGeom prst="line">
            <a:avLst/>
          </a:prstGeom>
          <a:ln w="25400">
            <a:solidFill>
              <a:srgbClr val="648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509760" y="2194560"/>
            <a:ext cx="1097280" cy="1005840"/>
          </a:xfrm>
          <a:prstGeom prst="line">
            <a:avLst/>
          </a:prstGeom>
          <a:ln w="25400">
            <a:solidFill>
              <a:srgbClr val="648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863840" y="3200400"/>
            <a:ext cx="548640" cy="1097280"/>
          </a:xfrm>
          <a:prstGeom prst="line">
            <a:avLst/>
          </a:prstGeom>
          <a:ln w="25400">
            <a:solidFill>
              <a:srgbClr val="648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80" y="3200400"/>
            <a:ext cx="548640" cy="1097280"/>
          </a:xfrm>
          <a:prstGeom prst="line">
            <a:avLst/>
          </a:prstGeom>
          <a:ln w="25400">
            <a:solidFill>
              <a:srgbClr val="648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0149840" y="3200400"/>
            <a:ext cx="457200" cy="1097280"/>
          </a:xfrm>
          <a:prstGeom prst="line">
            <a:avLst/>
          </a:prstGeom>
          <a:ln w="25400">
            <a:solidFill>
              <a:srgbClr val="648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226296" y="1911095"/>
            <a:ext cx="566928" cy="566928"/>
          </a:xfrm>
          <a:prstGeom prst="ellipse">
            <a:avLst/>
          </a:prstGeom>
          <a:solidFill>
            <a:srgbClr val="F6BE4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1C30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15" name="Oval 14"/>
          <p:cNvSpPr/>
          <p:nvPr/>
        </p:nvSpPr>
        <p:spPr>
          <a:xfrm>
            <a:off x="8129015" y="2916936"/>
            <a:ext cx="566928" cy="566928"/>
          </a:xfrm>
          <a:prstGeom prst="ellipse">
            <a:avLst/>
          </a:prstGeom>
          <a:solidFill>
            <a:srgbClr val="00B5AD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1C30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6" name="Oval 15"/>
          <p:cNvSpPr/>
          <p:nvPr/>
        </p:nvSpPr>
        <p:spPr>
          <a:xfrm>
            <a:off x="10323576" y="2916936"/>
            <a:ext cx="566928" cy="566928"/>
          </a:xfrm>
          <a:prstGeom prst="ellipse">
            <a:avLst/>
          </a:prstGeom>
          <a:solidFill>
            <a:srgbClr val="00B5AD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1C30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7580375" y="4014216"/>
            <a:ext cx="566928" cy="566928"/>
          </a:xfrm>
          <a:prstGeom prst="ellipse">
            <a:avLst/>
          </a:prstGeom>
          <a:solidFill>
            <a:srgbClr val="53CD97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1C30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8677656" y="4014216"/>
            <a:ext cx="566928" cy="566928"/>
          </a:xfrm>
          <a:prstGeom prst="ellipse">
            <a:avLst/>
          </a:prstGeom>
          <a:solidFill>
            <a:srgbClr val="00B5AD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1C30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9" name="Oval 18"/>
          <p:cNvSpPr/>
          <p:nvPr/>
        </p:nvSpPr>
        <p:spPr>
          <a:xfrm>
            <a:off x="9866376" y="4014216"/>
            <a:ext cx="566928" cy="566928"/>
          </a:xfrm>
          <a:prstGeom prst="ellipse">
            <a:avLst/>
          </a:prstGeom>
          <a:solidFill>
            <a:srgbClr val="00B5AD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1C30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983480"/>
            <a:ext cx="4114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0" i="0">
                <a:solidFill>
                  <a:srgbClr val="B2C0D3"/>
                </a:solidFill>
                <a:latin typeface="Aptos"/>
              </a:defRPr>
            </a:pPr>
            <a:r>
              <a:t>One possible DFS route: S → A → C, then backtrack.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LECTURE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DFS: core pseudocode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A stack-based version makes the selection order explicit.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6492240" cy="4069080"/>
          </a:xfrm>
          <a:prstGeom prst="roundRect">
            <a:avLst>
              <a:gd name="adj" fmla="val 12000"/>
            </a:avLst>
          </a:prstGeom>
          <a:solidFill>
            <a:srgbClr val="09111F"/>
          </a:solidFill>
          <a:ln>
            <a:solidFill>
              <a:srgbClr val="091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12848"/>
            <a:ext cx="5943600" cy="36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  <a:r>
              <a:t>DFS(start):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  <a:r>
              <a:t>  stack ← [start]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  <a:r>
              <a:t>  visited ← {start}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</a:p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  <a:r>
              <a:t>  while stack is not empty: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  <a:r>
              <a:t>      node ← stack.pop()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  <a:r>
              <a:t>      if goal_test(node):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  <a:r>
              <a:t>          return path_to(node)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</a:p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  <a:r>
              <a:t>      for each successor in reverse desired order: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  <a:r>
              <a:t>          if successor not in visited: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  <a:r>
              <a:t>              visited.add(successor)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  <a:r>
              <a:t>              parent[successor] ← node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  <a:r>
              <a:t>              stack.push(successor)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</a:p>
          <a:p>
            <a:pPr algn="l">
              <a:spcAft>
                <a:spcPts val="700"/>
              </a:spcAft>
              <a:defRPr sz="1600" b="0" i="0">
                <a:solidFill>
                  <a:srgbClr val="CDE5F0"/>
                </a:solidFill>
                <a:latin typeface="Consolas"/>
              </a:defRPr>
            </a:pPr>
            <a:r>
              <a:t>  return failure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148840"/>
            <a:ext cx="3520440" cy="141732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0" y="2148840"/>
            <a:ext cx="64008" cy="1417320"/>
          </a:xfrm>
          <a:prstGeom prst="rect">
            <a:avLst/>
          </a:prstGeom>
          <a:solidFill>
            <a:srgbClr val="F6BE46"/>
          </a:solidFill>
          <a:ln>
            <a:solidFill>
              <a:srgbClr val="F6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3568" y="2313432"/>
            <a:ext cx="31546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6BE46"/>
                </a:solidFill>
                <a:latin typeface="Aptos"/>
              </a:defRPr>
            </a:pPr>
            <a:r>
              <a:t>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3568" y="2807208"/>
            <a:ext cx="31546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LIFO order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3840480"/>
            <a:ext cx="3520440" cy="141732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3840480"/>
            <a:ext cx="64008" cy="1417320"/>
          </a:xfrm>
          <a:prstGeom prst="rect">
            <a:avLst/>
          </a:prstGeom>
          <a:solidFill>
            <a:srgbClr val="B18FFF"/>
          </a:solidFill>
          <a:ln>
            <a:solidFill>
              <a:srgbClr val="B1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4005072"/>
            <a:ext cx="31546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B18FFF"/>
                </a:solidFill>
                <a:latin typeface="Aptos"/>
              </a:defRPr>
            </a:pPr>
            <a:r>
              <a:t>ORDER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4498848"/>
            <a:ext cx="31546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F8FAFD"/>
                </a:solidFill>
                <a:latin typeface="Aptos"/>
              </a:defRPr>
            </a:pPr>
            <a:r>
              <a:t>Push successors in reverse order if you want the leftmost one explored first.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DFS trace: left branch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Use the same tree; successors are explored left to right.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4114800" y="2240280"/>
            <a:ext cx="1828800" cy="1005840"/>
          </a:xfrm>
          <a:prstGeom prst="line">
            <a:avLst/>
          </a:prstGeom>
          <a:ln w="25400">
            <a:solidFill>
              <a:srgbClr val="648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43600" y="2240280"/>
            <a:ext cx="1828800" cy="1005840"/>
          </a:xfrm>
          <a:prstGeom prst="line">
            <a:avLst/>
          </a:prstGeom>
          <a:ln w="25400">
            <a:solidFill>
              <a:srgbClr val="648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017520" y="3246120"/>
            <a:ext cx="1097280" cy="1143000"/>
          </a:xfrm>
          <a:prstGeom prst="line">
            <a:avLst/>
          </a:prstGeom>
          <a:ln w="25400">
            <a:solidFill>
              <a:srgbClr val="648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3246120"/>
            <a:ext cx="640080" cy="1143000"/>
          </a:xfrm>
          <a:prstGeom prst="line">
            <a:avLst/>
          </a:prstGeom>
          <a:ln w="25400">
            <a:solidFill>
              <a:srgbClr val="648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040880" y="3246120"/>
            <a:ext cx="731520" cy="1143000"/>
          </a:xfrm>
          <a:prstGeom prst="line">
            <a:avLst/>
          </a:prstGeom>
          <a:ln w="25400">
            <a:solidFill>
              <a:srgbClr val="648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0" y="3246120"/>
            <a:ext cx="1005840" cy="1143000"/>
          </a:xfrm>
          <a:prstGeom prst="line">
            <a:avLst/>
          </a:prstGeom>
          <a:ln w="25400">
            <a:solidFill>
              <a:srgbClr val="648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632704" y="1929384"/>
            <a:ext cx="621792" cy="621792"/>
          </a:xfrm>
          <a:prstGeom prst="ellipse">
            <a:avLst/>
          </a:prstGeom>
          <a:solidFill>
            <a:srgbClr val="F6BE4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15" name="Oval 14"/>
          <p:cNvSpPr/>
          <p:nvPr/>
        </p:nvSpPr>
        <p:spPr>
          <a:xfrm>
            <a:off x="3803904" y="2935224"/>
            <a:ext cx="621792" cy="621792"/>
          </a:xfrm>
          <a:prstGeom prst="ellipse">
            <a:avLst/>
          </a:prstGeom>
          <a:solidFill>
            <a:srgbClr val="00B5AD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6" name="Oval 15"/>
          <p:cNvSpPr/>
          <p:nvPr/>
        </p:nvSpPr>
        <p:spPr>
          <a:xfrm>
            <a:off x="7461504" y="2935224"/>
            <a:ext cx="621792" cy="621792"/>
          </a:xfrm>
          <a:prstGeom prst="ellipse">
            <a:avLst/>
          </a:prstGeom>
          <a:solidFill>
            <a:srgbClr val="00B5AD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2706624" y="4078224"/>
            <a:ext cx="621792" cy="621792"/>
          </a:xfrm>
          <a:prstGeom prst="ellipse">
            <a:avLst/>
          </a:prstGeom>
          <a:solidFill>
            <a:srgbClr val="00B5AD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4443984" y="4078224"/>
            <a:ext cx="621792" cy="621792"/>
          </a:xfrm>
          <a:prstGeom prst="ellipse">
            <a:avLst/>
          </a:prstGeom>
          <a:solidFill>
            <a:srgbClr val="00B5AD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9" name="Oval 18"/>
          <p:cNvSpPr/>
          <p:nvPr/>
        </p:nvSpPr>
        <p:spPr>
          <a:xfrm>
            <a:off x="6729984" y="4078224"/>
            <a:ext cx="621792" cy="621792"/>
          </a:xfrm>
          <a:prstGeom prst="ellipse">
            <a:avLst/>
          </a:prstGeom>
          <a:solidFill>
            <a:srgbClr val="53CD97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20" name="Oval 19"/>
          <p:cNvSpPr/>
          <p:nvPr/>
        </p:nvSpPr>
        <p:spPr>
          <a:xfrm>
            <a:off x="8467344" y="4078224"/>
            <a:ext cx="621792" cy="621792"/>
          </a:xfrm>
          <a:prstGeom prst="ellipse">
            <a:avLst/>
          </a:prstGeom>
          <a:solidFill>
            <a:srgbClr val="00B5AD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148840"/>
            <a:ext cx="2240280" cy="201168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2148840"/>
            <a:ext cx="64008" cy="2011680"/>
          </a:xfrm>
          <a:prstGeom prst="rect">
            <a:avLst/>
          </a:prstGeom>
          <a:solidFill>
            <a:srgbClr val="F6BE46"/>
          </a:solidFill>
          <a:ln>
            <a:solidFill>
              <a:srgbClr val="F6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2313432"/>
            <a:ext cx="1874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6BE46"/>
                </a:solidFill>
                <a:latin typeface="Aptos"/>
              </a:defRPr>
            </a:pPr>
            <a:r>
              <a:t>VISIT 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2807208"/>
            <a:ext cx="187452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F8FAFD"/>
                </a:solidFill>
                <a:latin typeface="Aptos"/>
              </a:defRPr>
            </a:pPr>
            <a:r>
              <a:t>S → A → C → D → B → 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72600" y="2148840"/>
            <a:ext cx="2148840" cy="201168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72600" y="2148840"/>
            <a:ext cx="64008" cy="2011680"/>
          </a:xfrm>
          <a:prstGeom prst="rect">
            <a:avLst/>
          </a:prstGeom>
          <a:solidFill>
            <a:srgbClr val="53CD97"/>
          </a:solidFill>
          <a:ln>
            <a:solidFill>
              <a:srgbClr val="53C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73768" y="2313432"/>
            <a:ext cx="1783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53CD97"/>
                </a:solidFill>
                <a:latin typeface="Aptos"/>
              </a:defRPr>
            </a:pPr>
            <a:r>
              <a:t>FOUND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73768" y="2807208"/>
            <a:ext cx="178308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F8FAFD"/>
                </a:solidFill>
                <a:latin typeface="Aptos"/>
              </a:defRPr>
            </a:pPr>
            <a:r>
              <a:t>Goal E is found after exploring the left subtree.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440680"/>
            <a:ext cx="103327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B2C0D3"/>
                </a:solidFill>
                <a:latin typeface="Aptos"/>
              </a:defRPr>
            </a:pPr>
            <a:r>
              <a:t>With this order, DFS explores C and D before moving to B. Exact order depends on successor ordering.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DFS stack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Stack shown with the top at the right; push successors in reverse order so A is explored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93392"/>
            <a:ext cx="10515600" cy="438912"/>
          </a:xfrm>
          <a:prstGeom prst="roundRect">
            <a:avLst>
              <a:gd name="adj" fmla="val 12000"/>
            </a:avLst>
          </a:prstGeom>
          <a:solidFill>
            <a:srgbClr val="1F314B"/>
          </a:solidFill>
          <a:ln>
            <a:solidFill>
              <a:srgbClr val="1F3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57400"/>
            <a:ext cx="3383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F8FAFD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2377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F6BE46"/>
                </a:solidFill>
                <a:latin typeface="Aptos"/>
              </a:defRPr>
            </a:pPr>
            <a:r>
              <a:t>[S]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057400"/>
            <a:ext cx="3566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514600"/>
            <a:ext cx="10515600" cy="438912"/>
          </a:xfrm>
          <a:prstGeom prst="roundRect">
            <a:avLst>
              <a:gd name="adj" fmla="val 12000"/>
            </a:avLst>
          </a:prstGeom>
          <a:solidFill>
            <a:srgbClr val="18273D"/>
          </a:solidFill>
          <a:ln>
            <a:solidFill>
              <a:srgbClr val="18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578608"/>
            <a:ext cx="3383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F8FAFD"/>
                </a:solidFill>
                <a:latin typeface="Aptos"/>
              </a:defRPr>
            </a:pPr>
            <a:r>
              <a:t>Pop S; push B,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78608"/>
            <a:ext cx="2377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F6BE46"/>
                </a:solidFill>
                <a:latin typeface="Aptos"/>
              </a:defRPr>
            </a:pPr>
            <a:r>
              <a:t>[B, A]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578608"/>
            <a:ext cx="3566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035808"/>
            <a:ext cx="10515600" cy="438912"/>
          </a:xfrm>
          <a:prstGeom prst="roundRect">
            <a:avLst>
              <a:gd name="adj" fmla="val 12000"/>
            </a:avLst>
          </a:prstGeom>
          <a:solidFill>
            <a:srgbClr val="1F314B"/>
          </a:solidFill>
          <a:ln>
            <a:solidFill>
              <a:srgbClr val="1F3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099816"/>
            <a:ext cx="3383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F8FAFD"/>
                </a:solidFill>
                <a:latin typeface="Aptos"/>
              </a:defRPr>
            </a:pPr>
            <a:r>
              <a:t>Pop A; push D,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099816"/>
            <a:ext cx="2377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F6BE46"/>
                </a:solidFill>
                <a:latin typeface="Aptos"/>
              </a:defRPr>
            </a:pPr>
            <a:r>
              <a:t>[B, D, C]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099816"/>
            <a:ext cx="3566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S, 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557016"/>
            <a:ext cx="10515600" cy="438912"/>
          </a:xfrm>
          <a:prstGeom prst="roundRect">
            <a:avLst>
              <a:gd name="adj" fmla="val 12000"/>
            </a:avLst>
          </a:prstGeom>
          <a:solidFill>
            <a:srgbClr val="18273D"/>
          </a:solidFill>
          <a:ln>
            <a:solidFill>
              <a:srgbClr val="18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3621024"/>
            <a:ext cx="3383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F8FAFD"/>
                </a:solidFill>
                <a:latin typeface="Aptos"/>
              </a:defRPr>
            </a:pPr>
            <a:r>
              <a:t>Pop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621024"/>
            <a:ext cx="2377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F6BE46"/>
                </a:solidFill>
                <a:latin typeface="Aptos"/>
              </a:defRPr>
            </a:pPr>
            <a:r>
              <a:t>[B, D]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621024"/>
            <a:ext cx="3566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S, A, 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078224"/>
            <a:ext cx="10515600" cy="438912"/>
          </a:xfrm>
          <a:prstGeom prst="roundRect">
            <a:avLst>
              <a:gd name="adj" fmla="val 12000"/>
            </a:avLst>
          </a:prstGeom>
          <a:solidFill>
            <a:srgbClr val="1F314B"/>
          </a:solidFill>
          <a:ln>
            <a:solidFill>
              <a:srgbClr val="1F3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142232"/>
            <a:ext cx="3383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F8FAFD"/>
                </a:solidFill>
                <a:latin typeface="Aptos"/>
              </a:defRPr>
            </a:pPr>
            <a:r>
              <a:t>Pop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142232"/>
            <a:ext cx="2377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F6BE46"/>
                </a:solidFill>
                <a:latin typeface="Aptos"/>
              </a:defRPr>
            </a:pPr>
            <a:r>
              <a:t>[B]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142232"/>
            <a:ext cx="3566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S, A, C, 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599431"/>
            <a:ext cx="10515600" cy="438912"/>
          </a:xfrm>
          <a:prstGeom prst="roundRect">
            <a:avLst>
              <a:gd name="adj" fmla="val 12000"/>
            </a:avLst>
          </a:prstGeom>
          <a:solidFill>
            <a:srgbClr val="18273D"/>
          </a:solidFill>
          <a:ln>
            <a:solidFill>
              <a:srgbClr val="18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4663440"/>
            <a:ext cx="3383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F8FAFD"/>
                </a:solidFill>
                <a:latin typeface="Aptos"/>
              </a:defRPr>
            </a:pPr>
            <a:r>
              <a:t>Pop B; push F, 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663440"/>
            <a:ext cx="2377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F6BE46"/>
                </a:solidFill>
                <a:latin typeface="Aptos"/>
              </a:defRPr>
            </a:pPr>
            <a:r>
              <a:t>[F, E]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663440"/>
            <a:ext cx="3566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S, A, C, D, 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120640"/>
            <a:ext cx="10515600" cy="438912"/>
          </a:xfrm>
          <a:prstGeom prst="roundRect">
            <a:avLst>
              <a:gd name="adj" fmla="val 12000"/>
            </a:avLst>
          </a:prstGeom>
          <a:solidFill>
            <a:srgbClr val="1F314B"/>
          </a:solidFill>
          <a:ln>
            <a:solidFill>
              <a:srgbClr val="1F3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5184648"/>
            <a:ext cx="3383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F8FAFD"/>
                </a:solidFill>
                <a:latin typeface="Aptos"/>
              </a:defRPr>
            </a:pPr>
            <a:r>
              <a:t>Pop 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5184648"/>
            <a:ext cx="2377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F6BE46"/>
                </a:solidFill>
                <a:latin typeface="Aptos"/>
              </a:defRPr>
            </a:pPr>
            <a:r>
              <a:t>[F]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5184648"/>
            <a:ext cx="3566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53CD97"/>
                </a:solidFill>
                <a:latin typeface="Aptos"/>
              </a:defRPr>
            </a:pPr>
            <a:r>
              <a:t>Goal found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806440"/>
            <a:ext cx="9601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0" i="0">
                <a:solidFill>
                  <a:srgbClr val="B2C0D3"/>
                </a:solidFill>
                <a:latin typeface="Aptos"/>
              </a:defRPr>
            </a:pPr>
            <a:r>
              <a:t>A stack is LIFO: the most recently pushed node is the next one removed.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BFS vs DFS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The best choice depends on the goal, branching factor, depth and memory limits.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1965960" cy="438912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39696"/>
            <a:ext cx="1874519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F8FAFD"/>
                </a:solidFill>
                <a:latin typeface="Aptos"/>
              </a:defRPr>
            </a:pPr>
            <a:r>
              <a:t>FEATURE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057400"/>
            <a:ext cx="1965960" cy="438912"/>
          </a:xfrm>
          <a:prstGeom prst="roundRect">
            <a:avLst>
              <a:gd name="adj" fmla="val 12000"/>
            </a:avLst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2139696"/>
            <a:ext cx="1874519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F8FAFD"/>
                </a:solidFill>
                <a:latin typeface="Aptos"/>
              </a:defRPr>
            </a:pPr>
            <a:r>
              <a:t>BFS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2057400"/>
            <a:ext cx="1920240" cy="438912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139696"/>
            <a:ext cx="18288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F8FAFD"/>
                </a:solidFill>
                <a:latin typeface="Aptos"/>
              </a:defRPr>
            </a:pPr>
            <a:r>
              <a:t>DFS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2057400"/>
            <a:ext cx="2011680" cy="438912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139696"/>
            <a:ext cx="19202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F8FAFD"/>
                </a:solidFill>
                <a:latin typeface="Aptos"/>
              </a:defRPr>
            </a:pPr>
            <a:r>
              <a:t>FRONTIER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2057400"/>
            <a:ext cx="1554480" cy="438912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2139696"/>
            <a:ext cx="1463039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F8FAFD"/>
                </a:solidFill>
                <a:latin typeface="Aptos"/>
              </a:defRPr>
            </a:pPr>
            <a:r>
              <a:t>SHORTEST?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0" y="2057400"/>
            <a:ext cx="1234440" cy="438912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7000" y="2139696"/>
            <a:ext cx="11430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F8FAFD"/>
                </a:solidFill>
                <a:latin typeface="Aptos"/>
              </a:defRPr>
            </a:pPr>
            <a:r>
              <a:t>MEMORY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578608"/>
            <a:ext cx="1965960" cy="557784"/>
          </a:xfrm>
          <a:prstGeom prst="roundRect">
            <a:avLst>
              <a:gd name="adj" fmla="val 12000"/>
            </a:avLst>
          </a:prstGeom>
          <a:solidFill>
            <a:srgbClr val="1D2E46"/>
          </a:solidFill>
          <a:ln>
            <a:solidFill>
              <a:srgbClr val="1D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2679191"/>
            <a:ext cx="1837943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 i="0">
                <a:solidFill>
                  <a:srgbClr val="57D2DC"/>
                </a:solidFill>
                <a:latin typeface="Aptos"/>
              </a:defRPr>
            </a:pPr>
            <a:r>
              <a:t>Exploration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2578608"/>
            <a:ext cx="1965960" cy="557784"/>
          </a:xfrm>
          <a:prstGeom prst="roundRect">
            <a:avLst>
              <a:gd name="adj" fmla="val 12000"/>
            </a:avLst>
          </a:prstGeom>
          <a:solidFill>
            <a:srgbClr val="1D2E46"/>
          </a:solidFill>
          <a:ln>
            <a:solidFill>
              <a:srgbClr val="1D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07208" y="2679191"/>
            <a:ext cx="1837943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Level by level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60" y="2578608"/>
            <a:ext cx="1920240" cy="557784"/>
          </a:xfrm>
          <a:prstGeom prst="roundRect">
            <a:avLst>
              <a:gd name="adj" fmla="val 12000"/>
            </a:avLst>
          </a:prstGeom>
          <a:solidFill>
            <a:srgbClr val="1D2E46"/>
          </a:solidFill>
          <a:ln>
            <a:solidFill>
              <a:srgbClr val="1D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2679191"/>
            <a:ext cx="179222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Deep branch first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2578608"/>
            <a:ext cx="2011680" cy="557784"/>
          </a:xfrm>
          <a:prstGeom prst="roundRect">
            <a:avLst>
              <a:gd name="adj" fmla="val 12000"/>
            </a:avLst>
          </a:prstGeom>
          <a:solidFill>
            <a:srgbClr val="1D2E46"/>
          </a:solidFill>
          <a:ln>
            <a:solidFill>
              <a:srgbClr val="1D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8" y="2679191"/>
            <a:ext cx="188366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Queue / Stack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2578608"/>
            <a:ext cx="1554480" cy="557784"/>
          </a:xfrm>
          <a:prstGeom prst="roundRect">
            <a:avLst>
              <a:gd name="adj" fmla="val 12000"/>
            </a:avLst>
          </a:prstGeom>
          <a:solidFill>
            <a:srgbClr val="1D2E46"/>
          </a:solidFill>
          <a:ln>
            <a:solidFill>
              <a:srgbClr val="1D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05088" y="2679191"/>
            <a:ext cx="142646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BFS: yes*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0" y="2578608"/>
            <a:ext cx="1234440" cy="557784"/>
          </a:xfrm>
          <a:prstGeom prst="roundRect">
            <a:avLst>
              <a:gd name="adj" fmla="val 12000"/>
            </a:avLst>
          </a:prstGeom>
          <a:solidFill>
            <a:srgbClr val="1D2E46"/>
          </a:solidFill>
          <a:ln>
            <a:solidFill>
              <a:srgbClr val="1D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05288" y="2679191"/>
            <a:ext cx="110642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BFS: high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3236976"/>
            <a:ext cx="1965960" cy="557784"/>
          </a:xfrm>
          <a:prstGeom prst="roundRect">
            <a:avLst>
              <a:gd name="adj" fmla="val 12000"/>
            </a:avLst>
          </a:prstGeom>
          <a:solidFill>
            <a:srgbClr val="16253A"/>
          </a:solidFill>
          <a:ln>
            <a:solidFill>
              <a:srgbClr val="162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3337560"/>
            <a:ext cx="1837943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 i="0">
                <a:solidFill>
                  <a:srgbClr val="57D2DC"/>
                </a:solidFill>
                <a:latin typeface="Aptos"/>
              </a:defRPr>
            </a:pPr>
            <a:r>
              <a:t>Complete?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0" y="3236976"/>
            <a:ext cx="1965960" cy="557784"/>
          </a:xfrm>
          <a:prstGeom prst="roundRect">
            <a:avLst>
              <a:gd name="adj" fmla="val 12000"/>
            </a:avLst>
          </a:prstGeom>
          <a:solidFill>
            <a:srgbClr val="16253A"/>
          </a:solidFill>
          <a:ln>
            <a:solidFill>
              <a:srgbClr val="162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07208" y="3337560"/>
            <a:ext cx="1837943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Yes, finite 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09160" y="3236976"/>
            <a:ext cx="1920240" cy="557784"/>
          </a:xfrm>
          <a:prstGeom prst="roundRect">
            <a:avLst>
              <a:gd name="adj" fmla="val 12000"/>
            </a:avLst>
          </a:prstGeom>
          <a:solidFill>
            <a:srgbClr val="16253A"/>
          </a:solidFill>
          <a:ln>
            <a:solidFill>
              <a:srgbClr val="162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73168" y="3337560"/>
            <a:ext cx="179222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Not always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29400" y="3236976"/>
            <a:ext cx="2011680" cy="557784"/>
          </a:xfrm>
          <a:prstGeom prst="roundRect">
            <a:avLst>
              <a:gd name="adj" fmla="val 12000"/>
            </a:avLst>
          </a:prstGeom>
          <a:solidFill>
            <a:srgbClr val="16253A"/>
          </a:solidFill>
          <a:ln>
            <a:solidFill>
              <a:srgbClr val="162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93408" y="3337560"/>
            <a:ext cx="188366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FIFO / LIFO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41080" y="3236976"/>
            <a:ext cx="1554480" cy="557784"/>
          </a:xfrm>
          <a:prstGeom prst="roundRect">
            <a:avLst>
              <a:gd name="adj" fmla="val 12000"/>
            </a:avLst>
          </a:prstGeom>
          <a:solidFill>
            <a:srgbClr val="16253A"/>
          </a:solidFill>
          <a:ln>
            <a:solidFill>
              <a:srgbClr val="162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3337560"/>
            <a:ext cx="142646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DFS: no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41280" y="3236976"/>
            <a:ext cx="1234440" cy="557784"/>
          </a:xfrm>
          <a:prstGeom prst="roundRect">
            <a:avLst>
              <a:gd name="adj" fmla="val 12000"/>
            </a:avLst>
          </a:prstGeom>
          <a:solidFill>
            <a:srgbClr val="16253A"/>
          </a:solidFill>
          <a:ln>
            <a:solidFill>
              <a:srgbClr val="162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05288" y="3337560"/>
            <a:ext cx="110642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DFS: lower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3895344"/>
            <a:ext cx="1965960" cy="557784"/>
          </a:xfrm>
          <a:prstGeom prst="roundRect">
            <a:avLst>
              <a:gd name="adj" fmla="val 12000"/>
            </a:avLst>
          </a:prstGeom>
          <a:solidFill>
            <a:srgbClr val="1D2E46"/>
          </a:solidFill>
          <a:ln>
            <a:solidFill>
              <a:srgbClr val="1D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8" y="3995928"/>
            <a:ext cx="1837943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 i="0">
                <a:solidFill>
                  <a:srgbClr val="57D2DC"/>
                </a:solidFill>
                <a:latin typeface="Aptos"/>
              </a:defRPr>
            </a:pPr>
            <a:r>
              <a:t>Optimal?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0" y="3895344"/>
            <a:ext cx="1965960" cy="557784"/>
          </a:xfrm>
          <a:prstGeom prst="roundRect">
            <a:avLst>
              <a:gd name="adj" fmla="val 12000"/>
            </a:avLst>
          </a:prstGeom>
          <a:solidFill>
            <a:srgbClr val="1D2E46"/>
          </a:solidFill>
          <a:ln>
            <a:solidFill>
              <a:srgbClr val="1D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07208" y="3995928"/>
            <a:ext cx="1837943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Yes, equal costs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09160" y="3895344"/>
            <a:ext cx="1920240" cy="557784"/>
          </a:xfrm>
          <a:prstGeom prst="roundRect">
            <a:avLst>
              <a:gd name="adj" fmla="val 12000"/>
            </a:avLst>
          </a:prstGeom>
          <a:solidFill>
            <a:srgbClr val="1D2E46"/>
          </a:solidFill>
          <a:ln>
            <a:solidFill>
              <a:srgbClr val="1D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73168" y="3995928"/>
            <a:ext cx="179222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No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29400" y="3895344"/>
            <a:ext cx="2011680" cy="557784"/>
          </a:xfrm>
          <a:prstGeom prst="roundRect">
            <a:avLst>
              <a:gd name="adj" fmla="val 12000"/>
            </a:avLst>
          </a:prstGeom>
          <a:solidFill>
            <a:srgbClr val="1D2E46"/>
          </a:solidFill>
          <a:ln>
            <a:solidFill>
              <a:srgbClr val="1D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93408" y="3995928"/>
            <a:ext cx="188366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41080" y="3895344"/>
            <a:ext cx="1554480" cy="557784"/>
          </a:xfrm>
          <a:prstGeom prst="roundRect">
            <a:avLst>
              <a:gd name="adj" fmla="val 12000"/>
            </a:avLst>
          </a:prstGeom>
          <a:solidFill>
            <a:srgbClr val="1D2E46"/>
          </a:solidFill>
          <a:ln>
            <a:solidFill>
              <a:srgbClr val="1D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05088" y="3995928"/>
            <a:ext cx="142646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*fewest edges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241280" y="3895344"/>
            <a:ext cx="1234440" cy="557784"/>
          </a:xfrm>
          <a:prstGeom prst="roundRect">
            <a:avLst>
              <a:gd name="adj" fmla="val 12000"/>
            </a:avLst>
          </a:prstGeom>
          <a:solidFill>
            <a:srgbClr val="1D2E46"/>
          </a:solidFill>
          <a:ln>
            <a:solidFill>
              <a:srgbClr val="1D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05288" y="3995928"/>
            <a:ext cx="110642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Can grow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1520" y="4553712"/>
            <a:ext cx="1965960" cy="557784"/>
          </a:xfrm>
          <a:prstGeom prst="roundRect">
            <a:avLst>
              <a:gd name="adj" fmla="val 12000"/>
            </a:avLst>
          </a:prstGeom>
          <a:solidFill>
            <a:srgbClr val="16253A"/>
          </a:solidFill>
          <a:ln>
            <a:solidFill>
              <a:srgbClr val="162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5528" y="4654296"/>
            <a:ext cx="1837943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 i="0">
                <a:solidFill>
                  <a:srgbClr val="57D2DC"/>
                </a:solidFill>
                <a:latin typeface="Aptos"/>
              </a:defRPr>
            </a:pPr>
            <a:r>
              <a:t>Useful when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43200" y="4553712"/>
            <a:ext cx="1965960" cy="557784"/>
          </a:xfrm>
          <a:prstGeom prst="roundRect">
            <a:avLst>
              <a:gd name="adj" fmla="val 12000"/>
            </a:avLst>
          </a:prstGeom>
          <a:solidFill>
            <a:srgbClr val="16253A"/>
          </a:solidFill>
          <a:ln>
            <a:solidFill>
              <a:srgbClr val="162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07208" y="4654296"/>
            <a:ext cx="1837943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Shallow goal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709160" y="4553712"/>
            <a:ext cx="1920240" cy="557784"/>
          </a:xfrm>
          <a:prstGeom prst="roundRect">
            <a:avLst>
              <a:gd name="adj" fmla="val 12000"/>
            </a:avLst>
          </a:prstGeom>
          <a:solidFill>
            <a:srgbClr val="16253A"/>
          </a:solidFill>
          <a:ln>
            <a:solidFill>
              <a:srgbClr val="162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73168" y="4654296"/>
            <a:ext cx="179222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Memory constrained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629400" y="4553712"/>
            <a:ext cx="2011680" cy="557784"/>
          </a:xfrm>
          <a:prstGeom prst="roundRect">
            <a:avLst>
              <a:gd name="adj" fmla="val 12000"/>
            </a:avLst>
          </a:prstGeom>
          <a:solidFill>
            <a:srgbClr val="16253A"/>
          </a:solidFill>
          <a:ln>
            <a:solidFill>
              <a:srgbClr val="162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93408" y="4654296"/>
            <a:ext cx="188366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641080" y="4553712"/>
            <a:ext cx="1554480" cy="557784"/>
          </a:xfrm>
          <a:prstGeom prst="roundRect">
            <a:avLst>
              <a:gd name="adj" fmla="val 12000"/>
            </a:avLst>
          </a:prstGeom>
          <a:solidFill>
            <a:srgbClr val="16253A"/>
          </a:solidFill>
          <a:ln>
            <a:solidFill>
              <a:srgbClr val="162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05088" y="4654296"/>
            <a:ext cx="142646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Cost matters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241280" y="4553712"/>
            <a:ext cx="1234440" cy="557784"/>
          </a:xfrm>
          <a:prstGeom prst="roundRect">
            <a:avLst>
              <a:gd name="adj" fmla="val 12000"/>
            </a:avLst>
          </a:prstGeom>
          <a:solidFill>
            <a:srgbClr val="16253A"/>
          </a:solidFill>
          <a:ln>
            <a:solidFill>
              <a:srgbClr val="162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305288" y="4654296"/>
            <a:ext cx="110642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0" i="0">
                <a:solidFill>
                  <a:srgbClr val="F8FAFD"/>
                </a:solidFill>
                <a:latin typeface="Aptos"/>
              </a:defRPr>
            </a:pPr>
            <a:r>
              <a:t>Depth matters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" y="5486400"/>
            <a:ext cx="1060704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*BFS is optimal only when every step has the same cost. DFS may find a solution, but not necessarily the shallowest one.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Time and space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For branching factor b and shallowest goal depth d, typical tree-search bounds are: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5029200" cy="214884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48840"/>
            <a:ext cx="64008" cy="2148840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313432"/>
            <a:ext cx="46634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B5AD"/>
                </a:solidFill>
                <a:latin typeface="Aptos"/>
              </a:defRPr>
            </a:pPr>
            <a:r>
              <a:t>BFS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807208"/>
            <a:ext cx="46634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900" b="0" i="0">
                <a:solidFill>
                  <a:srgbClr val="F8FAFD"/>
                </a:solidFill>
                <a:latin typeface="Aptos"/>
              </a:defRPr>
            </a:pPr>
            <a:r>
              <a:t>Time: O(b^(d+1))</a:t>
            </a:r>
          </a:p>
          <a:p>
            <a:pPr algn="l">
              <a:spcAft>
                <a:spcPts val="700"/>
              </a:spcAft>
              <a:defRPr sz="1900" b="0" i="0">
                <a:solidFill>
                  <a:srgbClr val="F8FAFD"/>
                </a:solidFill>
                <a:latin typeface="Aptos"/>
              </a:defRPr>
            </a:pPr>
            <a:r>
              <a:t>Space: O(b^(d+1))</a:t>
            </a:r>
          </a:p>
          <a:p>
            <a:pPr algn="l">
              <a:spcAft>
                <a:spcPts val="700"/>
              </a:spcAft>
              <a:defRPr sz="1900" b="0" i="0">
                <a:solidFill>
                  <a:srgbClr val="F8FAFD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900" b="0" i="0">
                <a:solidFill>
                  <a:srgbClr val="F8FAFD"/>
                </a:solidFill>
                <a:latin typeface="Aptos"/>
              </a:defRPr>
            </a:pPr>
            <a:r>
              <a:t>Can store a very large frontier.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48840"/>
            <a:ext cx="5029200" cy="214884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148840"/>
            <a:ext cx="64008" cy="2148840"/>
          </a:xfrm>
          <a:prstGeom prst="rect">
            <a:avLst/>
          </a:prstGeom>
          <a:solidFill>
            <a:srgbClr val="F6BE46"/>
          </a:solidFill>
          <a:ln>
            <a:solidFill>
              <a:srgbClr val="F6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313432"/>
            <a:ext cx="46634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6BE46"/>
                </a:solidFill>
                <a:latin typeface="Aptos"/>
              </a:defRPr>
            </a:pPr>
            <a:r>
              <a:t>DFS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807208"/>
            <a:ext cx="46634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900" b="0" i="0">
                <a:solidFill>
                  <a:srgbClr val="F8FAFD"/>
                </a:solidFill>
                <a:latin typeface="Aptos"/>
              </a:defRPr>
            </a:pPr>
            <a:r>
              <a:t>Time: O(b^m)</a:t>
            </a:r>
          </a:p>
          <a:p>
            <a:pPr algn="l">
              <a:spcAft>
                <a:spcPts val="700"/>
              </a:spcAft>
              <a:defRPr sz="1900" b="0" i="0">
                <a:solidFill>
                  <a:srgbClr val="F8FAFD"/>
                </a:solidFill>
                <a:latin typeface="Aptos"/>
              </a:defRPr>
            </a:pPr>
            <a:r>
              <a:t>Space: O(bm)</a:t>
            </a:r>
          </a:p>
          <a:p>
            <a:pPr algn="l">
              <a:spcAft>
                <a:spcPts val="700"/>
              </a:spcAft>
              <a:defRPr sz="1900" b="0" i="0">
                <a:solidFill>
                  <a:srgbClr val="F8FAFD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900" b="0" i="0">
                <a:solidFill>
                  <a:srgbClr val="F8FAFD"/>
                </a:solidFill>
                <a:latin typeface="Aptos"/>
              </a:defRPr>
            </a:pPr>
            <a:r>
              <a:t>m is the maximum search depth.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74920"/>
            <a:ext cx="103327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8FAFD"/>
                </a:solidFill>
                <a:latin typeface="Aptos"/>
              </a:defRPr>
            </a:pPr>
            <a:r>
              <a:t>Interpretation: BFS can be expensive in memory; DFS is memory-efficient but may descend deeply before finding a goal.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Avoiding repeated states and cycles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Without repeated-state handling, a search may revisit the same states indefinitely.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011680" y="2468880"/>
            <a:ext cx="1828800" cy="822960"/>
          </a:xfrm>
          <a:prstGeom prst="line">
            <a:avLst/>
          </a:prstGeom>
          <a:ln w="25400">
            <a:solidFill>
              <a:srgbClr val="F56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2468880"/>
            <a:ext cx="0" cy="1645920"/>
          </a:xfrm>
          <a:prstGeom prst="line">
            <a:avLst/>
          </a:prstGeom>
          <a:ln w="25400">
            <a:solidFill>
              <a:srgbClr val="F56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2011680" y="3291840"/>
            <a:ext cx="1828800" cy="822960"/>
          </a:xfrm>
          <a:prstGeom prst="line">
            <a:avLst/>
          </a:prstGeom>
          <a:ln w="25400">
            <a:solidFill>
              <a:srgbClr val="F56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682496" y="2962656"/>
            <a:ext cx="658368" cy="658368"/>
          </a:xfrm>
          <a:prstGeom prst="ellipse">
            <a:avLst/>
          </a:prstGeom>
          <a:solidFill>
            <a:srgbClr val="F56F6F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C30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2" name="Oval 11"/>
          <p:cNvSpPr/>
          <p:nvPr/>
        </p:nvSpPr>
        <p:spPr>
          <a:xfrm>
            <a:off x="3511296" y="2139696"/>
            <a:ext cx="658368" cy="658368"/>
          </a:xfrm>
          <a:prstGeom prst="ellipse">
            <a:avLst/>
          </a:prstGeom>
          <a:solidFill>
            <a:srgbClr val="F56F6F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C30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3" name="Oval 12"/>
          <p:cNvSpPr/>
          <p:nvPr/>
        </p:nvSpPr>
        <p:spPr>
          <a:xfrm>
            <a:off x="3511296" y="3785615"/>
            <a:ext cx="658368" cy="658368"/>
          </a:xfrm>
          <a:prstGeom prst="ellipse">
            <a:avLst/>
          </a:prstGeom>
          <a:solidFill>
            <a:srgbClr val="F56F6F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C30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2148840"/>
            <a:ext cx="5212080" cy="150876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0" y="2148840"/>
            <a:ext cx="64008" cy="1508760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70448" y="2313432"/>
            <a:ext cx="4846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B5AD"/>
                </a:solidFill>
                <a:latin typeface="Aptos"/>
              </a:defRPr>
            </a:pPr>
            <a:r>
              <a:t>USE A VISITED 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2807208"/>
            <a:ext cx="484632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Record discovered states so they are not repeatedly added.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3977639"/>
            <a:ext cx="5212080" cy="150876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0" y="3977639"/>
            <a:ext cx="64008" cy="1508760"/>
          </a:xfrm>
          <a:prstGeom prst="rect">
            <a:avLst/>
          </a:prstGeom>
          <a:solidFill>
            <a:srgbClr val="F6BE46"/>
          </a:solidFill>
          <a:ln>
            <a:solidFill>
              <a:srgbClr val="F6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70448" y="4142231"/>
            <a:ext cx="4846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6BE46"/>
                </a:solidFill>
                <a:latin typeface="Aptos"/>
              </a:defRPr>
            </a:pPr>
            <a:r>
              <a:t>TRACK PARENTS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4636007"/>
            <a:ext cx="484632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Store each node’s parent to reconstruct the solution path.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69280"/>
            <a:ext cx="103327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B2C0D3"/>
                </a:solidFill>
                <a:latin typeface="Aptos"/>
              </a:defRPr>
            </a:pPr>
            <a:r>
              <a:t>Implementation detail: mark nodes when discovered, not only when expanded, to reduce duplicate frontier entries.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Which search strategy should you choose?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Match the strategy to the problem’s structure and requirements.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3474720" cy="214884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64008" cy="2148840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221992"/>
            <a:ext cx="3108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B5AD"/>
                </a:solidFill>
                <a:latin typeface="Aptos"/>
              </a:defRPr>
            </a:pPr>
            <a:r>
              <a:t>SHALLOW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15768"/>
            <a:ext cx="310896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BFS is often appropriate when all steps have equal cost and memory is sufficient.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57400"/>
            <a:ext cx="3474720" cy="214884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057400"/>
            <a:ext cx="64008" cy="2148840"/>
          </a:xfrm>
          <a:prstGeom prst="rect">
            <a:avLst/>
          </a:prstGeom>
          <a:solidFill>
            <a:srgbClr val="F6BE46"/>
          </a:solidFill>
          <a:ln>
            <a:solidFill>
              <a:srgbClr val="F6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221992"/>
            <a:ext cx="3108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6BE46"/>
                </a:solidFill>
                <a:latin typeface="Aptos"/>
              </a:defRPr>
            </a:pPr>
            <a:r>
              <a:t>VERY DEEP 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715768"/>
            <a:ext cx="310896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DFS may use less memory, but use cycle checks or a depth limit when needed.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57400"/>
            <a:ext cx="3474720" cy="214884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057400"/>
            <a:ext cx="64008" cy="2148840"/>
          </a:xfrm>
          <a:prstGeom prst="rect">
            <a:avLst/>
          </a:prstGeom>
          <a:solidFill>
            <a:srgbClr val="B18FFF"/>
          </a:solidFill>
          <a:ln>
            <a:solidFill>
              <a:srgbClr val="B1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221992"/>
            <a:ext cx="3108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B18FFF"/>
                </a:solidFill>
                <a:latin typeface="Aptos"/>
              </a:defRPr>
            </a:pPr>
            <a:r>
              <a:t>DIFFERENT COSTS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715768"/>
            <a:ext cx="310896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Neither plain BFS nor DFS guarantees the cheapest path when edge costs differ.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8348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900" b="1" i="0">
                <a:solidFill>
                  <a:srgbClr val="F8FAFD"/>
                </a:solidFill>
                <a:latin typeface="Aptos"/>
              </a:defRPr>
            </a:pPr>
            <a:r>
              <a:t>Key question: are you optimizing for fewest steps, low memory, or a specific cost?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CHECK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Common mistakes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Small implementation choices can change the output of a search.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9848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Confusing a node’s depth with its path cost.</a:t>
            </a:r>
          </a:p>
          <a:p>
            <a:pPr>
              <a:spcAft>
                <a:spcPts val="10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Saying BFS always finds the lowest-cost solution (it does so only with equal step costs).</a:t>
            </a:r>
          </a:p>
          <a:p>
            <a:pPr>
              <a:spcAft>
                <a:spcPts val="10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Assuming DFS always finds the shortest or even a solution in an infinite-depth space.</a:t>
            </a:r>
          </a:p>
          <a:p>
            <a:pPr>
              <a:spcAft>
                <a:spcPts val="10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Forgetting that successor order affects the exact DFS visit sequence.</a:t>
            </a:r>
          </a:p>
          <a:p>
            <a:pPr>
              <a:spcAft>
                <a:spcPts val="10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Using a stack but accidentally removing from the front instead of the top.</a:t>
            </a:r>
          </a:p>
          <a:p>
            <a:pPr>
              <a:spcAft>
                <a:spcPts val="10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Ignoring cycles or adding the same state repeatedly to the frontier.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QUICK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Question 1: which statement is 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Choose the best answer before looking at the explanation.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200" b="1" i="0">
                <a:solidFill>
                  <a:srgbClr val="F8FAFD"/>
                </a:solidFill>
                <a:latin typeface="Aptos"/>
              </a:defRPr>
            </a:pPr>
            <a:r>
              <a:t>A search problem is commonly specified using: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788920"/>
            <a:ext cx="10058400" cy="475488"/>
          </a:xfrm>
          <a:prstGeom prst="roundRect">
            <a:avLst>
              <a:gd name="adj" fmla="val 12000"/>
            </a:avLst>
          </a:prstGeom>
          <a:solidFill>
            <a:srgbClr val="1F314B"/>
          </a:solidFill>
          <a:ln>
            <a:solidFill>
              <a:srgbClr val="1F3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880360"/>
            <a:ext cx="3657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00B5AD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880360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Only the goal state and the answer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410712"/>
            <a:ext cx="10058400" cy="475488"/>
          </a:xfrm>
          <a:prstGeom prst="roundRect">
            <a:avLst>
              <a:gd name="adj" fmla="val 12000"/>
            </a:avLst>
          </a:prstGeom>
          <a:solidFill>
            <a:srgbClr val="1F314B"/>
          </a:solidFill>
          <a:ln>
            <a:solidFill>
              <a:srgbClr val="1F3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502152"/>
            <a:ext cx="3657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00B5AD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502152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Initial state, actions/transition model, goal test and path cost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032504"/>
            <a:ext cx="10058400" cy="475488"/>
          </a:xfrm>
          <a:prstGeom prst="roundRect">
            <a:avLst>
              <a:gd name="adj" fmla="val 12000"/>
            </a:avLst>
          </a:prstGeom>
          <a:solidFill>
            <a:srgbClr val="1F314B"/>
          </a:solidFill>
          <a:ln>
            <a:solidFill>
              <a:srgbClr val="1F3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123944"/>
            <a:ext cx="3657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00B5AD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123944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A heuristic estimate is mandatory for every search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4654296"/>
            <a:ext cx="10058400" cy="475488"/>
          </a:xfrm>
          <a:prstGeom prst="roundRect">
            <a:avLst>
              <a:gd name="adj" fmla="val 12000"/>
            </a:avLst>
          </a:prstGeom>
          <a:solidFill>
            <a:srgbClr val="1F314B"/>
          </a:solidFill>
          <a:ln>
            <a:solidFill>
              <a:srgbClr val="1F3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745736"/>
            <a:ext cx="3657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00B5AD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745736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Only a graph with no cycles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486400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53CD97"/>
                </a:solidFill>
                <a:latin typeface="Aptos"/>
              </a:defRPr>
            </a:pPr>
            <a:r>
              <a:t>Answer: B — a clear formulation identifies where to start, what actions do, how success is tested, and how cost is measured.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QUICK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Question 2: BFS frontier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Assume successors are enqueued from left to right.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03327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900" b="1" i="0">
                <a:solidFill>
                  <a:srgbClr val="F8FAFD"/>
                </a:solidFill>
                <a:latin typeface="Aptos"/>
              </a:defRPr>
            </a:pPr>
            <a:r>
              <a:t>A has children C and D; B has children E and F. Starting at S with children A and B, what is the BFS order until E is found?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063240"/>
            <a:ext cx="10058400" cy="429768"/>
          </a:xfrm>
          <a:prstGeom prst="roundRect">
            <a:avLst>
              <a:gd name="adj" fmla="val 12000"/>
            </a:avLst>
          </a:prstGeom>
          <a:solidFill>
            <a:srgbClr val="1F314B"/>
          </a:solidFill>
          <a:ln>
            <a:solidFill>
              <a:srgbClr val="1F3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145536"/>
            <a:ext cx="932688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A. S, A, C, D, B, 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630168"/>
            <a:ext cx="10058400" cy="429768"/>
          </a:xfrm>
          <a:prstGeom prst="roundRect">
            <a:avLst>
              <a:gd name="adj" fmla="val 12000"/>
            </a:avLst>
          </a:prstGeom>
          <a:solidFill>
            <a:srgbClr val="1F314B"/>
          </a:solidFill>
          <a:ln>
            <a:solidFill>
              <a:srgbClr val="1F3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712464"/>
            <a:ext cx="932688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B. S, A, B, C, D, 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197096"/>
            <a:ext cx="10058400" cy="429768"/>
          </a:xfrm>
          <a:prstGeom prst="roundRect">
            <a:avLst>
              <a:gd name="adj" fmla="val 12000"/>
            </a:avLst>
          </a:prstGeom>
          <a:solidFill>
            <a:srgbClr val="1F314B"/>
          </a:solidFill>
          <a:ln>
            <a:solidFill>
              <a:srgbClr val="1F3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4279392"/>
            <a:ext cx="932688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C. S, B, F, 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764024"/>
            <a:ext cx="10058400" cy="429768"/>
          </a:xfrm>
          <a:prstGeom prst="roundRect">
            <a:avLst>
              <a:gd name="adj" fmla="val 12000"/>
            </a:avLst>
          </a:prstGeom>
          <a:solidFill>
            <a:srgbClr val="1F314B"/>
          </a:solidFill>
          <a:ln>
            <a:solidFill>
              <a:srgbClr val="1F3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846320"/>
            <a:ext cx="932688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D. S, A, D, C, B, 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577840"/>
            <a:ext cx="10149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53CD97"/>
                </a:solidFill>
                <a:latin typeface="Aptos"/>
              </a:defRPr>
            </a:pPr>
            <a:r>
              <a:t>Answer: B — BFS processes all nodes at depth 1 (A and B) before the nodes at depth 2.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QUICK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Question 3: DFS and optimality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Think about what DFS prioritizes.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0241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200" b="1" i="0">
                <a:solidFill>
                  <a:srgbClr val="F8FAFD"/>
                </a:solidFill>
                <a:latin typeface="Aptos"/>
              </a:defRPr>
            </a:pPr>
            <a:r>
              <a:t>Which statement best describes DFS?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788920"/>
            <a:ext cx="10058400" cy="429768"/>
          </a:xfrm>
          <a:prstGeom prst="roundRect">
            <a:avLst>
              <a:gd name="adj" fmla="val 12000"/>
            </a:avLst>
          </a:prstGeom>
          <a:solidFill>
            <a:srgbClr val="1F314B"/>
          </a:solidFill>
          <a:ln>
            <a:solidFill>
              <a:srgbClr val="1F3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871215"/>
            <a:ext cx="932688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A. It always finds a shortest path.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355848"/>
            <a:ext cx="10058400" cy="429768"/>
          </a:xfrm>
          <a:prstGeom prst="roundRect">
            <a:avLst>
              <a:gd name="adj" fmla="val 12000"/>
            </a:avLst>
          </a:prstGeom>
          <a:solidFill>
            <a:srgbClr val="1F314B"/>
          </a:solidFill>
          <a:ln>
            <a:solidFill>
              <a:srgbClr val="1F3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438144"/>
            <a:ext cx="932688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B. It explores all nodes at one depth before going deeper.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922776"/>
            <a:ext cx="10058400" cy="429768"/>
          </a:xfrm>
          <a:prstGeom prst="roundRect">
            <a:avLst>
              <a:gd name="adj" fmla="val 12000"/>
            </a:avLst>
          </a:prstGeom>
          <a:solidFill>
            <a:srgbClr val="1F314B"/>
          </a:solidFill>
          <a:ln>
            <a:solidFill>
              <a:srgbClr val="1F3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4005072"/>
            <a:ext cx="932688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C. It follows a branch deeply and may backtrack.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489704"/>
            <a:ext cx="10058400" cy="429768"/>
          </a:xfrm>
          <a:prstGeom prst="roundRect">
            <a:avLst>
              <a:gd name="adj" fmla="val 12000"/>
            </a:avLst>
          </a:prstGeom>
          <a:solidFill>
            <a:srgbClr val="1F314B"/>
          </a:solidFill>
          <a:ln>
            <a:solidFill>
              <a:srgbClr val="1F3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572000"/>
            <a:ext cx="932688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D. It requires a heuristic estimate.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440680"/>
            <a:ext cx="10149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53CD97"/>
                </a:solidFill>
                <a:latin typeface="Aptos"/>
              </a:defRPr>
            </a:pPr>
            <a:r>
              <a:t>Answer: C — DFS follows a deep branch first. It does not guarantee the shortest path.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In-class tracing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Start at S; visit successors alphabetically; goal = G. Draw the queue and stack after each step.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4114800" y="2240280"/>
            <a:ext cx="1828800" cy="960120"/>
          </a:xfrm>
          <a:prstGeom prst="line">
            <a:avLst/>
          </a:prstGeom>
          <a:ln w="25400">
            <a:solidFill>
              <a:srgbClr val="648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43600" y="2240280"/>
            <a:ext cx="1828800" cy="960120"/>
          </a:xfrm>
          <a:prstGeom prst="line">
            <a:avLst/>
          </a:prstGeom>
          <a:ln w="25400">
            <a:solidFill>
              <a:srgbClr val="648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017520" y="3200400"/>
            <a:ext cx="1097280" cy="1143000"/>
          </a:xfrm>
          <a:prstGeom prst="line">
            <a:avLst/>
          </a:prstGeom>
          <a:ln w="25400">
            <a:solidFill>
              <a:srgbClr val="648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3200400"/>
            <a:ext cx="640080" cy="1143000"/>
          </a:xfrm>
          <a:prstGeom prst="line">
            <a:avLst/>
          </a:prstGeom>
          <a:ln w="25400">
            <a:solidFill>
              <a:srgbClr val="648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040880" y="3200400"/>
            <a:ext cx="731520" cy="1143000"/>
          </a:xfrm>
          <a:prstGeom prst="line">
            <a:avLst/>
          </a:prstGeom>
          <a:ln w="25400">
            <a:solidFill>
              <a:srgbClr val="648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0" y="3200400"/>
            <a:ext cx="1005840" cy="1143000"/>
          </a:xfrm>
          <a:prstGeom prst="line">
            <a:avLst/>
          </a:prstGeom>
          <a:ln w="25400">
            <a:solidFill>
              <a:srgbClr val="648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632704" y="1929384"/>
            <a:ext cx="621792" cy="621792"/>
          </a:xfrm>
          <a:prstGeom prst="ellipse">
            <a:avLst/>
          </a:prstGeom>
          <a:solidFill>
            <a:srgbClr val="F6BE46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15" name="Oval 14"/>
          <p:cNvSpPr/>
          <p:nvPr/>
        </p:nvSpPr>
        <p:spPr>
          <a:xfrm>
            <a:off x="3803904" y="2889504"/>
            <a:ext cx="621792" cy="621792"/>
          </a:xfrm>
          <a:prstGeom prst="ellipse">
            <a:avLst/>
          </a:prstGeom>
          <a:solidFill>
            <a:srgbClr val="00B5AD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6" name="Oval 15"/>
          <p:cNvSpPr/>
          <p:nvPr/>
        </p:nvSpPr>
        <p:spPr>
          <a:xfrm>
            <a:off x="7461504" y="2889504"/>
            <a:ext cx="621792" cy="621792"/>
          </a:xfrm>
          <a:prstGeom prst="ellipse">
            <a:avLst/>
          </a:prstGeom>
          <a:solidFill>
            <a:srgbClr val="00B5AD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2706624" y="4032504"/>
            <a:ext cx="621792" cy="621792"/>
          </a:xfrm>
          <a:prstGeom prst="ellipse">
            <a:avLst/>
          </a:prstGeom>
          <a:solidFill>
            <a:srgbClr val="00B5AD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4443984" y="4032504"/>
            <a:ext cx="621792" cy="621792"/>
          </a:xfrm>
          <a:prstGeom prst="ellipse">
            <a:avLst/>
          </a:prstGeom>
          <a:solidFill>
            <a:srgbClr val="00B5AD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9" name="Oval 18"/>
          <p:cNvSpPr/>
          <p:nvPr/>
        </p:nvSpPr>
        <p:spPr>
          <a:xfrm>
            <a:off x="6729984" y="4032504"/>
            <a:ext cx="621792" cy="621792"/>
          </a:xfrm>
          <a:prstGeom prst="ellipse">
            <a:avLst/>
          </a:prstGeom>
          <a:solidFill>
            <a:srgbClr val="00B5AD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20" name="Oval 19"/>
          <p:cNvSpPr/>
          <p:nvPr/>
        </p:nvSpPr>
        <p:spPr>
          <a:xfrm>
            <a:off x="8467344" y="4032504"/>
            <a:ext cx="621792" cy="621792"/>
          </a:xfrm>
          <a:prstGeom prst="ellipse">
            <a:avLst/>
          </a:prstGeom>
          <a:solidFill>
            <a:srgbClr val="53CD97"/>
          </a:solidFill>
          <a:ln>
            <a:solidFill>
              <a:srgbClr val="F8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0"/>
                </a:solidFill>
                <a:latin typeface="Aptos"/>
              </a:defRPr>
            </a:pPr>
            <a:r>
              <a:t>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303520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 i="0">
                <a:solidFill>
                  <a:srgbClr val="F8FAFD"/>
                </a:solidFill>
                <a:latin typeface="Aptos"/>
              </a:defRPr>
            </a:pPr>
            <a:r>
              <a:t>Tasks: (1) BFS visit order to G  (2) DFS visit order to G  (3) Which path has fewer edges?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Challenge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For the graph on the previous slide, successors are explored alphabetically.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03120"/>
            <a:ext cx="5074920" cy="219456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103120"/>
            <a:ext cx="64008" cy="2194560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267712"/>
            <a:ext cx="470915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B5AD"/>
                </a:solidFill>
                <a:latin typeface="Aptos"/>
              </a:defRPr>
            </a:pPr>
            <a:r>
              <a:t>BFS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761487"/>
            <a:ext cx="4709159" cy="14173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Visit order to goal: S → A → B → C → D → E → G (if goal tested on removal).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600" b="0" i="0">
                <a:solidFill>
                  <a:srgbClr val="F8FAFD"/>
                </a:solidFill>
                <a:latin typeface="Aptos"/>
              </a:defRPr>
            </a:pPr>
            <a:r>
              <a:t>Solution path: S → B → 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03120"/>
            <a:ext cx="5074920" cy="219456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103120"/>
            <a:ext cx="64008" cy="2194560"/>
          </a:xfrm>
          <a:prstGeom prst="rect">
            <a:avLst/>
          </a:prstGeom>
          <a:solidFill>
            <a:srgbClr val="F6BE46"/>
          </a:solidFill>
          <a:ln>
            <a:solidFill>
              <a:srgbClr val="F6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267712"/>
            <a:ext cx="470915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6BE46"/>
                </a:solidFill>
                <a:latin typeface="Aptos"/>
              </a:defRPr>
            </a:pPr>
            <a:r>
              <a:t>DFS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761487"/>
            <a:ext cx="4709159" cy="14173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With left-first depth-first traversal, visit order: S → A → C → D → B → E → G.</a:t>
            </a:r>
          </a:p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Solution path: S → B → 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7492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800" b="1" i="0">
                <a:solidFill>
                  <a:srgbClr val="F8FAFD"/>
                </a:solidFill>
                <a:latin typeface="Aptos"/>
              </a:defRPr>
            </a:pPr>
            <a:r>
              <a:t>The order in which nodes are visited is not the same as the final solution path.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Five ideas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Use these as your revision checklist.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9848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D"/>
                </a:solidFill>
                <a:latin typeface="Aptos"/>
              </a:defRPr>
            </a:pPr>
            <a:r>
              <a:t>•  Problem formulation defines the initial state, actions, goal test and path cost.</a:t>
            </a:r>
          </a:p>
          <a:p>
            <a:pPr>
              <a:spcAft>
                <a:spcPts val="1000"/>
              </a:spcAft>
              <a:defRPr sz="1800">
                <a:solidFill>
                  <a:srgbClr val="F8FAFD"/>
                </a:solidFill>
                <a:latin typeface="Aptos"/>
              </a:defRPr>
            </a:pPr>
            <a:r>
              <a:t>•  Search explores candidate states using a frontier.</a:t>
            </a:r>
          </a:p>
          <a:p>
            <a:pPr>
              <a:spcAft>
                <a:spcPts val="1000"/>
              </a:spcAft>
              <a:defRPr sz="1800">
                <a:solidFill>
                  <a:srgbClr val="F8FAFD"/>
                </a:solidFill>
                <a:latin typeface="Aptos"/>
              </a:defRPr>
            </a:pPr>
            <a:r>
              <a:t>•  BFS uses a FIFO queue and explores level by level.</a:t>
            </a:r>
          </a:p>
          <a:p>
            <a:pPr>
              <a:spcAft>
                <a:spcPts val="1000"/>
              </a:spcAft>
              <a:defRPr sz="1800">
                <a:solidFill>
                  <a:srgbClr val="F8FAFD"/>
                </a:solidFill>
                <a:latin typeface="Aptos"/>
              </a:defRPr>
            </a:pPr>
            <a:r>
              <a:t>•  DFS uses a LIFO stack or recursion and explores deeply before backtracking.</a:t>
            </a:r>
          </a:p>
          <a:p>
            <a:pPr>
              <a:spcAft>
                <a:spcPts val="1000"/>
              </a:spcAft>
              <a:defRPr sz="1800">
                <a:solidFill>
                  <a:srgbClr val="F8FAFD"/>
                </a:solidFill>
                <a:latin typeface="Aptos"/>
              </a:defRPr>
            </a:pPr>
            <a:r>
              <a:t>•  BFS is complete for finite branching and optimal for equal-cost steps; DFS is generally more memory-efficient but not optimal.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00B5AD"/>
                </a:solidFill>
                <a:latin typeface="Aptos"/>
              </a:defRPr>
            </a:pPr>
            <a: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8FAFD"/>
                </a:solidFill>
                <a:latin typeface="Aptos"/>
              </a:defRPr>
            </a:pPr>
            <a:r>
              <a:t>Before you leave…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2C0D3"/>
                </a:solidFill>
                <a:latin typeface="Aptos"/>
              </a:defRPr>
            </a:pPr>
            <a:r>
              <a:t>Answer these without checking the earlier slides.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85800" cy="41148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 i="0">
                <a:solidFill>
                  <a:srgbClr val="B2C0D3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7772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800" b="1" i="0">
                <a:solidFill>
                  <a:srgbClr val="768CA6"/>
                </a:solidFill>
                <a:latin typeface="Aptos"/>
              </a:defRPr>
            </a:pPr>
            <a:r>
              <a:t>ARTIFICIAL INTELLIGENCE • PROBLEM SOLVING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03120"/>
            <a:ext cx="3429000" cy="210312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103120"/>
            <a:ext cx="64008" cy="2103120"/>
          </a:xfrm>
          <a:prstGeom prst="rect">
            <a:avLst/>
          </a:prstGeom>
          <a:solidFill>
            <a:srgbClr val="00B5AD"/>
          </a:solidFill>
          <a:ln>
            <a:solidFill>
              <a:srgbClr val="00B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267712"/>
            <a:ext cx="30632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00B5A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761487"/>
            <a:ext cx="3063240" cy="1325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What is the difference between a state space and a search tree?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3429000" cy="210312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103120"/>
            <a:ext cx="64008" cy="2103120"/>
          </a:xfrm>
          <a:prstGeom prst="rect">
            <a:avLst/>
          </a:prstGeom>
          <a:solidFill>
            <a:srgbClr val="F6BE46"/>
          </a:solidFill>
          <a:ln>
            <a:solidFill>
              <a:srgbClr val="F6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267712"/>
            <a:ext cx="30632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6BE4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761487"/>
            <a:ext cx="3063240" cy="1325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Why does BFS use a queue?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103120"/>
            <a:ext cx="3429000" cy="2103120"/>
          </a:xfrm>
          <a:prstGeom prst="roundRect">
            <a:avLst>
              <a:gd name="adj" fmla="val 12000"/>
            </a:avLst>
          </a:prstGeom>
          <a:solidFill>
            <a:srgbClr val="1A2B46"/>
          </a:solidFill>
          <a:ln>
            <a:solidFill>
              <a:srgbClr val="1A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2103120"/>
            <a:ext cx="64008" cy="2103120"/>
          </a:xfrm>
          <a:prstGeom prst="rect">
            <a:avLst/>
          </a:prstGeom>
          <a:solidFill>
            <a:srgbClr val="B18FFF"/>
          </a:solidFill>
          <a:ln>
            <a:solidFill>
              <a:srgbClr val="B1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2267712"/>
            <a:ext cx="30632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B18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761487"/>
            <a:ext cx="3063240" cy="1325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500" b="0" i="0">
                <a:solidFill>
                  <a:srgbClr val="F8FAFD"/>
                </a:solidFill>
                <a:latin typeface="Aptos"/>
              </a:defRPr>
            </a:pPr>
            <a:r>
              <a:t>Give one limitation of DFS.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800" b="1" i="0">
                <a:solidFill>
                  <a:srgbClr val="F8FAFD"/>
                </a:solidFill>
                <a:latin typeface="Aptos"/>
              </a:defRPr>
            </a:pPr>
            <a:r>
              <a:t>Next step: implement BFS and DFS on a small graph, then compare their outputs.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