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412480" y="914400"/>
            <a:ext cx="2651760" cy="914400"/>
          </a:xfrm>
          <a:prstGeom prst="round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0" y="2057400"/>
            <a:ext cx="2194560" cy="914400"/>
          </a:xfrm>
          <a:prstGeom prst="round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138160" y="3200400"/>
            <a:ext cx="3200400" cy="914400"/>
          </a:xfrm>
          <a:prstGeom prst="roundRect">
            <a:avLst/>
          </a:prstGeom>
          <a:solidFill>
            <a:srgbClr val="385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235440" y="4343400"/>
            <a:ext cx="2103120" cy="914400"/>
          </a:xfrm>
          <a:prstGeom prst="roundRect">
            <a:avLst/>
          </a:prstGeom>
          <a:solidFill>
            <a:srgbClr val="F2B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85800"/>
            <a:ext cx="685800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1">
                <a:solidFill>
                  <a:srgbClr val="F2B437"/>
                </a:solidFill>
                <a:latin typeface="Aptos"/>
              </a:defRPr>
            </a:pPr>
            <a:r>
              <a:t>OPERATING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25880"/>
            <a:ext cx="7406640" cy="1554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Operating System</a:t>
            </a:r>
            <a:br/>
            <a:r>
              <a:t>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46120"/>
            <a:ext cx="685800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000" b="1">
                <a:solidFill>
                  <a:srgbClr val="C6DCF0"/>
                </a:solidFill>
                <a:latin typeface="Aptos"/>
              </a:defRPr>
            </a:pPr>
            <a:r>
              <a:t>Week 2  |  Lecture 3 &amp; Lecture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886200"/>
            <a:ext cx="6766560" cy="9144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Aptos"/>
              </a:defRPr>
            </a:pPr>
            <a:r>
              <a:t>Core OS management functions, services, structural designs, layered systems, OS/2, and microkernels.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080760"/>
            <a:ext cx="7955279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00" b="1">
                <a:solidFill>
                  <a:srgbClr val="F2B437"/>
                </a:solidFill>
                <a:latin typeface="Aptos"/>
              </a:defRPr>
            </a:pPr>
            <a:r>
              <a:t>LECTURE DECK • CONCEPTS • DIAGRAMS • EXAMPLES •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429768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F2B437"/>
                </a:solidFill>
                <a:latin typeface="Aptos"/>
              </a:defRPr>
            </a:pPr>
            <a:r>
              <a:t>OPERATING SYSTEMS • WEEK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1088136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"/>
              </a:defRPr>
            </a:pPr>
            <a: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6459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47104"/>
            <a:ext cx="731520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800" b="0">
                <a:solidFill>
                  <a:srgbClr val="5B697A"/>
                </a:solidFill>
                <a:latin typeface="Aptos"/>
              </a:defRPr>
            </a:pPr>
            <a:r>
              <a:t>Lecture 3–4  |  Operating System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37960"/>
            <a:ext cx="54864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1">
                <a:solidFill>
                  <a:srgbClr val="2563A0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325880"/>
            <a:ext cx="52578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325880"/>
            <a:ext cx="82296" cy="214884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1463039"/>
            <a:ext cx="4910328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2223A"/>
                </a:solidFill>
                <a:latin typeface="Aptos"/>
              </a:defRPr>
            </a:pPr>
            <a:r>
              <a:t>Explain core managers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1920240"/>
            <a:ext cx="4892040" cy="1435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6303D"/>
                </a:solidFill>
                <a:latin typeface="Aptos"/>
              </a:defRPr>
            </a:pPr>
            <a:r>
              <a:t>Describe how an OS manages processes, memory, files, I/O, storage, networks, and protection.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25880"/>
            <a:ext cx="52578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325880"/>
            <a:ext cx="82296" cy="2148840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1463039"/>
            <a:ext cx="4910328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2223A"/>
                </a:solidFill>
                <a:latin typeface="Aptos"/>
              </a:defRPr>
            </a:pPr>
            <a:r>
              <a:t>Identify OS services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1920240"/>
            <a:ext cx="4892040" cy="1435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6303D"/>
                </a:solidFill>
                <a:latin typeface="Aptos"/>
              </a:defRPr>
            </a:pPr>
            <a:r>
              <a:t>Connect common user and system requests to the services provided by an operating system.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03320"/>
            <a:ext cx="52578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703320"/>
            <a:ext cx="82296" cy="2148840"/>
          </a:xfrm>
          <a:prstGeom prst="rect">
            <a:avLst/>
          </a:prstGeom>
          <a:solidFill>
            <a:srgbClr val="F2B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3840480"/>
            <a:ext cx="4910328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2223A"/>
                </a:solidFill>
                <a:latin typeface="Aptos"/>
              </a:defRPr>
            </a:pPr>
            <a:r>
              <a:t>Compare architectures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4297680"/>
            <a:ext cx="4892040" cy="1435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6303D"/>
                </a:solidFill>
                <a:latin typeface="Aptos"/>
              </a:defRPr>
            </a:pPr>
            <a:r>
              <a:t>Distinguish monolithic, layered, OS/2-style layered, and microkernel structures.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03320"/>
            <a:ext cx="52578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3703320"/>
            <a:ext cx="82296" cy="2148840"/>
          </a:xfrm>
          <a:prstGeom prst="rect">
            <a:avLst/>
          </a:prstGeom>
          <a:solidFill>
            <a:srgbClr val="6C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3840480"/>
            <a:ext cx="4910328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2223A"/>
                </a:solidFill>
                <a:latin typeface="Aptos"/>
              </a:defRPr>
            </a:pPr>
            <a:r>
              <a:t>Apply concepts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4297680"/>
            <a:ext cx="4892040" cy="1435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6303D"/>
                </a:solidFill>
                <a:latin typeface="Aptos"/>
              </a:defRPr>
            </a:pPr>
            <a:r>
              <a:t>Use practical scenarios to explain trade-offs in performance, modularity, reliability, and security.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429768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F2B437"/>
                </a:solidFill>
                <a:latin typeface="Aptos"/>
              </a:defRPr>
            </a:pPr>
            <a:r>
              <a:t>OPERATING SYSTEMS • WEEK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1088136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"/>
              </a:defRPr>
            </a:pPr>
            <a:r>
              <a:t>Lecture 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6459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47104"/>
            <a:ext cx="731520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800" b="0">
                <a:solidFill>
                  <a:srgbClr val="5B697A"/>
                </a:solidFill>
                <a:latin typeface="Aptos"/>
              </a:defRPr>
            </a:pPr>
            <a:r>
              <a:t>Lecture 3–4  |  Operating System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37960"/>
            <a:ext cx="54864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1">
                <a:solidFill>
                  <a:srgbClr val="2563A0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95447" y="1417320"/>
            <a:ext cx="6400800" cy="530352"/>
          </a:xfrm>
          <a:prstGeom prst="roundRect">
            <a:avLst/>
          </a:prstGeom>
          <a:solidFill>
            <a:srgbClr val="12223A"/>
          </a:solidFill>
          <a:ln>
            <a:solidFill>
              <a:srgbClr val="12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Lecture 3 — OS management responsibilities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0" y="1911095"/>
            <a:ext cx="73152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2400" b="1">
                <a:solidFill>
                  <a:srgbClr val="F2B437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15487" y="2258568"/>
            <a:ext cx="5760720" cy="530352"/>
          </a:xfrm>
          <a:prstGeom prst="roundRect">
            <a:avLst/>
          </a:prstGeom>
          <a:solidFill>
            <a:srgbClr val="2563A0"/>
          </a:solidFill>
          <a:ln>
            <a:solidFill>
              <a:srgbClr val="25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Process • Memory • Files • I/O • Storage • Networking • Protection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0" y="2752344"/>
            <a:ext cx="73152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2400" b="1">
                <a:solidFill>
                  <a:srgbClr val="F2B437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15487" y="3099816"/>
            <a:ext cx="5760720" cy="530352"/>
          </a:xfrm>
          <a:prstGeom prst="roundRect">
            <a:avLst/>
          </a:prstGeom>
          <a:solidFill>
            <a:srgbClr val="009196"/>
          </a:solidFill>
          <a:ln>
            <a:solidFill>
              <a:srgbClr val="009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Lecture 4 — Services and internal organization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0" y="3593592"/>
            <a:ext cx="73152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2400" b="1">
                <a:solidFill>
                  <a:srgbClr val="F2B437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15487" y="3941064"/>
            <a:ext cx="5760720" cy="530352"/>
          </a:xfrm>
          <a:prstGeom prst="roundRect">
            <a:avLst/>
          </a:prstGeom>
          <a:solidFill>
            <a:srgbClr val="4A7896"/>
          </a:solidFill>
          <a:ln>
            <a:solidFill>
              <a:srgbClr val="4A7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OS services • Structure • Layers • OS/2 • Microkernel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429768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F2B437"/>
                </a:solidFill>
                <a:latin typeface="Aptos"/>
              </a:defRPr>
            </a:pPr>
            <a:r>
              <a:t>OPERATING SYSTEMS • WEEK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1088136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"/>
              </a:defRPr>
            </a:pPr>
            <a:r>
              <a:t>The Operating System as a Resource Manager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6459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47104"/>
            <a:ext cx="731520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800" b="0">
                <a:solidFill>
                  <a:srgbClr val="5B697A"/>
                </a:solidFill>
                <a:latin typeface="Aptos"/>
              </a:defRPr>
            </a:pPr>
            <a:r>
              <a:t>Lecture 3–4  |  Operating System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37960"/>
            <a:ext cx="54864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1">
                <a:solidFill>
                  <a:srgbClr val="2563A0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143000"/>
            <a:ext cx="10698480" cy="5074920"/>
          </a:xfrm>
          <a:prstGeom prst="rect">
            <a:avLst/>
          </a:prstGeom>
          <a:noFill/>
        </p:spPr>
        <p:txBody>
          <a:bodyPr wrap="square" lIns="109728" rIns="109728" tIns="73152" bIns="36576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6303D"/>
                </a:solidFill>
                <a:latin typeface="Aptos"/>
              </a:defRPr>
            </a:pPr>
            <a:r>
              <a:t>• Main role: Coordinates hardware resources and provides a stable environment for programs.</a:t>
            </a:r>
          </a:p>
          <a:p>
            <a:pPr>
              <a:spcAft>
                <a:spcPts val="1200"/>
              </a:spcAft>
              <a:defRPr sz="1800">
                <a:solidFill>
                  <a:srgbClr val="26303D"/>
                </a:solidFill>
                <a:latin typeface="Aptos"/>
              </a:defRPr>
            </a:pPr>
            <a:r>
              <a:t>• Control program: Supervises execution, handles exceptions, and limits unsafe operations.</a:t>
            </a:r>
          </a:p>
          <a:p>
            <a:pPr>
              <a:spcAft>
                <a:spcPts val="1200"/>
              </a:spcAft>
              <a:defRPr sz="1800">
                <a:solidFill>
                  <a:srgbClr val="26303D"/>
                </a:solidFill>
                <a:latin typeface="Aptos"/>
              </a:defRPr>
            </a:pPr>
            <a:r>
              <a:t>• Abstraction layer: Hides hardware details behind processes, files, virtual memory, and device interfaces.</a:t>
            </a:r>
          </a:p>
          <a:p>
            <a:pPr>
              <a:spcAft>
                <a:spcPts val="1200"/>
              </a:spcAft>
              <a:defRPr sz="1800">
                <a:solidFill>
                  <a:srgbClr val="26303D"/>
                </a:solidFill>
                <a:latin typeface="Aptos"/>
              </a:defRPr>
            </a:pPr>
            <a:r>
              <a:t>• Resource allocation: Decides who gets CPU time, memory, storage, and access to devices.</a:t>
            </a:r>
          </a:p>
          <a:p>
            <a:pPr>
              <a:spcAft>
                <a:spcPts val="1200"/>
              </a:spcAft>
              <a:defRPr sz="1800">
                <a:solidFill>
                  <a:srgbClr val="26303D"/>
                </a:solidFill>
                <a:latin typeface="Aptos"/>
              </a:defRPr>
            </a:pPr>
            <a:r>
              <a:t>• Design challenge: Balance responsiveness, throughput, fairness, security, and efficient resource use.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429768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F2B437"/>
                </a:solidFill>
                <a:latin typeface="Aptos"/>
              </a:defRPr>
            </a:pPr>
            <a:r>
              <a:t>OPERATING SYSTEMS • WEEK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1088136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"/>
              </a:defRPr>
            </a:pPr>
            <a:r>
              <a:t>Process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6459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47104"/>
            <a:ext cx="731520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800" b="0">
                <a:solidFill>
                  <a:srgbClr val="5B697A"/>
                </a:solidFill>
                <a:latin typeface="Aptos"/>
              </a:defRPr>
            </a:pPr>
            <a:r>
              <a:t>Lecture 3–4  |  Operating System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37960"/>
            <a:ext cx="54864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1">
                <a:solidFill>
                  <a:srgbClr val="2563A0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325880"/>
            <a:ext cx="52578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325880"/>
            <a:ext cx="82296" cy="214884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1463039"/>
            <a:ext cx="4910328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2223A"/>
                </a:solidFill>
                <a:latin typeface="Aptos"/>
              </a:defRPr>
            </a:pPr>
            <a:r>
              <a:t>What is a process?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1920240"/>
            <a:ext cx="4892040" cy="1435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6303D"/>
                </a:solidFill>
                <a:latin typeface="Aptos"/>
              </a:defRPr>
            </a:pPr>
            <a:r>
              <a:t>A program in execution, together with its current state, address space, resources, and execution context.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25880"/>
            <a:ext cx="52578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325880"/>
            <a:ext cx="82296" cy="2148840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1463039"/>
            <a:ext cx="4910328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2223A"/>
                </a:solidFill>
                <a:latin typeface="Aptos"/>
              </a:defRPr>
            </a:pPr>
            <a:r>
              <a:t>OS responsibilities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1920240"/>
            <a:ext cx="4892040" cy="1435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6303D"/>
                </a:solidFill>
                <a:latin typeface="Aptos"/>
              </a:defRPr>
            </a:pPr>
            <a:r>
              <a:t>Create and terminate processes; suspend and resume them; schedule CPU time; support synchronization and communication.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03320"/>
            <a:ext cx="52578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703320"/>
            <a:ext cx="82296" cy="2148840"/>
          </a:xfrm>
          <a:prstGeom prst="rect">
            <a:avLst/>
          </a:prstGeom>
          <a:solidFill>
            <a:srgbClr val="F2B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3840480"/>
            <a:ext cx="4910328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2223A"/>
                </a:solidFill>
                <a:latin typeface="Aptos"/>
              </a:defRPr>
            </a:pPr>
            <a:r>
              <a:t>Process states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4297680"/>
            <a:ext cx="4892040" cy="1435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6303D"/>
                </a:solidFill>
                <a:latin typeface="Aptos"/>
              </a:defRPr>
            </a:pPr>
            <a:r>
              <a:t>Common model: New → Ready → Running → Waiting/Blocked → Ready → Terminated.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03320"/>
            <a:ext cx="52578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3703320"/>
            <a:ext cx="82296" cy="2148840"/>
          </a:xfrm>
          <a:prstGeom prst="rect">
            <a:avLst/>
          </a:prstGeom>
          <a:solidFill>
            <a:srgbClr val="6C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3840480"/>
            <a:ext cx="4910328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2223A"/>
                </a:solidFill>
                <a:latin typeface="Aptos"/>
              </a:defRPr>
            </a:pPr>
            <a:r>
              <a:t>Why it matters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4297680"/>
            <a:ext cx="4892040" cy="1435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6303D"/>
                </a:solidFill>
                <a:latin typeface="Aptos"/>
              </a:defRPr>
            </a:pPr>
            <a:r>
              <a:t>Good process management supports multitasking, responsiveness, controlled sharing, and recovery from failures.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429768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F2B437"/>
                </a:solidFill>
                <a:latin typeface="Aptos"/>
              </a:defRPr>
            </a:pPr>
            <a:r>
              <a:t>OPERATING SYSTEMS • WEEK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1088136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"/>
              </a:defRPr>
            </a:pPr>
            <a:r>
              <a:t>Process Lifecycle: A Simple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6459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47104"/>
            <a:ext cx="731520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800" b="0">
                <a:solidFill>
                  <a:srgbClr val="5B697A"/>
                </a:solidFill>
                <a:latin typeface="Aptos"/>
              </a:defRPr>
            </a:pPr>
            <a:r>
              <a:t>Lecture 3–4  |  Operating System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37960"/>
            <a:ext cx="54864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1">
                <a:solidFill>
                  <a:srgbClr val="2563A0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95447" y="1417320"/>
            <a:ext cx="6400800" cy="530352"/>
          </a:xfrm>
          <a:prstGeom prst="roundRect">
            <a:avLst/>
          </a:prstGeom>
          <a:solidFill>
            <a:srgbClr val="12223A"/>
          </a:solidFill>
          <a:ln>
            <a:solidFill>
              <a:srgbClr val="12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NEW — OS creates the process and its control information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0" y="1911095"/>
            <a:ext cx="73152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2400" b="1">
                <a:solidFill>
                  <a:srgbClr val="F2B437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15487" y="2258568"/>
            <a:ext cx="5760720" cy="530352"/>
          </a:xfrm>
          <a:prstGeom prst="roundRect">
            <a:avLst/>
          </a:prstGeom>
          <a:solidFill>
            <a:srgbClr val="2563A0"/>
          </a:solidFill>
          <a:ln>
            <a:solidFill>
              <a:srgbClr val="25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READY — waiting in the ready queue for CPU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0" y="2752344"/>
            <a:ext cx="73152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2400" b="1">
                <a:solidFill>
                  <a:srgbClr val="F2B437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15487" y="3099816"/>
            <a:ext cx="5760720" cy="530352"/>
          </a:xfrm>
          <a:prstGeom prst="roundRect">
            <a:avLst/>
          </a:prstGeom>
          <a:solidFill>
            <a:srgbClr val="009196"/>
          </a:solidFill>
          <a:ln>
            <a:solidFill>
              <a:srgbClr val="009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RUNNING — instructions execute on a CPU 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0" y="3593592"/>
            <a:ext cx="73152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2400" b="1">
                <a:solidFill>
                  <a:srgbClr val="F2B437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15487" y="3941064"/>
            <a:ext cx="5760720" cy="530352"/>
          </a:xfrm>
          <a:prstGeom prst="roundRect">
            <a:avLst/>
          </a:prstGeom>
          <a:solidFill>
            <a:srgbClr val="4A7896"/>
          </a:solidFill>
          <a:ln>
            <a:solidFill>
              <a:srgbClr val="4A7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WAITING / BLOCKED — awaiting I/O or an event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0" y="4434840"/>
            <a:ext cx="73152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2400" b="1">
                <a:solidFill>
                  <a:srgbClr val="F2B437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15487" y="4782312"/>
            <a:ext cx="5760720" cy="530352"/>
          </a:xfrm>
          <a:prstGeom prst="roundRect">
            <a:avLst/>
          </a:prstGeom>
          <a:solidFill>
            <a:srgbClr val="12223A"/>
          </a:solidFill>
          <a:ln>
            <a:solidFill>
              <a:srgbClr val="12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TERMINATED — execution ends and resources are reclaimed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429768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F2B437"/>
                </a:solidFill>
                <a:latin typeface="Aptos"/>
              </a:defRPr>
            </a:pPr>
            <a:r>
              <a:t>OPERATING SYSTEMS • WEEK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1088136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"/>
              </a:defRPr>
            </a:pPr>
            <a:r>
              <a:t>Process Lifecycle: A Simple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6459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47104"/>
            <a:ext cx="731520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800" b="0">
                <a:solidFill>
                  <a:srgbClr val="5B697A"/>
                </a:solidFill>
                <a:latin typeface="Aptos"/>
              </a:defRPr>
            </a:pPr>
            <a:r>
              <a:t>Lecture 3–4  |  Operating System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37960"/>
            <a:ext cx="54864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1">
                <a:solidFill>
                  <a:srgbClr val="2563A0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95447" y="1417320"/>
            <a:ext cx="6400800" cy="530352"/>
          </a:xfrm>
          <a:prstGeom prst="roundRect">
            <a:avLst/>
          </a:prstGeom>
          <a:solidFill>
            <a:srgbClr val="12223A"/>
          </a:solidFill>
          <a:ln>
            <a:solidFill>
              <a:srgbClr val="12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NEW — OS creates the process and its control information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0" y="1911095"/>
            <a:ext cx="73152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2400" b="1">
                <a:solidFill>
                  <a:srgbClr val="F2B437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15487" y="2258568"/>
            <a:ext cx="5760720" cy="530352"/>
          </a:xfrm>
          <a:prstGeom prst="roundRect">
            <a:avLst/>
          </a:prstGeom>
          <a:solidFill>
            <a:srgbClr val="2563A0"/>
          </a:solidFill>
          <a:ln>
            <a:solidFill>
              <a:srgbClr val="25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READY — waiting in the ready queue for CPU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0" y="2752344"/>
            <a:ext cx="73152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2400" b="1">
                <a:solidFill>
                  <a:srgbClr val="F2B437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15487" y="3099816"/>
            <a:ext cx="5760720" cy="530352"/>
          </a:xfrm>
          <a:prstGeom prst="roundRect">
            <a:avLst/>
          </a:prstGeom>
          <a:solidFill>
            <a:srgbClr val="009196"/>
          </a:solidFill>
          <a:ln>
            <a:solidFill>
              <a:srgbClr val="009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RUNNING — instructions execute on a CPU 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0" y="3593592"/>
            <a:ext cx="73152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2400" b="1">
                <a:solidFill>
                  <a:srgbClr val="F2B437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15487" y="3941064"/>
            <a:ext cx="5760720" cy="530352"/>
          </a:xfrm>
          <a:prstGeom prst="roundRect">
            <a:avLst/>
          </a:prstGeom>
          <a:solidFill>
            <a:srgbClr val="4A7896"/>
          </a:solidFill>
          <a:ln>
            <a:solidFill>
              <a:srgbClr val="4A7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WAITING / BLOCKED — awaiting I/O or an event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0" y="4434840"/>
            <a:ext cx="73152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2400" b="1">
                <a:solidFill>
                  <a:srgbClr val="F2B437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15487" y="4782312"/>
            <a:ext cx="5760720" cy="530352"/>
          </a:xfrm>
          <a:prstGeom prst="roundRect">
            <a:avLst/>
          </a:prstGeom>
          <a:solidFill>
            <a:srgbClr val="12223A"/>
          </a:solidFill>
          <a:ln>
            <a:solidFill>
              <a:srgbClr val="12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TERMINATED — execution ends and resources are reclaimed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080760"/>
            <a:ext cx="1069848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00" b="0">
                <a:solidFill>
                  <a:srgbClr val="5B697A"/>
                </a:solidFill>
                <a:latin typeface="Aptos"/>
              </a:defRPr>
            </a:pPr>
            <a:r>
              <a:t>A scheduler or event can cause transitions; exact state models differ across operating systems.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429768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F2B437"/>
                </a:solidFill>
                <a:latin typeface="Aptos"/>
              </a:defRPr>
            </a:pPr>
            <a:r>
              <a:t>OPERATING SYSTEMS • WEEK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1088136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"/>
              </a:defRPr>
            </a:pPr>
            <a:r>
              <a:t>CPU Scheduling and Context Switching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6459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47104"/>
            <a:ext cx="731520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800" b="0">
                <a:solidFill>
                  <a:srgbClr val="5B697A"/>
                </a:solidFill>
                <a:latin typeface="Aptos"/>
              </a:defRPr>
            </a:pPr>
            <a:r>
              <a:t>Lecture 3–4  |  Operating System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37960"/>
            <a:ext cx="54864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1">
                <a:solidFill>
                  <a:srgbClr val="2563A0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143000"/>
            <a:ext cx="10698480" cy="5074920"/>
          </a:xfrm>
          <a:prstGeom prst="rect">
            <a:avLst/>
          </a:prstGeom>
          <a:noFill/>
        </p:spPr>
        <p:txBody>
          <a:bodyPr wrap="square" lIns="109728" rIns="109728" tIns="73152" bIns="36576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6303D"/>
                </a:solidFill>
                <a:latin typeface="Aptos"/>
              </a:defRPr>
            </a:pPr>
            <a:r>
              <a:t>• Scheduling: Selects a ready process or thread to run on an available CPU.</a:t>
            </a:r>
          </a:p>
          <a:p>
            <a:pPr>
              <a:spcAft>
                <a:spcPts val="1200"/>
              </a:spcAft>
              <a:defRPr sz="1800">
                <a:solidFill>
                  <a:srgbClr val="26303D"/>
                </a:solidFill>
                <a:latin typeface="Aptos"/>
              </a:defRPr>
            </a:pPr>
            <a:r>
              <a:t>• Goals: Responsiveness, throughput, fairness, predictable waiting time, and meeting deadlines where required.</a:t>
            </a:r>
          </a:p>
          <a:p>
            <a:pPr>
              <a:spcAft>
                <a:spcPts val="1200"/>
              </a:spcAft>
              <a:defRPr sz="1800">
                <a:solidFill>
                  <a:srgbClr val="26303D"/>
                </a:solidFill>
                <a:latin typeface="Aptos"/>
              </a:defRPr>
            </a:pPr>
            <a:r>
              <a:t>• Common approaches: FCFS, shortest-job-first variants, priority scheduling, round robin, and multilevel feedback queues.</a:t>
            </a:r>
          </a:p>
          <a:p>
            <a:pPr>
              <a:spcAft>
                <a:spcPts val="1200"/>
              </a:spcAft>
              <a:defRPr sz="1800">
                <a:solidFill>
                  <a:srgbClr val="26303D"/>
                </a:solidFill>
                <a:latin typeface="Aptos"/>
              </a:defRPr>
            </a:pPr>
            <a:r>
              <a:t>• Context switch: The OS saves the running context and restores another context; this enables sharing but adds overhead.</a:t>
            </a:r>
          </a:p>
          <a:p>
            <a:pPr>
              <a:spcAft>
                <a:spcPts val="1200"/>
              </a:spcAft>
              <a:defRPr sz="1800">
                <a:solidFill>
                  <a:srgbClr val="26303D"/>
                </a:solidFill>
                <a:latin typeface="Aptos"/>
              </a:defRPr>
            </a:pPr>
            <a:r>
              <a:t>• Example: A browser can remain responsive while a download waits for network input and a music player receives CPU time.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429768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F2B437"/>
                </a:solidFill>
                <a:latin typeface="Aptos"/>
              </a:defRPr>
            </a:pPr>
            <a:r>
              <a:t>OPERATING SYSTEMS • WEEK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1088136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"/>
              </a:defRPr>
            </a:pPr>
            <a:r>
              <a:t>Synchronization and Interprocess Communication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6459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47104"/>
            <a:ext cx="731520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800" b="0">
                <a:solidFill>
                  <a:srgbClr val="5B697A"/>
                </a:solidFill>
                <a:latin typeface="Aptos"/>
              </a:defRPr>
            </a:pPr>
            <a:r>
              <a:t>Lecture 3–4  |  Operating System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37960"/>
            <a:ext cx="54864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1">
                <a:solidFill>
                  <a:srgbClr val="2563A0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325880"/>
            <a:ext cx="52578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325880"/>
            <a:ext cx="82296" cy="214884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1463039"/>
            <a:ext cx="4910328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2223A"/>
                </a:solidFill>
                <a:latin typeface="Aptos"/>
              </a:defRPr>
            </a:pPr>
            <a:r>
              <a:t>Shared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1920240"/>
            <a:ext cx="4892040" cy="1435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6303D"/>
                </a:solidFill>
                <a:latin typeface="Aptos"/>
              </a:defRPr>
            </a:pPr>
            <a:r>
              <a:t>Concurrent processes may access the same data; uncontrolled updates can cause race conditions.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25880"/>
            <a:ext cx="52578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325880"/>
            <a:ext cx="82296" cy="2148840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1463039"/>
            <a:ext cx="4910328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2223A"/>
                </a:solidFill>
                <a:latin typeface="Aptos"/>
              </a:defRPr>
            </a:pPr>
            <a:r>
              <a:t>Critical section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1920240"/>
            <a:ext cx="4892040" cy="1435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6303D"/>
                </a:solidFill>
                <a:latin typeface="Aptos"/>
              </a:defRPr>
            </a:pPr>
            <a:r>
              <a:t>A code region that accesses shared state and must be protected by a coordination mechanism.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03320"/>
            <a:ext cx="52578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703320"/>
            <a:ext cx="82296" cy="2148840"/>
          </a:xfrm>
          <a:prstGeom prst="rect">
            <a:avLst/>
          </a:prstGeom>
          <a:solidFill>
            <a:srgbClr val="F2B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3840480"/>
            <a:ext cx="4910328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2223A"/>
                </a:solidFill>
                <a:latin typeface="Aptos"/>
              </a:defRPr>
            </a:pPr>
            <a:r>
              <a:t>Coordination tools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4297680"/>
            <a:ext cx="4892040" cy="1435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6303D"/>
                </a:solidFill>
                <a:latin typeface="Aptos"/>
              </a:defRPr>
            </a:pPr>
            <a:r>
              <a:t>Mutexes, semaphores, condition variables, monitors, and atomic operations help coordinate access.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03320"/>
            <a:ext cx="52578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3703320"/>
            <a:ext cx="82296" cy="2148840"/>
          </a:xfrm>
          <a:prstGeom prst="rect">
            <a:avLst/>
          </a:prstGeom>
          <a:solidFill>
            <a:srgbClr val="6C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3840480"/>
            <a:ext cx="4910328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2223A"/>
                </a:solidFill>
                <a:latin typeface="Aptos"/>
              </a:defRPr>
            </a:pPr>
            <a:r>
              <a:t>IPC mechanisms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4297680"/>
            <a:ext cx="4892040" cy="1435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6303D"/>
                </a:solidFill>
                <a:latin typeface="Aptos"/>
              </a:defRPr>
            </a:pPr>
            <a:r>
              <a:t>Pipes, message queues, shared memory, sockets, and signals allow processes to exchange information.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429768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F2B437"/>
                </a:solidFill>
                <a:latin typeface="Aptos"/>
              </a:defRPr>
            </a:pPr>
            <a:r>
              <a:t>OPERATING SYSTEMS • WEEK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1088136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"/>
              </a:defRPr>
            </a:pPr>
            <a:r>
              <a:t>Memory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6459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47104"/>
            <a:ext cx="731520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800" b="0">
                <a:solidFill>
                  <a:srgbClr val="5B697A"/>
                </a:solidFill>
                <a:latin typeface="Aptos"/>
              </a:defRPr>
            </a:pPr>
            <a:r>
              <a:t>Lecture 3–4  |  Operating System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37960"/>
            <a:ext cx="54864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1">
                <a:solidFill>
                  <a:srgbClr val="2563A0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143000"/>
            <a:ext cx="10698480" cy="5074920"/>
          </a:xfrm>
          <a:prstGeom prst="rect">
            <a:avLst/>
          </a:prstGeom>
          <a:noFill/>
        </p:spPr>
        <p:txBody>
          <a:bodyPr wrap="square" lIns="109728" rIns="109728" tIns="73152" bIns="36576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6303D"/>
                </a:solidFill>
                <a:latin typeface="Aptos"/>
              </a:defRPr>
            </a:pPr>
            <a:r>
              <a:t>• Allocation and reclamation: Tracks which memory regions are in use and assigns or frees memory as processes change.</a:t>
            </a:r>
          </a:p>
          <a:p>
            <a:pPr>
              <a:spcAft>
                <a:spcPts val="1200"/>
              </a:spcAft>
              <a:defRPr sz="1800">
                <a:solidFill>
                  <a:srgbClr val="26303D"/>
                </a:solidFill>
                <a:latin typeface="Aptos"/>
              </a:defRPr>
            </a:pPr>
            <a:r>
              <a:t>• Address translation: Maps program-visible virtual addresses to physical memory locations.</a:t>
            </a:r>
          </a:p>
          <a:p>
            <a:pPr>
              <a:spcAft>
                <a:spcPts val="1200"/>
              </a:spcAft>
              <a:defRPr sz="1800">
                <a:solidFill>
                  <a:srgbClr val="26303D"/>
                </a:solidFill>
                <a:latin typeface="Aptos"/>
              </a:defRPr>
            </a:pPr>
            <a:r>
              <a:t>• Isolation: Prevents one process from accidentally or deliberately accessing another process's protected memory.</a:t>
            </a:r>
          </a:p>
          <a:p>
            <a:pPr>
              <a:spcAft>
                <a:spcPts val="1200"/>
              </a:spcAft>
              <a:defRPr sz="1800">
                <a:solidFill>
                  <a:srgbClr val="26303D"/>
                </a:solidFill>
                <a:latin typeface="Aptos"/>
              </a:defRPr>
            </a:pPr>
            <a:r>
              <a:t>• Virtual memory: Uses paging and/or segmentation concepts so programs need not fit entirely into physical RAM at once.</a:t>
            </a:r>
          </a:p>
          <a:p>
            <a:pPr>
              <a:spcAft>
                <a:spcPts val="1200"/>
              </a:spcAft>
              <a:defRPr sz="1800">
                <a:solidFill>
                  <a:srgbClr val="26303D"/>
                </a:solidFill>
                <a:latin typeface="Aptos"/>
              </a:defRPr>
            </a:pPr>
            <a:r>
              <a:t>• Efficiency: Manages free space, page faults, sharing, and memory pressure while minimizing waste and excessive swapping.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429768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F2B437"/>
                </a:solidFill>
                <a:latin typeface="Aptos"/>
              </a:defRPr>
            </a:pPr>
            <a:r>
              <a:t>OPERATING SYSTEMS • WEEK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1088136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"/>
              </a:defRPr>
            </a:pPr>
            <a:r>
              <a:t>Virtual Memory: From Address to RAM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6459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47104"/>
            <a:ext cx="731520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800" b="0">
                <a:solidFill>
                  <a:srgbClr val="5B697A"/>
                </a:solidFill>
                <a:latin typeface="Aptos"/>
              </a:defRPr>
            </a:pPr>
            <a:r>
              <a:t>Lecture 3–4  |  Operating System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37960"/>
            <a:ext cx="54864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1">
                <a:solidFill>
                  <a:srgbClr val="2563A0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95447" y="1417320"/>
            <a:ext cx="6400800" cy="530352"/>
          </a:xfrm>
          <a:prstGeom prst="roundRect">
            <a:avLst/>
          </a:prstGeom>
          <a:solidFill>
            <a:srgbClr val="12223A"/>
          </a:solidFill>
          <a:ln>
            <a:solidFill>
              <a:srgbClr val="12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CPU generates a virtual address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0" y="1911095"/>
            <a:ext cx="73152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2400" b="1">
                <a:solidFill>
                  <a:srgbClr val="F2B437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15487" y="2258568"/>
            <a:ext cx="5760720" cy="530352"/>
          </a:xfrm>
          <a:prstGeom prst="roundRect">
            <a:avLst/>
          </a:prstGeom>
          <a:solidFill>
            <a:srgbClr val="2563A0"/>
          </a:solidFill>
          <a:ln>
            <a:solidFill>
              <a:srgbClr val="25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MMU consults page-table / translation information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0" y="2752344"/>
            <a:ext cx="73152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2400" b="1">
                <a:solidFill>
                  <a:srgbClr val="F2B437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15487" y="3099816"/>
            <a:ext cx="5760720" cy="530352"/>
          </a:xfrm>
          <a:prstGeom prst="roundRect">
            <a:avLst/>
          </a:prstGeom>
          <a:solidFill>
            <a:srgbClr val="009196"/>
          </a:solidFill>
          <a:ln>
            <a:solidFill>
              <a:srgbClr val="009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Valid mapping? — translate virtual page to physical frame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0" y="3593592"/>
            <a:ext cx="73152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2400" b="1">
                <a:solidFill>
                  <a:srgbClr val="F2B437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15487" y="3941064"/>
            <a:ext cx="5760720" cy="530352"/>
          </a:xfrm>
          <a:prstGeom prst="roundRect">
            <a:avLst/>
          </a:prstGeom>
          <a:solidFill>
            <a:srgbClr val="4A7896"/>
          </a:solidFill>
          <a:ln>
            <a:solidFill>
              <a:srgbClr val="4A7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If page is absent: page fault transfers control to the 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0" y="4434840"/>
            <a:ext cx="73152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2400" b="1">
                <a:solidFill>
                  <a:srgbClr val="F2B437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15487" y="4782312"/>
            <a:ext cx="5760720" cy="530352"/>
          </a:xfrm>
          <a:prstGeom prst="roundRect">
            <a:avLst/>
          </a:prstGeom>
          <a:solidFill>
            <a:srgbClr val="12223A"/>
          </a:solidFill>
          <a:ln>
            <a:solidFill>
              <a:srgbClr val="12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OS loads or maps the page, updates metadata, and resumes execution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080760"/>
            <a:ext cx="1069848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00" b="0">
                <a:solidFill>
                  <a:srgbClr val="5B697A"/>
                </a:solidFill>
                <a:latin typeface="Aptos"/>
              </a:defRPr>
            </a:pPr>
            <a:r>
              <a:t>A page fault is not automatically an error; it can be a normal part of demand paging.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429768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F2B437"/>
                </a:solidFill>
                <a:latin typeface="Aptos"/>
              </a:defRPr>
            </a:pPr>
            <a:r>
              <a:t>OPERATING SYSTEMS • WEEK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1088136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"/>
              </a:defRPr>
            </a:pPr>
            <a:r>
              <a:t>File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6459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47104"/>
            <a:ext cx="731520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800" b="0">
                <a:solidFill>
                  <a:srgbClr val="5B697A"/>
                </a:solidFill>
                <a:latin typeface="Aptos"/>
              </a:defRPr>
            </a:pPr>
            <a:r>
              <a:t>Lecture 3–4  |  Operating System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37960"/>
            <a:ext cx="54864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1">
                <a:solidFill>
                  <a:srgbClr val="2563A0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325880"/>
            <a:ext cx="52578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325880"/>
            <a:ext cx="82296" cy="214884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1463039"/>
            <a:ext cx="4910328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2223A"/>
                </a:solidFill>
                <a:latin typeface="Aptos"/>
              </a:defRPr>
            </a:pPr>
            <a:r>
              <a:t>File abstraction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1920240"/>
            <a:ext cx="4892040" cy="1435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6303D"/>
                </a:solidFill>
                <a:latin typeface="Aptos"/>
              </a:defRPr>
            </a:pPr>
            <a:r>
              <a:t>A named collection of information stored for later retrieval, often organized in directories.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25880"/>
            <a:ext cx="52578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325880"/>
            <a:ext cx="82296" cy="2148840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1463039"/>
            <a:ext cx="4910328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2223A"/>
                </a:solidFill>
                <a:latin typeface="Aptos"/>
              </a:defRPr>
            </a:pPr>
            <a:r>
              <a:t>Operations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1920240"/>
            <a:ext cx="4892040" cy="1435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6303D"/>
                </a:solidFill>
                <a:latin typeface="Aptos"/>
              </a:defRPr>
            </a:pPr>
            <a:r>
              <a:t>Create, open, read, write, seek, close, rename, copy, and delete files.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03320"/>
            <a:ext cx="52578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703320"/>
            <a:ext cx="82296" cy="2148840"/>
          </a:xfrm>
          <a:prstGeom prst="rect">
            <a:avLst/>
          </a:prstGeom>
          <a:solidFill>
            <a:srgbClr val="F2B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3840480"/>
            <a:ext cx="4910328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2223A"/>
                </a:solidFill>
                <a:latin typeface="Aptos"/>
              </a:defRPr>
            </a:pPr>
            <a:r>
              <a:t>Metadata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4297680"/>
            <a:ext cx="4892040" cy="1435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6303D"/>
                </a:solidFill>
                <a:latin typeface="Aptos"/>
              </a:defRPr>
            </a:pPr>
            <a:r>
              <a:t>Names, sizes, timestamps, ownership, permissions, and storage-location information.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03320"/>
            <a:ext cx="52578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3703320"/>
            <a:ext cx="82296" cy="2148840"/>
          </a:xfrm>
          <a:prstGeom prst="rect">
            <a:avLst/>
          </a:prstGeom>
          <a:solidFill>
            <a:srgbClr val="6C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3840480"/>
            <a:ext cx="4910328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2223A"/>
                </a:solidFill>
                <a:latin typeface="Aptos"/>
              </a:defRPr>
            </a:pPr>
            <a:r>
              <a:t>Directory &amp; permissions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4297680"/>
            <a:ext cx="4892040" cy="1435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6303D"/>
                </a:solidFill>
                <a:latin typeface="Aptos"/>
              </a:defRPr>
            </a:pPr>
            <a:r>
              <a:t>Directories organize names; access rules determine who may read, modify, or execute content.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429768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F2B437"/>
                </a:solidFill>
                <a:latin typeface="Aptos"/>
              </a:defRPr>
            </a:pPr>
            <a:r>
              <a:t>OPERATING SYSTEMS • WEEK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1088136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"/>
              </a:defRPr>
            </a:pPr>
            <a:r>
              <a:t>File Systems: Organization and Reliability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6459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47104"/>
            <a:ext cx="731520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800" b="0">
                <a:solidFill>
                  <a:srgbClr val="5B697A"/>
                </a:solidFill>
                <a:latin typeface="Aptos"/>
              </a:defRPr>
            </a:pPr>
            <a:r>
              <a:t>Lecture 3–4  |  Operating System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37960"/>
            <a:ext cx="54864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1">
                <a:solidFill>
                  <a:srgbClr val="2563A0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143000"/>
            <a:ext cx="10698480" cy="5074920"/>
          </a:xfrm>
          <a:prstGeom prst="rect">
            <a:avLst/>
          </a:prstGeom>
          <a:noFill/>
        </p:spPr>
        <p:txBody>
          <a:bodyPr wrap="square" lIns="109728" rIns="109728" tIns="73152" bIns="36576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6303D"/>
                </a:solidFill>
                <a:latin typeface="Aptos"/>
              </a:defRPr>
            </a:pPr>
            <a:r>
              <a:t>• Logical view: Users and applications work with paths, files, directories, and file handles.</a:t>
            </a:r>
          </a:p>
          <a:p>
            <a:pPr>
              <a:spcAft>
                <a:spcPts val="1200"/>
              </a:spcAft>
              <a:defRPr sz="1800">
                <a:solidFill>
                  <a:srgbClr val="26303D"/>
                </a:solidFill>
                <a:latin typeface="Aptos"/>
              </a:defRPr>
            </a:pPr>
            <a:r>
              <a:t>• Physical view: The file system maps logical file content to blocks or extents on storage devices.</a:t>
            </a:r>
          </a:p>
          <a:p>
            <a:pPr>
              <a:spcAft>
                <a:spcPts val="1200"/>
              </a:spcAft>
              <a:defRPr sz="1800">
                <a:solidFill>
                  <a:srgbClr val="26303D"/>
                </a:solidFill>
                <a:latin typeface="Aptos"/>
              </a:defRPr>
            </a:pPr>
            <a:r>
              <a:t>• Free-space tracking: Bitmaps, free lists, or related structures help locate available storage.</a:t>
            </a:r>
          </a:p>
          <a:p>
            <a:pPr>
              <a:spcAft>
                <a:spcPts val="1200"/>
              </a:spcAft>
              <a:defRPr sz="1800">
                <a:solidFill>
                  <a:srgbClr val="26303D"/>
                </a:solidFill>
                <a:latin typeface="Aptos"/>
              </a:defRPr>
            </a:pPr>
            <a:r>
              <a:t>• Consistency: Journaling, logging, checks, and recovery mechanisms help reduce damage after interruptions.</a:t>
            </a:r>
          </a:p>
          <a:p>
            <a:pPr>
              <a:spcAft>
                <a:spcPts val="1200"/>
              </a:spcAft>
              <a:defRPr sz="1800">
                <a:solidFill>
                  <a:srgbClr val="26303D"/>
                </a:solidFill>
                <a:latin typeface="Aptos"/>
              </a:defRPr>
            </a:pPr>
            <a:r>
              <a:t>• Example: Saving a document may update file data, metadata, directory information, and consistency records.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429768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F2B437"/>
                </a:solidFill>
                <a:latin typeface="Aptos"/>
              </a:defRPr>
            </a:pPr>
            <a:r>
              <a:t>OPERATING SYSTEMS • WEEK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1088136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"/>
              </a:defRPr>
            </a:pPr>
            <a:r>
              <a:t>I/O System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6459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47104"/>
            <a:ext cx="731520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800" b="0">
                <a:solidFill>
                  <a:srgbClr val="5B697A"/>
                </a:solidFill>
                <a:latin typeface="Aptos"/>
              </a:defRPr>
            </a:pPr>
            <a:r>
              <a:t>Lecture 3–4  |  Operating System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37960"/>
            <a:ext cx="54864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1">
                <a:solidFill>
                  <a:srgbClr val="2563A0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143000"/>
            <a:ext cx="10698480" cy="5074920"/>
          </a:xfrm>
          <a:prstGeom prst="rect">
            <a:avLst/>
          </a:prstGeom>
          <a:noFill/>
        </p:spPr>
        <p:txBody>
          <a:bodyPr wrap="square" lIns="109728" rIns="109728" tIns="73152" bIns="36576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6303D"/>
                </a:solidFill>
                <a:latin typeface="Aptos"/>
              </a:defRPr>
            </a:pPr>
            <a:r>
              <a:t>• Device abstraction: Provides consistent interfaces for devices with very different hardware behavior.</a:t>
            </a:r>
          </a:p>
          <a:p>
            <a:pPr>
              <a:spcAft>
                <a:spcPts val="1200"/>
              </a:spcAft>
              <a:defRPr sz="1800">
                <a:solidFill>
                  <a:srgbClr val="26303D"/>
                </a:solidFill>
                <a:latin typeface="Aptos"/>
              </a:defRPr>
            </a:pPr>
            <a:r>
              <a:t>• Device drivers: Translate OS requests into device-specific commands and handle device events.</a:t>
            </a:r>
          </a:p>
          <a:p>
            <a:pPr>
              <a:spcAft>
                <a:spcPts val="1200"/>
              </a:spcAft>
              <a:defRPr sz="1800">
                <a:solidFill>
                  <a:srgbClr val="26303D"/>
                </a:solidFill>
                <a:latin typeface="Aptos"/>
              </a:defRPr>
            </a:pPr>
            <a:r>
              <a:t>• Interrupts: Allow hardware to notify the CPU that attention is needed, such as when I/O completes.</a:t>
            </a:r>
          </a:p>
          <a:p>
            <a:pPr>
              <a:spcAft>
                <a:spcPts val="1200"/>
              </a:spcAft>
              <a:defRPr sz="1800">
                <a:solidFill>
                  <a:srgbClr val="26303D"/>
                </a:solidFill>
                <a:latin typeface="Aptos"/>
              </a:defRPr>
            </a:pPr>
            <a:r>
              <a:t>• Buffering and caching: Temporarily store data to handle speed differences or avoid repeated device access.</a:t>
            </a:r>
          </a:p>
          <a:p>
            <a:pPr>
              <a:spcAft>
                <a:spcPts val="1200"/>
              </a:spcAft>
              <a:defRPr sz="1800">
                <a:solidFill>
                  <a:srgbClr val="26303D"/>
                </a:solidFill>
                <a:latin typeface="Aptos"/>
              </a:defRPr>
            </a:pPr>
            <a:r>
              <a:t>• Spooling and queues: Queue work for devices that process requests sequentially, such as a printer.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429768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F2B437"/>
                </a:solidFill>
                <a:latin typeface="Aptos"/>
              </a:defRPr>
            </a:pPr>
            <a:r>
              <a:t>OPERATING SYSTEMS • WEEK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1088136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"/>
              </a:defRPr>
            </a:pPr>
            <a:r>
              <a:t>An I/O Request: Application to Device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6459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47104"/>
            <a:ext cx="731520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800" b="0">
                <a:solidFill>
                  <a:srgbClr val="5B697A"/>
                </a:solidFill>
                <a:latin typeface="Aptos"/>
              </a:defRPr>
            </a:pPr>
            <a:r>
              <a:t>Lecture 3–4  |  Operating System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37960"/>
            <a:ext cx="54864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1">
                <a:solidFill>
                  <a:srgbClr val="2563A0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95447" y="1417320"/>
            <a:ext cx="6400800" cy="530352"/>
          </a:xfrm>
          <a:prstGeom prst="roundRect">
            <a:avLst/>
          </a:prstGeom>
          <a:solidFill>
            <a:srgbClr val="12223A"/>
          </a:solidFill>
          <a:ln>
            <a:solidFill>
              <a:srgbClr val="12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Application requests data or output through an OS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0" y="1911095"/>
            <a:ext cx="73152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2400" b="1">
                <a:solidFill>
                  <a:srgbClr val="F2B437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15487" y="2258568"/>
            <a:ext cx="5760720" cy="530352"/>
          </a:xfrm>
          <a:prstGeom prst="roundRect">
            <a:avLst/>
          </a:prstGeom>
          <a:solidFill>
            <a:srgbClr val="2563A0"/>
          </a:solidFill>
          <a:ln>
            <a:solidFill>
              <a:srgbClr val="25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System call enters the kernel and validates the request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0" y="2752344"/>
            <a:ext cx="73152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2400" b="1">
                <a:solidFill>
                  <a:srgbClr val="F2B437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15487" y="3099816"/>
            <a:ext cx="5760720" cy="530352"/>
          </a:xfrm>
          <a:prstGeom prst="roundRect">
            <a:avLst/>
          </a:prstGeom>
          <a:solidFill>
            <a:srgbClr val="009196"/>
          </a:solidFill>
          <a:ln>
            <a:solidFill>
              <a:srgbClr val="009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I/O subsystem selects a driver and configures the operation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0" y="3593592"/>
            <a:ext cx="73152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2400" b="1">
                <a:solidFill>
                  <a:srgbClr val="F2B437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15487" y="3941064"/>
            <a:ext cx="5760720" cy="530352"/>
          </a:xfrm>
          <a:prstGeom prst="roundRect">
            <a:avLst/>
          </a:prstGeom>
          <a:solidFill>
            <a:srgbClr val="4A7896"/>
          </a:solidFill>
          <a:ln>
            <a:solidFill>
              <a:srgbClr val="4A7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Device performs work; interrupts or polling report progress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0" y="4434840"/>
            <a:ext cx="73152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2400" b="1">
                <a:solidFill>
                  <a:srgbClr val="F2B437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15487" y="4782312"/>
            <a:ext cx="5760720" cy="530352"/>
          </a:xfrm>
          <a:prstGeom prst="roundRect">
            <a:avLst/>
          </a:prstGeom>
          <a:solidFill>
            <a:srgbClr val="12223A"/>
          </a:solidFill>
          <a:ln>
            <a:solidFill>
              <a:srgbClr val="12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OS returns status or data to the application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429768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F2B437"/>
                </a:solidFill>
                <a:latin typeface="Aptos"/>
              </a:defRPr>
            </a:pPr>
            <a:r>
              <a:t>OPERATING SYSTEMS • WEEK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1088136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"/>
              </a:defRPr>
            </a:pPr>
            <a:r>
              <a:t>Secondary Storage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6459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47104"/>
            <a:ext cx="731520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800" b="0">
                <a:solidFill>
                  <a:srgbClr val="5B697A"/>
                </a:solidFill>
                <a:latin typeface="Aptos"/>
              </a:defRPr>
            </a:pPr>
            <a:r>
              <a:t>Lecture 3–4  |  Operating System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37960"/>
            <a:ext cx="54864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1">
                <a:solidFill>
                  <a:srgbClr val="2563A0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325880"/>
            <a:ext cx="52578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325880"/>
            <a:ext cx="82296" cy="214884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1463039"/>
            <a:ext cx="4910328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2223A"/>
                </a:solidFill>
                <a:latin typeface="Aptos"/>
              </a:defRPr>
            </a:pPr>
            <a:r>
              <a:t>Block allocation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1920240"/>
            <a:ext cx="4892040" cy="1435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6303D"/>
                </a:solidFill>
                <a:latin typeface="Aptos"/>
              </a:defRPr>
            </a:pPr>
            <a:r>
              <a:t>Organizes data into sectors, blocks, or extents and tracks where content resides.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25880"/>
            <a:ext cx="52578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325880"/>
            <a:ext cx="82296" cy="2148840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1463039"/>
            <a:ext cx="4910328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2223A"/>
                </a:solidFill>
                <a:latin typeface="Aptos"/>
              </a:defRPr>
            </a:pPr>
            <a:r>
              <a:t>Disk scheduling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1920240"/>
            <a:ext cx="4892040" cy="1435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6303D"/>
                </a:solidFill>
                <a:latin typeface="Aptos"/>
              </a:defRPr>
            </a:pPr>
            <a:r>
              <a:t>May reorder requests to improve throughput and reduce access delays on rotating disks.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03320"/>
            <a:ext cx="52578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703320"/>
            <a:ext cx="82296" cy="2148840"/>
          </a:xfrm>
          <a:prstGeom prst="rect">
            <a:avLst/>
          </a:prstGeom>
          <a:solidFill>
            <a:srgbClr val="F2B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3840480"/>
            <a:ext cx="4910328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2223A"/>
                </a:solidFill>
                <a:latin typeface="Aptos"/>
              </a:defRPr>
            </a:pPr>
            <a:r>
              <a:t>Storage volumes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4297680"/>
            <a:ext cx="4892040" cy="1435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6303D"/>
                </a:solidFill>
                <a:latin typeface="Aptos"/>
              </a:defRPr>
            </a:pPr>
            <a:r>
              <a:t>Partitions, formats, and mounts storage so file systems can use it.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03320"/>
            <a:ext cx="52578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3703320"/>
            <a:ext cx="82296" cy="2148840"/>
          </a:xfrm>
          <a:prstGeom prst="rect">
            <a:avLst/>
          </a:prstGeom>
          <a:solidFill>
            <a:srgbClr val="6C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3840480"/>
            <a:ext cx="4910328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2223A"/>
                </a:solidFill>
                <a:latin typeface="Aptos"/>
              </a:defRPr>
            </a:pPr>
            <a:r>
              <a:t>Reliability &amp; performance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4297680"/>
            <a:ext cx="4892040" cy="1435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6303D"/>
                </a:solidFill>
                <a:latin typeface="Aptos"/>
              </a:defRPr>
            </a:pPr>
            <a:r>
              <a:t>Includes error handling, caching, bad-block management, redundancy support, and monitoring.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429768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F2B437"/>
                </a:solidFill>
                <a:latin typeface="Aptos"/>
              </a:defRPr>
            </a:pPr>
            <a:r>
              <a:t>OPERATING SYSTEMS • WEEK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1088136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"/>
              </a:defRPr>
            </a:pPr>
            <a:r>
              <a:t>Storage Media and OS Considerations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6459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47104"/>
            <a:ext cx="731520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800" b="0">
                <a:solidFill>
                  <a:srgbClr val="5B697A"/>
                </a:solidFill>
                <a:latin typeface="Aptos"/>
              </a:defRPr>
            </a:pPr>
            <a:r>
              <a:t>Lecture 3–4  |  Operating System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37960"/>
            <a:ext cx="54864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1">
                <a:solidFill>
                  <a:srgbClr val="2563A0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143000"/>
            <a:ext cx="10698480" cy="5074920"/>
          </a:xfrm>
          <a:prstGeom prst="rect">
            <a:avLst/>
          </a:prstGeom>
          <a:noFill/>
        </p:spPr>
        <p:txBody>
          <a:bodyPr wrap="square" lIns="109728" rIns="109728" tIns="73152" bIns="36576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6303D"/>
                </a:solidFill>
                <a:latin typeface="Aptos"/>
              </a:defRPr>
            </a:pPr>
            <a:r>
              <a:t>• HDD: Magnetic rotating media; mechanical seek and rotation influence latency.</a:t>
            </a:r>
          </a:p>
          <a:p>
            <a:pPr>
              <a:spcAft>
                <a:spcPts val="1200"/>
              </a:spcAft>
              <a:defRPr sz="1800">
                <a:solidFill>
                  <a:srgbClr val="26303D"/>
                </a:solidFill>
                <a:latin typeface="Aptos"/>
              </a:defRPr>
            </a:pPr>
            <a:r>
              <a:t>• SSD / NVMe: Flash-based storage with low access latency; writes, endurance, and internal flash management matter.</a:t>
            </a:r>
          </a:p>
          <a:p>
            <a:pPr>
              <a:spcAft>
                <a:spcPts val="1200"/>
              </a:spcAft>
              <a:defRPr sz="1800">
                <a:solidFill>
                  <a:srgbClr val="26303D"/>
                </a:solidFill>
                <a:latin typeface="Aptos"/>
              </a:defRPr>
            </a:pPr>
            <a:r>
              <a:t>• Optical / removable media: Useful for distribution, archiving, or portable transfer, with varying speed and durability.</a:t>
            </a:r>
          </a:p>
          <a:p>
            <a:pPr>
              <a:spcAft>
                <a:spcPts val="1200"/>
              </a:spcAft>
              <a:defRPr sz="1800">
                <a:solidFill>
                  <a:srgbClr val="26303D"/>
                </a:solidFill>
                <a:latin typeface="Aptos"/>
              </a:defRPr>
            </a:pPr>
            <a:r>
              <a:t>• OS-level decisions: Caching, queueing, file-system layout, trim/discard, and I/O scheduling affect observed performance.</a:t>
            </a:r>
          </a:p>
          <a:p>
            <a:pPr>
              <a:spcAft>
                <a:spcPts val="1200"/>
              </a:spcAft>
              <a:defRPr sz="1800">
                <a:solidFill>
                  <a:srgbClr val="26303D"/>
                </a:solidFill>
                <a:latin typeface="Aptos"/>
              </a:defRPr>
            </a:pPr>
            <a:r>
              <a:t>• Key idea: The OS manages logical storage requests; the device controller handles many low-level physical details.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429768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F2B437"/>
                </a:solidFill>
                <a:latin typeface="Aptos"/>
              </a:defRPr>
            </a:pPr>
            <a:r>
              <a:t>OPERATING SYSTEMS • WEEK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1088136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"/>
              </a:defRPr>
            </a:pPr>
            <a:r>
              <a:t>Networking in an Operating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6459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47104"/>
            <a:ext cx="731520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800" b="0">
                <a:solidFill>
                  <a:srgbClr val="5B697A"/>
                </a:solidFill>
                <a:latin typeface="Aptos"/>
              </a:defRPr>
            </a:pPr>
            <a:r>
              <a:t>Lecture 3–4  |  Operating System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37960"/>
            <a:ext cx="54864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1">
                <a:solidFill>
                  <a:srgbClr val="2563A0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143000"/>
            <a:ext cx="10698480" cy="5074920"/>
          </a:xfrm>
          <a:prstGeom prst="rect">
            <a:avLst/>
          </a:prstGeom>
          <a:noFill/>
        </p:spPr>
        <p:txBody>
          <a:bodyPr wrap="square" lIns="109728" rIns="109728" tIns="73152" bIns="36576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6303D"/>
                </a:solidFill>
                <a:latin typeface="Aptos"/>
              </a:defRPr>
            </a:pPr>
            <a:r>
              <a:t>• Communication interface: Sockets and networking APIs let applications exchange data across local or remote systems.</a:t>
            </a:r>
          </a:p>
          <a:p>
            <a:pPr>
              <a:spcAft>
                <a:spcPts val="1200"/>
              </a:spcAft>
              <a:defRPr sz="1800">
                <a:solidFill>
                  <a:srgbClr val="26303D"/>
                </a:solidFill>
                <a:latin typeface="Aptos"/>
              </a:defRPr>
            </a:pPr>
            <a:r>
              <a:t>• Protocol stack: OS networking code implements or supports protocols such as IP, TCP, and UDP.</a:t>
            </a:r>
          </a:p>
          <a:p>
            <a:pPr>
              <a:spcAft>
                <a:spcPts val="1200"/>
              </a:spcAft>
              <a:defRPr sz="1800">
                <a:solidFill>
                  <a:srgbClr val="26303D"/>
                </a:solidFill>
                <a:latin typeface="Aptos"/>
              </a:defRPr>
            </a:pPr>
            <a:r>
              <a:t>• Resource management: Manages network interfaces, buffers, connections, routing information, and packet queues.</a:t>
            </a:r>
          </a:p>
          <a:p>
            <a:pPr>
              <a:spcAft>
                <a:spcPts val="1200"/>
              </a:spcAft>
              <a:defRPr sz="1800">
                <a:solidFill>
                  <a:srgbClr val="26303D"/>
                </a:solidFill>
                <a:latin typeface="Aptos"/>
              </a:defRPr>
            </a:pPr>
            <a:r>
              <a:t>• Protection: Applies firewall rules, permissions, and isolation policies where supported.</a:t>
            </a:r>
          </a:p>
          <a:p>
            <a:pPr>
              <a:spcAft>
                <a:spcPts val="1200"/>
              </a:spcAft>
              <a:defRPr sz="1800">
                <a:solidFill>
                  <a:srgbClr val="26303D"/>
                </a:solidFill>
                <a:latin typeface="Aptos"/>
              </a:defRPr>
            </a:pPr>
            <a:r>
              <a:t>• Example: A browser uses sockets and TCP/TLS-related libraries to request a web page over an IP network.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429768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F2B437"/>
                </a:solidFill>
                <a:latin typeface="Aptos"/>
              </a:defRPr>
            </a:pPr>
            <a:r>
              <a:t>OPERATING SYSTEMS • WEEK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1088136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"/>
              </a:defRPr>
            </a:pPr>
            <a:r>
              <a:t>System Protection and 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6459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47104"/>
            <a:ext cx="731520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800" b="0">
                <a:solidFill>
                  <a:srgbClr val="5B697A"/>
                </a:solidFill>
                <a:latin typeface="Aptos"/>
              </a:defRPr>
            </a:pPr>
            <a:r>
              <a:t>Lecture 3–4  |  Operating System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37960"/>
            <a:ext cx="54864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1">
                <a:solidFill>
                  <a:srgbClr val="2563A0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325880"/>
            <a:ext cx="52578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325880"/>
            <a:ext cx="82296" cy="214884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1463039"/>
            <a:ext cx="4910328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2223A"/>
                </a:solidFill>
                <a:latin typeface="Aptos"/>
              </a:defRPr>
            </a:pPr>
            <a:r>
              <a:t>Authentication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1920240"/>
            <a:ext cx="4892040" cy="1435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6303D"/>
                </a:solidFill>
                <a:latin typeface="Aptos"/>
              </a:defRPr>
            </a:pPr>
            <a:r>
              <a:t>Establishes an identity, for example through a password, key, or multi-factor method.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25880"/>
            <a:ext cx="52578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325880"/>
            <a:ext cx="82296" cy="2148840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1463039"/>
            <a:ext cx="4910328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2223A"/>
                </a:solidFill>
                <a:latin typeface="Aptos"/>
              </a:defRPr>
            </a:pPr>
            <a:r>
              <a:t>Authorization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1920240"/>
            <a:ext cx="4892040" cy="1435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6303D"/>
                </a:solidFill>
                <a:latin typeface="Aptos"/>
              </a:defRPr>
            </a:pPr>
            <a:r>
              <a:t>Determines which operations an authenticated identity is permitted to perform.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03320"/>
            <a:ext cx="52578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703320"/>
            <a:ext cx="82296" cy="2148840"/>
          </a:xfrm>
          <a:prstGeom prst="rect">
            <a:avLst/>
          </a:prstGeom>
          <a:solidFill>
            <a:srgbClr val="F2B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3840480"/>
            <a:ext cx="4910328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2223A"/>
                </a:solidFill>
                <a:latin typeface="Aptos"/>
              </a:defRPr>
            </a:pPr>
            <a:r>
              <a:t>Isolation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4297680"/>
            <a:ext cx="4892040" cy="1435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6303D"/>
                </a:solidFill>
                <a:latin typeface="Aptos"/>
              </a:defRPr>
            </a:pPr>
            <a:r>
              <a:t>Separates processes, users, kernel memory, and privilege levels to limit unintended access.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03320"/>
            <a:ext cx="52578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3703320"/>
            <a:ext cx="82296" cy="2148840"/>
          </a:xfrm>
          <a:prstGeom prst="rect">
            <a:avLst/>
          </a:prstGeom>
          <a:solidFill>
            <a:srgbClr val="6C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3840480"/>
            <a:ext cx="4910328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2223A"/>
                </a:solidFill>
                <a:latin typeface="Aptos"/>
              </a:defRPr>
            </a:pPr>
            <a:r>
              <a:t>Auditing &amp; enforcement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4297680"/>
            <a:ext cx="4892040" cy="1435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6303D"/>
                </a:solidFill>
                <a:latin typeface="Aptos"/>
              </a:defRPr>
            </a:pPr>
            <a:r>
              <a:t>Records relevant events and enforces policies through permissions, access controls, and security mechanisms.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429768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F2B437"/>
                </a:solidFill>
                <a:latin typeface="Aptos"/>
              </a:defRPr>
            </a:pPr>
            <a:r>
              <a:t>OPERATING SYSTEMS • WEEK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1088136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"/>
              </a:defRPr>
            </a:pPr>
            <a:r>
              <a:t>Protection Principles: Least Privilege and Modes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6459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47104"/>
            <a:ext cx="731520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800" b="0">
                <a:solidFill>
                  <a:srgbClr val="5B697A"/>
                </a:solidFill>
                <a:latin typeface="Aptos"/>
              </a:defRPr>
            </a:pPr>
            <a:r>
              <a:t>Lecture 3–4  |  Operating System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37960"/>
            <a:ext cx="54864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1">
                <a:solidFill>
                  <a:srgbClr val="2563A0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143000"/>
            <a:ext cx="10698480" cy="5074920"/>
          </a:xfrm>
          <a:prstGeom prst="rect">
            <a:avLst/>
          </a:prstGeom>
          <a:noFill/>
        </p:spPr>
        <p:txBody>
          <a:bodyPr wrap="square" lIns="109728" rIns="109728" tIns="73152" bIns="36576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6303D"/>
                </a:solidFill>
                <a:latin typeface="Aptos"/>
              </a:defRPr>
            </a:pPr>
            <a:r>
              <a:t>• Least privilege: Give each user, process, or component only the permissions needed for its task.</a:t>
            </a:r>
          </a:p>
          <a:p>
            <a:pPr>
              <a:spcAft>
                <a:spcPts val="1200"/>
              </a:spcAft>
              <a:defRPr sz="1800">
                <a:solidFill>
                  <a:srgbClr val="26303D"/>
                </a:solidFill>
                <a:latin typeface="Aptos"/>
              </a:defRPr>
            </a:pPr>
            <a:r>
              <a:t>• User mode vs kernel mode: User applications normally run with restricted privileges; kernel code can perform protected operations.</a:t>
            </a:r>
          </a:p>
          <a:p>
            <a:pPr>
              <a:spcAft>
                <a:spcPts val="1200"/>
              </a:spcAft>
              <a:defRPr sz="1800">
                <a:solidFill>
                  <a:srgbClr val="26303D"/>
                </a:solidFill>
                <a:latin typeface="Aptos"/>
              </a:defRPr>
            </a:pPr>
            <a:r>
              <a:t>• System-call boundary: Applications request privileged services through controlled entry points rather than directly manipulating hardware.</a:t>
            </a:r>
          </a:p>
          <a:p>
            <a:pPr>
              <a:spcAft>
                <a:spcPts val="1200"/>
              </a:spcAft>
              <a:defRPr sz="1800">
                <a:solidFill>
                  <a:srgbClr val="26303D"/>
                </a:solidFill>
                <a:latin typeface="Aptos"/>
              </a:defRPr>
            </a:pPr>
            <a:r>
              <a:t>• Access-control checks: Validate identity, ownership, permissions, and requested operation before granting access.</a:t>
            </a:r>
          </a:p>
          <a:p>
            <a:pPr>
              <a:spcAft>
                <a:spcPts val="1200"/>
              </a:spcAft>
              <a:defRPr sz="1800">
                <a:solidFill>
                  <a:srgbClr val="26303D"/>
                </a:solidFill>
                <a:latin typeface="Aptos"/>
              </a:defRPr>
            </a:pPr>
            <a:r>
              <a:t>• Defense in depth: Combine multiple safeguards so that one failed control does not expose the entire system.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429768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F2B437"/>
                </a:solidFill>
                <a:latin typeface="Aptos"/>
              </a:defRPr>
            </a:pPr>
            <a:r>
              <a:t>OPERATING SYSTEMS • WEEK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1088136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"/>
              </a:defRPr>
            </a:pPr>
            <a:r>
              <a:t>Lecture 3 Recap: Seven Management Areas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6459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47104"/>
            <a:ext cx="731520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800" b="0">
                <a:solidFill>
                  <a:srgbClr val="5B697A"/>
                </a:solidFill>
                <a:latin typeface="Aptos"/>
              </a:defRPr>
            </a:pPr>
            <a:r>
              <a:t>Lecture 3–4  |  Operating System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37960"/>
            <a:ext cx="54864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1">
                <a:solidFill>
                  <a:srgbClr val="2563A0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325880"/>
            <a:ext cx="52578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325880"/>
            <a:ext cx="82296" cy="214884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1463039"/>
            <a:ext cx="4910328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2223A"/>
                </a:solidFill>
                <a:latin typeface="Aptos"/>
              </a:defRPr>
            </a:pPr>
            <a:r>
              <a:t>Process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1920240"/>
            <a:ext cx="4892040" cy="1435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6303D"/>
                </a:solidFill>
                <a:latin typeface="Aptos"/>
              </a:defRPr>
            </a:pPr>
            <a:r>
              <a:t>Execution, scheduling, synchronization, and IPC.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25880"/>
            <a:ext cx="52578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325880"/>
            <a:ext cx="82296" cy="2148840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1463039"/>
            <a:ext cx="4910328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2223A"/>
                </a:solidFill>
                <a:latin typeface="Aptos"/>
              </a:defRPr>
            </a:pPr>
            <a:r>
              <a:t>Memory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1920240"/>
            <a:ext cx="4892040" cy="1435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6303D"/>
                </a:solidFill>
                <a:latin typeface="Aptos"/>
              </a:defRPr>
            </a:pPr>
            <a:r>
              <a:t>Allocation, virtual addressing, translation, and isolation.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03320"/>
            <a:ext cx="52578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703320"/>
            <a:ext cx="82296" cy="2148840"/>
          </a:xfrm>
          <a:prstGeom prst="rect">
            <a:avLst/>
          </a:prstGeom>
          <a:solidFill>
            <a:srgbClr val="F2B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3840480"/>
            <a:ext cx="4910328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2223A"/>
                </a:solidFill>
                <a:latin typeface="Aptos"/>
              </a:defRPr>
            </a:pPr>
            <a:r>
              <a:t>Files &amp; I/O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4297680"/>
            <a:ext cx="4892040" cy="1435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6303D"/>
                </a:solidFill>
                <a:latin typeface="Aptos"/>
              </a:defRPr>
            </a:pPr>
            <a:r>
              <a:t>Persistent data, device drivers, buffering, and interrupts.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03320"/>
            <a:ext cx="52578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3703320"/>
            <a:ext cx="82296" cy="2148840"/>
          </a:xfrm>
          <a:prstGeom prst="rect">
            <a:avLst/>
          </a:prstGeom>
          <a:solidFill>
            <a:srgbClr val="6C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3840480"/>
            <a:ext cx="4910328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2223A"/>
                </a:solidFill>
                <a:latin typeface="Aptos"/>
              </a:defRPr>
            </a:pPr>
            <a:r>
              <a:t>Storage, network &amp; protection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4297680"/>
            <a:ext cx="4892040" cy="1435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6303D"/>
                </a:solidFill>
                <a:latin typeface="Aptos"/>
              </a:defRPr>
            </a:pPr>
            <a:r>
              <a:t>Blocks and volumes, communication stacks, permissions, and isolation.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429768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F2B437"/>
                </a:solidFill>
                <a:latin typeface="Aptos"/>
              </a:defRPr>
            </a:pPr>
            <a:r>
              <a:t>OPERATING SYSTEMS • WEEK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1088136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"/>
              </a:defRPr>
            </a:pPr>
            <a:r>
              <a:t>Operating System Services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6459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47104"/>
            <a:ext cx="731520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800" b="0">
                <a:solidFill>
                  <a:srgbClr val="5B697A"/>
                </a:solidFill>
                <a:latin typeface="Aptos"/>
              </a:defRPr>
            </a:pPr>
            <a:r>
              <a:t>Lecture 3–4  |  Operating System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37960"/>
            <a:ext cx="54864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1">
                <a:solidFill>
                  <a:srgbClr val="2563A0"/>
                </a:solidFill>
                <a:latin typeface="Aptos"/>
              </a:defRPr>
            </a:pPr>
            <a:r>
              <a:t>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143000"/>
            <a:ext cx="10698480" cy="5074920"/>
          </a:xfrm>
          <a:prstGeom prst="rect">
            <a:avLst/>
          </a:prstGeom>
          <a:noFill/>
        </p:spPr>
        <p:txBody>
          <a:bodyPr wrap="square" lIns="109728" rIns="109728" tIns="73152" bIns="36576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6303D"/>
                </a:solidFill>
                <a:latin typeface="Aptos"/>
              </a:defRPr>
            </a:pPr>
            <a:r>
              <a:t>• User-facing services: Help people and applications run programs, interact with devices, and manage files.</a:t>
            </a:r>
          </a:p>
          <a:p>
            <a:pPr>
              <a:spcAft>
                <a:spcPts val="1200"/>
              </a:spcAft>
              <a:defRPr sz="1800">
                <a:solidFill>
                  <a:srgbClr val="26303D"/>
                </a:solidFill>
                <a:latin typeface="Aptos"/>
              </a:defRPr>
            </a:pPr>
            <a:r>
              <a:t>• System-facing services: Allocate resources, track usage, detect errors, and enforce protection.</a:t>
            </a:r>
          </a:p>
          <a:p>
            <a:pPr>
              <a:spcAft>
                <a:spcPts val="1200"/>
              </a:spcAft>
              <a:defRPr sz="1800">
                <a:solidFill>
                  <a:srgbClr val="26303D"/>
                </a:solidFill>
                <a:latin typeface="Aptos"/>
              </a:defRPr>
            </a:pPr>
            <a:r>
              <a:t>• Service interfaces: Libraries and APIs often wrap system calls to make common operations easier to use.</a:t>
            </a:r>
          </a:p>
          <a:p>
            <a:pPr>
              <a:spcAft>
                <a:spcPts val="1200"/>
              </a:spcAft>
              <a:defRPr sz="1800">
                <a:solidFill>
                  <a:srgbClr val="26303D"/>
                </a:solidFill>
                <a:latin typeface="Aptos"/>
              </a:defRPr>
            </a:pPr>
            <a:r>
              <a:t>• Important distinction: A service describes what the OS provides; structure describes how the OS is internally organized.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429768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F2B437"/>
                </a:solidFill>
                <a:latin typeface="Aptos"/>
              </a:defRPr>
            </a:pPr>
            <a:r>
              <a:t>OPERATING SYSTEMS • WEEK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1088136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"/>
              </a:defRPr>
            </a:pPr>
            <a:r>
              <a:t>Core OS Services: Programs, I/O, and Files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6459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47104"/>
            <a:ext cx="731520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800" b="0">
                <a:solidFill>
                  <a:srgbClr val="5B697A"/>
                </a:solidFill>
                <a:latin typeface="Aptos"/>
              </a:defRPr>
            </a:pPr>
            <a:r>
              <a:t>Lecture 3–4  |  Operating System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37960"/>
            <a:ext cx="54864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1">
                <a:solidFill>
                  <a:srgbClr val="2563A0"/>
                </a:solidFill>
                <a:latin typeface="Aptos"/>
              </a:defRPr>
            </a:pPr>
            <a:r>
              <a:t>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325880"/>
            <a:ext cx="52578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325880"/>
            <a:ext cx="82296" cy="214884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1463039"/>
            <a:ext cx="4910328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2223A"/>
                </a:solidFill>
                <a:latin typeface="Aptos"/>
              </a:defRPr>
            </a:pPr>
            <a:r>
              <a:t>Program execution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1920240"/>
            <a:ext cx="4892040" cy="1435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6303D"/>
                </a:solidFill>
                <a:latin typeface="Aptos"/>
              </a:defRPr>
            </a:pPr>
            <a:r>
              <a:t>Load a program, create its execution context, run it, and report its exit status.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25880"/>
            <a:ext cx="52578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325880"/>
            <a:ext cx="82296" cy="2148840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1463039"/>
            <a:ext cx="4910328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2223A"/>
                </a:solidFill>
                <a:latin typeface="Aptos"/>
              </a:defRPr>
            </a:pPr>
            <a:r>
              <a:t>I/O operations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1920240"/>
            <a:ext cx="4892040" cy="1435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6303D"/>
                </a:solidFill>
                <a:latin typeface="Aptos"/>
              </a:defRPr>
            </a:pPr>
            <a:r>
              <a:t>Provide controlled access to input and output devices without requiring each app to know hardware details.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03320"/>
            <a:ext cx="52578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703320"/>
            <a:ext cx="82296" cy="2148840"/>
          </a:xfrm>
          <a:prstGeom prst="rect">
            <a:avLst/>
          </a:prstGeom>
          <a:solidFill>
            <a:srgbClr val="F2B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3840480"/>
            <a:ext cx="4910328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2223A"/>
                </a:solidFill>
                <a:latin typeface="Aptos"/>
              </a:defRPr>
            </a:pPr>
            <a:r>
              <a:t>File-system manipulation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4297680"/>
            <a:ext cx="4892040" cy="1435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6303D"/>
                </a:solidFill>
                <a:latin typeface="Aptos"/>
              </a:defRPr>
            </a:pPr>
            <a:r>
              <a:t>Create, remove, read, write, search, and manage files and directories.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03320"/>
            <a:ext cx="52578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3703320"/>
            <a:ext cx="82296" cy="2148840"/>
          </a:xfrm>
          <a:prstGeom prst="rect">
            <a:avLst/>
          </a:prstGeom>
          <a:solidFill>
            <a:srgbClr val="6C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3840480"/>
            <a:ext cx="4910328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2223A"/>
                </a:solidFill>
                <a:latin typeface="Aptos"/>
              </a:defRPr>
            </a:pPr>
            <a:r>
              <a:t>Communication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4297680"/>
            <a:ext cx="4892040" cy="1435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6303D"/>
                </a:solidFill>
                <a:latin typeface="Aptos"/>
              </a:defRPr>
            </a:pPr>
            <a:r>
              <a:t>Exchange data between processes on one system or across a network.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429768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F2B437"/>
                </a:solidFill>
                <a:latin typeface="Aptos"/>
              </a:defRPr>
            </a:pPr>
            <a:r>
              <a:t>OPERATING SYSTEMS • WEEK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1088136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"/>
              </a:defRPr>
            </a:pPr>
            <a:r>
              <a:t>Core OS Services: Errors, Resources, and UX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6459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47104"/>
            <a:ext cx="731520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800" b="0">
                <a:solidFill>
                  <a:srgbClr val="5B697A"/>
                </a:solidFill>
                <a:latin typeface="Aptos"/>
              </a:defRPr>
            </a:pPr>
            <a:r>
              <a:t>Lecture 3–4  |  Operating System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37960"/>
            <a:ext cx="54864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1">
                <a:solidFill>
                  <a:srgbClr val="2563A0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143000"/>
            <a:ext cx="10698480" cy="5074920"/>
          </a:xfrm>
          <a:prstGeom prst="rect">
            <a:avLst/>
          </a:prstGeom>
          <a:noFill/>
        </p:spPr>
        <p:txBody>
          <a:bodyPr wrap="square" lIns="109728" rIns="109728" tIns="73152" bIns="36576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6303D"/>
                </a:solidFill>
                <a:latin typeface="Aptos"/>
              </a:defRPr>
            </a:pPr>
            <a:r>
              <a:t>• Error detection: Detects or reports CPU, memory, device, file-system, and application-related errors.</a:t>
            </a:r>
          </a:p>
          <a:p>
            <a:pPr>
              <a:spcAft>
                <a:spcPts val="1200"/>
              </a:spcAft>
              <a:defRPr sz="1800">
                <a:solidFill>
                  <a:srgbClr val="26303D"/>
                </a:solidFill>
                <a:latin typeface="Aptos"/>
              </a:defRPr>
            </a:pPr>
            <a:r>
              <a:t>• Resource allocation: Distributes CPU time, memory, storage, and I/O capacity among competing workloads.</a:t>
            </a:r>
          </a:p>
          <a:p>
            <a:pPr>
              <a:spcAft>
                <a:spcPts val="1200"/>
              </a:spcAft>
              <a:defRPr sz="1800">
                <a:solidFill>
                  <a:srgbClr val="26303D"/>
                </a:solidFill>
                <a:latin typeface="Aptos"/>
              </a:defRPr>
            </a:pPr>
            <a:r>
              <a:t>• Accounting: Collects usage data for diagnostics, capacity planning, quotas, or billing in managed environments.</a:t>
            </a:r>
          </a:p>
          <a:p>
            <a:pPr>
              <a:spcAft>
                <a:spcPts val="1200"/>
              </a:spcAft>
              <a:defRPr sz="1800">
                <a:solidFill>
                  <a:srgbClr val="26303D"/>
                </a:solidFill>
                <a:latin typeface="Aptos"/>
              </a:defRPr>
            </a:pPr>
            <a:r>
              <a:t>• Protection and security: Controls access to resources and supports isolation between users and programs.</a:t>
            </a:r>
          </a:p>
          <a:p>
            <a:pPr>
              <a:spcAft>
                <a:spcPts val="1200"/>
              </a:spcAft>
              <a:defRPr sz="1800">
                <a:solidFill>
                  <a:srgbClr val="26303D"/>
                </a:solidFill>
                <a:latin typeface="Aptos"/>
              </a:defRPr>
            </a:pPr>
            <a:r>
              <a:t>• User interface: May provide a command-line shell, graphical desktop, touch interface, or programmatic API.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429768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F2B437"/>
                </a:solidFill>
                <a:latin typeface="Aptos"/>
              </a:defRPr>
            </a:pPr>
            <a:r>
              <a:t>OPERATING SYSTEMS • WEEK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1088136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"/>
              </a:defRPr>
            </a:pPr>
            <a:r>
              <a:t>System Calls: The Controlled Entry 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6459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47104"/>
            <a:ext cx="731520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800" b="0">
                <a:solidFill>
                  <a:srgbClr val="5B697A"/>
                </a:solidFill>
                <a:latin typeface="Aptos"/>
              </a:defRPr>
            </a:pPr>
            <a:r>
              <a:t>Lecture 3–4  |  Operating System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37960"/>
            <a:ext cx="54864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1">
                <a:solidFill>
                  <a:srgbClr val="2563A0"/>
                </a:solidFill>
                <a:latin typeface="Aptos"/>
              </a:defRPr>
            </a:pPr>
            <a:r>
              <a:t>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95447" y="1417320"/>
            <a:ext cx="6400800" cy="530352"/>
          </a:xfrm>
          <a:prstGeom prst="roundRect">
            <a:avLst/>
          </a:prstGeom>
          <a:solidFill>
            <a:srgbClr val="12223A"/>
          </a:solidFill>
          <a:ln>
            <a:solidFill>
              <a:srgbClr val="12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Application calls a library/API function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0" y="1911095"/>
            <a:ext cx="73152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2400" b="1">
                <a:solidFill>
                  <a:srgbClr val="F2B437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15487" y="2258568"/>
            <a:ext cx="5760720" cy="530352"/>
          </a:xfrm>
          <a:prstGeom prst="roundRect">
            <a:avLst/>
          </a:prstGeom>
          <a:solidFill>
            <a:srgbClr val="2563A0"/>
          </a:solidFill>
          <a:ln>
            <a:solidFill>
              <a:srgbClr val="25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Wrapper prepares arguments and requests a system call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0" y="2752344"/>
            <a:ext cx="73152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2400" b="1">
                <a:solidFill>
                  <a:srgbClr val="F2B437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15487" y="3099816"/>
            <a:ext cx="5760720" cy="530352"/>
          </a:xfrm>
          <a:prstGeom prst="roundRect">
            <a:avLst/>
          </a:prstGeom>
          <a:solidFill>
            <a:srgbClr val="009196"/>
          </a:solidFill>
          <a:ln>
            <a:solidFill>
              <a:srgbClr val="009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CPU switches to a privileged kernel entry point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0" y="3593592"/>
            <a:ext cx="73152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2400" b="1">
                <a:solidFill>
                  <a:srgbClr val="F2B437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15487" y="3941064"/>
            <a:ext cx="5760720" cy="530352"/>
          </a:xfrm>
          <a:prstGeom prst="roundRect">
            <a:avLst/>
          </a:prstGeom>
          <a:solidFill>
            <a:srgbClr val="4A7896"/>
          </a:solidFill>
          <a:ln>
            <a:solidFill>
              <a:srgbClr val="4A7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Kernel validates request and performs the operation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0" y="4434840"/>
            <a:ext cx="73152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2400" b="1">
                <a:solidFill>
                  <a:srgbClr val="F2B437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15487" y="4782312"/>
            <a:ext cx="5760720" cy="530352"/>
          </a:xfrm>
          <a:prstGeom prst="roundRect">
            <a:avLst/>
          </a:prstGeom>
          <a:solidFill>
            <a:srgbClr val="12223A"/>
          </a:solidFill>
          <a:ln>
            <a:solidFill>
              <a:srgbClr val="12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Return value / error status goes back to the application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080760"/>
            <a:ext cx="1069848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00" b="0">
                <a:solidFill>
                  <a:srgbClr val="5B697A"/>
                </a:solidFill>
                <a:latin typeface="Aptos"/>
              </a:defRPr>
            </a:pPr>
            <a:r>
              <a:t>Examples include process creation, file operations, memory mapping, and socket communication; exact APIs vary by OS.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429768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F2B437"/>
                </a:solidFill>
                <a:latin typeface="Aptos"/>
              </a:defRPr>
            </a:pPr>
            <a:r>
              <a:t>OPERATING SYSTEMS • WEEK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1088136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"/>
              </a:defRPr>
            </a:pPr>
            <a:r>
              <a:t>Operating System Structure: Why Architecture Matters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6459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47104"/>
            <a:ext cx="731520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800" b="0">
                <a:solidFill>
                  <a:srgbClr val="5B697A"/>
                </a:solidFill>
                <a:latin typeface="Aptos"/>
              </a:defRPr>
            </a:pPr>
            <a:r>
              <a:t>Lecture 3–4  |  Operating System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37960"/>
            <a:ext cx="54864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1">
                <a:solidFill>
                  <a:srgbClr val="2563A0"/>
                </a:solidFill>
                <a:latin typeface="Aptos"/>
              </a:defRPr>
            </a:pPr>
            <a:r>
              <a:t>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143000"/>
            <a:ext cx="10698480" cy="5074920"/>
          </a:xfrm>
          <a:prstGeom prst="rect">
            <a:avLst/>
          </a:prstGeom>
          <a:noFill/>
        </p:spPr>
        <p:txBody>
          <a:bodyPr wrap="square" lIns="109728" rIns="109728" tIns="73152" bIns="36576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6303D"/>
                </a:solidFill>
                <a:latin typeface="Aptos"/>
              </a:defRPr>
            </a:pPr>
            <a:r>
              <a:t>• Complexity: An OS contains many interacting subsystems, so design boundaries are essential.</a:t>
            </a:r>
          </a:p>
          <a:p>
            <a:pPr>
              <a:spcAft>
                <a:spcPts val="1200"/>
              </a:spcAft>
              <a:defRPr sz="1800">
                <a:solidFill>
                  <a:srgbClr val="26303D"/>
                </a:solidFill>
                <a:latin typeface="Aptos"/>
              </a:defRPr>
            </a:pPr>
            <a:r>
              <a:t>• Modularity: Clear interfaces make components easier to test, replace, and maintain.</a:t>
            </a:r>
          </a:p>
          <a:p>
            <a:pPr>
              <a:spcAft>
                <a:spcPts val="1200"/>
              </a:spcAft>
              <a:defRPr sz="1800">
                <a:solidFill>
                  <a:srgbClr val="26303D"/>
                </a:solidFill>
                <a:latin typeface="Aptos"/>
              </a:defRPr>
            </a:pPr>
            <a:r>
              <a:t>• Performance: More boundaries and message exchanges can add overhead; tightly integrated designs may be faster.</a:t>
            </a:r>
          </a:p>
          <a:p>
            <a:pPr>
              <a:spcAft>
                <a:spcPts val="1200"/>
              </a:spcAft>
              <a:defRPr sz="1800">
                <a:solidFill>
                  <a:srgbClr val="26303D"/>
                </a:solidFill>
                <a:latin typeface="Aptos"/>
              </a:defRPr>
            </a:pPr>
            <a:r>
              <a:t>• Reliability: Fault isolation can prevent one component failure from crashing or compromising the whole system.</a:t>
            </a:r>
          </a:p>
          <a:p>
            <a:pPr>
              <a:spcAft>
                <a:spcPts val="1200"/>
              </a:spcAft>
              <a:defRPr sz="1800">
                <a:solidFill>
                  <a:srgbClr val="26303D"/>
                </a:solidFill>
                <a:latin typeface="Aptos"/>
              </a:defRPr>
            </a:pPr>
            <a:r>
              <a:t>• Trade-off: No single structure is best for every device, workload, or engineering goal.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429768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F2B437"/>
                </a:solidFill>
                <a:latin typeface="Aptos"/>
              </a:defRPr>
            </a:pPr>
            <a:r>
              <a:t>OPERATING SYSTEMS • WEEK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1088136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"/>
              </a:defRPr>
            </a:pPr>
            <a:r>
              <a:t>Common Operating System Structures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6459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47104"/>
            <a:ext cx="731520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800" b="0">
                <a:solidFill>
                  <a:srgbClr val="5B697A"/>
                </a:solidFill>
                <a:latin typeface="Aptos"/>
              </a:defRPr>
            </a:pPr>
            <a:r>
              <a:t>Lecture 3–4  |  Operating System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37960"/>
            <a:ext cx="54864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1">
                <a:solidFill>
                  <a:srgbClr val="2563A0"/>
                </a:solidFill>
                <a:latin typeface="Aptos"/>
              </a:defRPr>
            </a:pPr>
            <a:r>
              <a:t>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325880"/>
            <a:ext cx="52578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325880"/>
            <a:ext cx="82296" cy="214884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1463039"/>
            <a:ext cx="4910328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2223A"/>
                </a:solidFill>
                <a:latin typeface="Aptos"/>
              </a:defRPr>
            </a:pPr>
            <a:r>
              <a:t>Monolithic kernel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1920240"/>
            <a:ext cx="4892040" cy="1435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6303D"/>
                </a:solidFill>
                <a:latin typeface="Aptos"/>
              </a:defRPr>
            </a:pPr>
            <a:r>
              <a:t>Many core services run in kernel space; efficient communication, but large trusted code base.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25880"/>
            <a:ext cx="52578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325880"/>
            <a:ext cx="82296" cy="2148840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1463039"/>
            <a:ext cx="4910328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2223A"/>
                </a:solidFill>
                <a:latin typeface="Aptos"/>
              </a:defRPr>
            </a:pPr>
            <a:r>
              <a:t>Layered 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1920240"/>
            <a:ext cx="4892040" cy="1435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6303D"/>
                </a:solidFill>
                <a:latin typeface="Aptos"/>
              </a:defRPr>
            </a:pPr>
            <a:r>
              <a:t>Organizes OS functions into levels; each layer uses lower-level services and serves higher layers.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03320"/>
            <a:ext cx="52578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703320"/>
            <a:ext cx="82296" cy="2148840"/>
          </a:xfrm>
          <a:prstGeom prst="rect">
            <a:avLst/>
          </a:prstGeom>
          <a:solidFill>
            <a:srgbClr val="F2B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3840480"/>
            <a:ext cx="4910328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2223A"/>
                </a:solidFill>
                <a:latin typeface="Aptos"/>
              </a:defRPr>
            </a:pPr>
            <a:r>
              <a:t>Microkernel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4297680"/>
            <a:ext cx="4892040" cy="1435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6303D"/>
                </a:solidFill>
                <a:latin typeface="Aptos"/>
              </a:defRPr>
            </a:pPr>
            <a:r>
              <a:t>Keeps the kernel small and moves many services into user-space servers communicating through messages.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03320"/>
            <a:ext cx="52578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3703320"/>
            <a:ext cx="82296" cy="2148840"/>
          </a:xfrm>
          <a:prstGeom prst="rect">
            <a:avLst/>
          </a:prstGeom>
          <a:solidFill>
            <a:srgbClr val="6C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3840480"/>
            <a:ext cx="4910328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2223A"/>
                </a:solidFill>
                <a:latin typeface="Aptos"/>
              </a:defRPr>
            </a:pPr>
            <a:r>
              <a:t>Modular / hybrid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4297680"/>
            <a:ext cx="4892040" cy="1435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6303D"/>
                </a:solidFill>
                <a:latin typeface="Aptos"/>
              </a:defRPr>
            </a:pPr>
            <a:r>
              <a:t>Uses loadable modules or combines architectural ideas to balance flexibility, performance, and isolation.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429768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F2B437"/>
                </a:solidFill>
                <a:latin typeface="Aptos"/>
              </a:defRPr>
            </a:pPr>
            <a:r>
              <a:t>OPERATING SYSTEMS • WEEK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1088136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"/>
              </a:defRPr>
            </a:pPr>
            <a:r>
              <a:t>The Layered Approach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6459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47104"/>
            <a:ext cx="731520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800" b="0">
                <a:solidFill>
                  <a:srgbClr val="5B697A"/>
                </a:solidFill>
                <a:latin typeface="Aptos"/>
              </a:defRPr>
            </a:pPr>
            <a:r>
              <a:t>Lecture 3–4  |  Operating System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37960"/>
            <a:ext cx="54864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1">
                <a:solidFill>
                  <a:srgbClr val="2563A0"/>
                </a:solidFill>
                <a:latin typeface="Aptos"/>
              </a:defRPr>
            </a:pPr>
            <a:r>
              <a:t>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95447" y="1417320"/>
            <a:ext cx="6400800" cy="530352"/>
          </a:xfrm>
          <a:prstGeom prst="roundRect">
            <a:avLst/>
          </a:prstGeom>
          <a:solidFill>
            <a:srgbClr val="12223A"/>
          </a:solidFill>
          <a:ln>
            <a:solidFill>
              <a:srgbClr val="12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Layer N — User applications and interface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0" y="1911095"/>
            <a:ext cx="73152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2400" b="1">
                <a:solidFill>
                  <a:srgbClr val="F2B437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15487" y="2258568"/>
            <a:ext cx="5760720" cy="530352"/>
          </a:xfrm>
          <a:prstGeom prst="roundRect">
            <a:avLst/>
          </a:prstGeom>
          <a:solidFill>
            <a:srgbClr val="2563A0"/>
          </a:solidFill>
          <a:ln>
            <a:solidFill>
              <a:srgbClr val="25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Layer N−1 — High-level OS services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0" y="2752344"/>
            <a:ext cx="73152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2400" b="1">
                <a:solidFill>
                  <a:srgbClr val="F2B437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15487" y="3099816"/>
            <a:ext cx="5760720" cy="530352"/>
          </a:xfrm>
          <a:prstGeom prst="roundRect">
            <a:avLst/>
          </a:prstGeom>
          <a:solidFill>
            <a:srgbClr val="009196"/>
          </a:solidFill>
          <a:ln>
            <a:solidFill>
              <a:srgbClr val="009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Middle layers — Files, processes, memory, and I/O abstractions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0" y="3593592"/>
            <a:ext cx="73152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2400" b="1">
                <a:solidFill>
                  <a:srgbClr val="F2B437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15487" y="3941064"/>
            <a:ext cx="5760720" cy="530352"/>
          </a:xfrm>
          <a:prstGeom prst="roundRect">
            <a:avLst/>
          </a:prstGeom>
          <a:solidFill>
            <a:srgbClr val="4A7896"/>
          </a:solidFill>
          <a:ln>
            <a:solidFill>
              <a:srgbClr val="4A7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Lower layers — Device-independent I/O and device drivers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0" y="4434840"/>
            <a:ext cx="73152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2400" b="1">
                <a:solidFill>
                  <a:srgbClr val="F2B437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15487" y="4782312"/>
            <a:ext cx="5760720" cy="530352"/>
          </a:xfrm>
          <a:prstGeom prst="roundRect">
            <a:avLst/>
          </a:prstGeom>
          <a:solidFill>
            <a:srgbClr val="12223A"/>
          </a:solidFill>
          <a:ln>
            <a:solidFill>
              <a:srgbClr val="12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Base layer — Hardware and low-level mechanisms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080760"/>
            <a:ext cx="1069848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00" b="0">
                <a:solidFill>
                  <a:srgbClr val="5B697A"/>
                </a:solidFill>
                <a:latin typeface="Aptos"/>
              </a:defRPr>
            </a:pPr>
            <a:r>
              <a:t>This is a conceptual illustration; real operating systems do not always map neatly to these exact layers.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429768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F2B437"/>
                </a:solidFill>
                <a:latin typeface="Aptos"/>
              </a:defRPr>
            </a:pPr>
            <a:r>
              <a:t>OPERATING SYSTEMS • WEEK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1088136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"/>
              </a:defRPr>
            </a:pPr>
            <a:r>
              <a:t>Layered OS: Strengths and Limitations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6459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47104"/>
            <a:ext cx="731520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800" b="0">
                <a:solidFill>
                  <a:srgbClr val="5B697A"/>
                </a:solidFill>
                <a:latin typeface="Aptos"/>
              </a:defRPr>
            </a:pPr>
            <a:r>
              <a:t>Lecture 3–4  |  Operating System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37960"/>
            <a:ext cx="54864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1">
                <a:solidFill>
                  <a:srgbClr val="2563A0"/>
                </a:solidFill>
                <a:latin typeface="Aptos"/>
              </a:defRPr>
            </a:pPr>
            <a:r>
              <a:t>29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508760"/>
            <a:ext cx="516636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508760"/>
            <a:ext cx="82296" cy="429768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1645919"/>
            <a:ext cx="4818888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800" b="1">
                <a:solidFill>
                  <a:srgbClr val="12223A"/>
                </a:solidFill>
                <a:latin typeface="Aptos"/>
              </a:defRPr>
            </a:pPr>
            <a:r>
              <a:t>Strengths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2103120"/>
            <a:ext cx="4800600" cy="35844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500" b="0">
                <a:solidFill>
                  <a:srgbClr val="26303D"/>
                </a:solidFill>
                <a:latin typeface="Aptos"/>
              </a:defRPr>
            </a:pPr>
            <a:r>
              <a:t>Clear interfaces; easier reasoning and testing; changes can be localized when layer contracts remain stable.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508760"/>
            <a:ext cx="516636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508760"/>
            <a:ext cx="82296" cy="4297680"/>
          </a:xfrm>
          <a:prstGeom prst="rect">
            <a:avLst/>
          </a:prstGeom>
          <a:solidFill>
            <a:srgbClr val="F2B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1645919"/>
            <a:ext cx="4818888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800" b="1">
                <a:solidFill>
                  <a:srgbClr val="12223A"/>
                </a:solidFill>
                <a:latin typeface="Aptos"/>
              </a:defRPr>
            </a:pPr>
            <a:r>
              <a:t>Limitations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2103120"/>
            <a:ext cx="4800600" cy="35844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500" b="0">
                <a:solidFill>
                  <a:srgbClr val="26303D"/>
                </a:solidFill>
                <a:latin typeface="Aptos"/>
              </a:defRPr>
            </a:pPr>
            <a:r>
              <a:t>Choosing layer boundaries is difficult; strict layering can duplicate work or restrict efficient cross-layer operations.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429768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F2B437"/>
                </a:solidFill>
                <a:latin typeface="Aptos"/>
              </a:defRPr>
            </a:pPr>
            <a:r>
              <a:t>OPERATING SYSTEMS • WEEK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1088136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"/>
              </a:defRPr>
            </a:pPr>
            <a:r>
              <a:t>OS/2 Layer Structure: Conceptual 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6459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47104"/>
            <a:ext cx="731520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800" b="0">
                <a:solidFill>
                  <a:srgbClr val="5B697A"/>
                </a:solidFill>
                <a:latin typeface="Aptos"/>
              </a:defRPr>
            </a:pPr>
            <a:r>
              <a:t>Lecture 3–4  |  Operating System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37960"/>
            <a:ext cx="54864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1">
                <a:solidFill>
                  <a:srgbClr val="2563A0"/>
                </a:solidFill>
                <a:latin typeface="Aptos"/>
              </a:defRPr>
            </a:pPr>
            <a: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143000"/>
            <a:ext cx="10698480" cy="5074920"/>
          </a:xfrm>
          <a:prstGeom prst="rect">
            <a:avLst/>
          </a:prstGeom>
          <a:noFill/>
        </p:spPr>
        <p:txBody>
          <a:bodyPr wrap="square" lIns="109728" rIns="109728" tIns="73152" bIns="36576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6303D"/>
                </a:solidFill>
                <a:latin typeface="Aptos"/>
              </a:defRPr>
            </a:pPr>
            <a:r>
              <a:t>• Historical context: OS/2 was an operating system originally developed by IBM and Microsoft, later developed by IBM.</a:t>
            </a:r>
          </a:p>
          <a:p>
            <a:pPr>
              <a:spcAft>
                <a:spcPts val="1200"/>
              </a:spcAft>
              <a:defRPr sz="1800">
                <a:solidFill>
                  <a:srgbClr val="26303D"/>
                </a:solidFill>
                <a:latin typeface="Aptos"/>
              </a:defRPr>
            </a:pPr>
            <a:r>
              <a:t>• Layered organization: OS/2 architecture is often taught as a layered design, separating applications and user-facing interfaces from system services and hardware-facing components.</a:t>
            </a:r>
          </a:p>
          <a:p>
            <a:pPr>
              <a:spcAft>
                <a:spcPts val="1200"/>
              </a:spcAft>
              <a:defRPr sz="1800">
                <a:solidFill>
                  <a:srgbClr val="26303D"/>
                </a:solidFill>
                <a:latin typeface="Aptos"/>
              </a:defRPr>
            </a:pPr>
            <a:r>
              <a:t>• Typical conceptual levels: Applications / presentation environment → system services and APIs → subsystem managers and kernel facilities → device drivers → hardware.</a:t>
            </a:r>
          </a:p>
          <a:p>
            <a:pPr>
              <a:spcAft>
                <a:spcPts val="1200"/>
              </a:spcAft>
              <a:defRPr sz="1800">
                <a:solidFill>
                  <a:srgbClr val="26303D"/>
                </a:solidFill>
                <a:latin typeface="Aptos"/>
              </a:defRPr>
            </a:pPr>
            <a:r>
              <a:t>• Why layers help: Interfaces define responsibilities and reduce the need for every application to manage hardware directly.</a:t>
            </a:r>
          </a:p>
          <a:p>
            <a:pPr>
              <a:spcAft>
                <a:spcPts val="1200"/>
              </a:spcAft>
              <a:defRPr sz="1800">
                <a:solidFill>
                  <a:srgbClr val="26303D"/>
                </a:solidFill>
                <a:latin typeface="Aptos"/>
              </a:defRPr>
            </a:pPr>
            <a:r>
              <a:t>• Important caveat: Textbooks may draw OS/2 layers differently; use the exact diagram and labels prescribed by your course material.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429768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F2B437"/>
                </a:solidFill>
                <a:latin typeface="Aptos"/>
              </a:defRPr>
            </a:pPr>
            <a:r>
              <a:t>OPERATING SYSTEMS • WEEK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1088136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"/>
              </a:defRPr>
            </a:pPr>
            <a:r>
              <a:t>Microkernel System Structure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6459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47104"/>
            <a:ext cx="731520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800" b="0">
                <a:solidFill>
                  <a:srgbClr val="5B697A"/>
                </a:solidFill>
                <a:latin typeface="Aptos"/>
              </a:defRPr>
            </a:pPr>
            <a:r>
              <a:t>Lecture 3–4  |  Operating System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37960"/>
            <a:ext cx="54864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1">
                <a:solidFill>
                  <a:srgbClr val="2563A0"/>
                </a:solidFill>
                <a:latin typeface="Aptos"/>
              </a:defRPr>
            </a:pPr>
            <a:r>
              <a:t>31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95447" y="1417320"/>
            <a:ext cx="6400800" cy="530352"/>
          </a:xfrm>
          <a:prstGeom prst="roundRect">
            <a:avLst/>
          </a:prstGeom>
          <a:solidFill>
            <a:srgbClr val="12223A"/>
          </a:solidFill>
          <a:ln>
            <a:solidFill>
              <a:srgbClr val="12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Applications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0" y="1911095"/>
            <a:ext cx="73152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2400" b="1">
                <a:solidFill>
                  <a:srgbClr val="F2B437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15487" y="2258568"/>
            <a:ext cx="5760720" cy="530352"/>
          </a:xfrm>
          <a:prstGeom prst="roundRect">
            <a:avLst/>
          </a:prstGeom>
          <a:solidFill>
            <a:srgbClr val="2563A0"/>
          </a:solidFill>
          <a:ln>
            <a:solidFill>
              <a:srgbClr val="25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User-space servers: file, device, network, and other services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0" y="2752344"/>
            <a:ext cx="73152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2400" b="1">
                <a:solidFill>
                  <a:srgbClr val="F2B437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15487" y="3099816"/>
            <a:ext cx="5760720" cy="530352"/>
          </a:xfrm>
          <a:prstGeom prst="roundRect">
            <a:avLst/>
          </a:prstGeom>
          <a:solidFill>
            <a:srgbClr val="009196"/>
          </a:solidFill>
          <a:ln>
            <a:solidFill>
              <a:srgbClr val="009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Message passing / IPC across protected boundaries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0" y="3593592"/>
            <a:ext cx="73152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2400" b="1">
                <a:solidFill>
                  <a:srgbClr val="F2B437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15487" y="3941064"/>
            <a:ext cx="5760720" cy="530352"/>
          </a:xfrm>
          <a:prstGeom prst="roundRect">
            <a:avLst/>
          </a:prstGeom>
          <a:solidFill>
            <a:srgbClr val="4A7896"/>
          </a:solidFill>
          <a:ln>
            <a:solidFill>
              <a:srgbClr val="4A7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Microkernel: scheduling, basic memory management, IPC, and low-level interrupt handling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0" y="4434840"/>
            <a:ext cx="73152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2400" b="1">
                <a:solidFill>
                  <a:srgbClr val="F2B437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15487" y="4782312"/>
            <a:ext cx="5760720" cy="530352"/>
          </a:xfrm>
          <a:prstGeom prst="roundRect">
            <a:avLst/>
          </a:prstGeom>
          <a:solidFill>
            <a:srgbClr val="12223A"/>
          </a:solidFill>
          <a:ln>
            <a:solidFill>
              <a:srgbClr val="12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Hardware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080760"/>
            <a:ext cx="1069848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00" b="0">
                <a:solidFill>
                  <a:srgbClr val="5B697A"/>
                </a:solidFill>
                <a:latin typeface="Aptos"/>
              </a:defRPr>
            </a:pPr>
            <a:r>
              <a:t>The exact division of responsibilities varies by microkernel design.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429768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F2B437"/>
                </a:solidFill>
                <a:latin typeface="Aptos"/>
              </a:defRPr>
            </a:pPr>
            <a:r>
              <a:t>OPERATING SYSTEMS • WEEK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1088136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"/>
              </a:defRPr>
            </a:pPr>
            <a:r>
              <a:t>Microkernel: Benefits, Costs, and Examples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6459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47104"/>
            <a:ext cx="731520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800" b="0">
                <a:solidFill>
                  <a:srgbClr val="5B697A"/>
                </a:solidFill>
                <a:latin typeface="Aptos"/>
              </a:defRPr>
            </a:pPr>
            <a:r>
              <a:t>Lecture 3–4  |  Operating System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37960"/>
            <a:ext cx="54864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1">
                <a:solidFill>
                  <a:srgbClr val="2563A0"/>
                </a:solidFill>
                <a:latin typeface="Aptos"/>
              </a:defRPr>
            </a:pPr>
            <a:r>
              <a:t>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508760"/>
            <a:ext cx="516636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508760"/>
            <a:ext cx="82296" cy="429768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1645919"/>
            <a:ext cx="4818888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800" b="1">
                <a:solidFill>
                  <a:srgbClr val="12223A"/>
                </a:solidFill>
                <a:latin typeface="Aptos"/>
              </a:defRPr>
            </a:pPr>
            <a:r>
              <a:t>Benefits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2103120"/>
            <a:ext cx="4800600" cy="35844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500" b="0">
                <a:solidFill>
                  <a:srgbClr val="26303D"/>
                </a:solidFill>
                <a:latin typeface="Aptos"/>
              </a:defRPr>
            </a:pPr>
            <a:r>
              <a:t>Smaller privileged core; improved fault isolation; services can be developed or restarted separately in some designs.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508760"/>
            <a:ext cx="516636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508760"/>
            <a:ext cx="82296" cy="4297680"/>
          </a:xfrm>
          <a:prstGeom prst="rect">
            <a:avLst/>
          </a:prstGeom>
          <a:solidFill>
            <a:srgbClr val="F2B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1645919"/>
            <a:ext cx="4818888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800" b="1">
                <a:solidFill>
                  <a:srgbClr val="12223A"/>
                </a:solidFill>
                <a:latin typeface="Aptos"/>
              </a:defRPr>
            </a:pPr>
            <a:r>
              <a:t>Costs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2103120"/>
            <a:ext cx="4800600" cy="35844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500" b="0">
                <a:solidFill>
                  <a:srgbClr val="26303D"/>
                </a:solidFill>
                <a:latin typeface="Aptos"/>
              </a:defRPr>
            </a:pPr>
            <a:r>
              <a:t>Message passing and context switches may add overhead; interface and service coordination can be complex.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429768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F2B437"/>
                </a:solidFill>
                <a:latin typeface="Aptos"/>
              </a:defRPr>
            </a:pPr>
            <a:r>
              <a:t>OPERATING SYSTEMS • WEEK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1088136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"/>
              </a:defRPr>
            </a:pPr>
            <a:r>
              <a:t>Microkernel in Practice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6459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47104"/>
            <a:ext cx="731520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800" b="0">
                <a:solidFill>
                  <a:srgbClr val="5B697A"/>
                </a:solidFill>
                <a:latin typeface="Aptos"/>
              </a:defRPr>
            </a:pPr>
            <a:r>
              <a:t>Lecture 3–4  |  Operating System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37960"/>
            <a:ext cx="54864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1">
                <a:solidFill>
                  <a:srgbClr val="2563A0"/>
                </a:solidFill>
                <a:latin typeface="Aptos"/>
              </a:defRPr>
            </a:pPr>
            <a:r>
              <a:t>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143000"/>
            <a:ext cx="10698480" cy="5074920"/>
          </a:xfrm>
          <a:prstGeom prst="rect">
            <a:avLst/>
          </a:prstGeom>
          <a:noFill/>
        </p:spPr>
        <p:txBody>
          <a:bodyPr wrap="square" lIns="109728" rIns="109728" tIns="73152" bIns="36576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6303D"/>
                </a:solidFill>
                <a:latin typeface="Aptos"/>
              </a:defRPr>
            </a:pPr>
            <a:r>
              <a:t>• QNX: A commercial real-time OS known for a microkernel-oriented architecture.</a:t>
            </a:r>
          </a:p>
          <a:p>
            <a:pPr>
              <a:spcAft>
                <a:spcPts val="1200"/>
              </a:spcAft>
              <a:defRPr sz="1800">
                <a:solidFill>
                  <a:srgbClr val="26303D"/>
                </a:solidFill>
                <a:latin typeface="Aptos"/>
              </a:defRPr>
            </a:pPr>
            <a:r>
              <a:t>• MINIX 3: An educational/research OS designed around a small kernel and user-space drivers/services.</a:t>
            </a:r>
          </a:p>
          <a:p>
            <a:pPr>
              <a:spcAft>
                <a:spcPts val="1200"/>
              </a:spcAft>
              <a:defRPr sz="1800">
                <a:solidFill>
                  <a:srgbClr val="26303D"/>
                </a:solidFill>
                <a:latin typeface="Aptos"/>
              </a:defRPr>
            </a:pPr>
            <a:r>
              <a:t>• seL4: A formally verified microkernel used in systems where strong isolation and assurance are important.</a:t>
            </a:r>
          </a:p>
          <a:p>
            <a:pPr>
              <a:spcAft>
                <a:spcPts val="1200"/>
              </a:spcAft>
              <a:defRPr sz="1800">
                <a:solidFill>
                  <a:srgbClr val="26303D"/>
                </a:solidFill>
                <a:latin typeface="Aptos"/>
              </a:defRPr>
            </a:pPr>
            <a:r>
              <a:t>• Design lesson: Microkernel is an architectural family, not one fixed implementation; performance depends on IPC, scheduling, and service design.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429768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F2B437"/>
                </a:solidFill>
                <a:latin typeface="Aptos"/>
              </a:defRPr>
            </a:pPr>
            <a:r>
              <a:t>OPERATING SYSTEMS • WEEK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1088136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"/>
              </a:defRPr>
            </a:pPr>
            <a:r>
              <a:t>Architecture Comparison at a Glance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6459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47104"/>
            <a:ext cx="731520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800" b="0">
                <a:solidFill>
                  <a:srgbClr val="5B697A"/>
                </a:solidFill>
                <a:latin typeface="Aptos"/>
              </a:defRPr>
            </a:pPr>
            <a:r>
              <a:t>Lecture 3–4  |  Operating System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37960"/>
            <a:ext cx="54864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1">
                <a:solidFill>
                  <a:srgbClr val="2563A0"/>
                </a:solidFill>
                <a:latin typeface="Aptos"/>
              </a:defRPr>
            </a:pPr>
            <a:r>
              <a:t>34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325880"/>
            <a:ext cx="52578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325880"/>
            <a:ext cx="82296" cy="214884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1463039"/>
            <a:ext cx="4910328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2223A"/>
                </a:solidFill>
                <a:latin typeface="Aptos"/>
              </a:defRPr>
            </a:pPr>
            <a:r>
              <a:t>Monolithic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1920240"/>
            <a:ext cx="4892040" cy="1435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6303D"/>
                </a:solidFill>
                <a:latin typeface="Aptos"/>
              </a:defRPr>
            </a:pPr>
            <a:r>
              <a:t>Fast internal calls and integrated services; larger privileged code base.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25880"/>
            <a:ext cx="52578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325880"/>
            <a:ext cx="82296" cy="2148840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1463039"/>
            <a:ext cx="4910328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2223A"/>
                </a:solidFill>
                <a:latin typeface="Aptos"/>
              </a:defRPr>
            </a:pPr>
            <a:r>
              <a:t>Layered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1920240"/>
            <a:ext cx="4892040" cy="1435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6303D"/>
                </a:solidFill>
                <a:latin typeface="Aptos"/>
              </a:defRPr>
            </a:pPr>
            <a:r>
              <a:t>Clear structure and interfaces; layer boundaries can constrain optimization.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03320"/>
            <a:ext cx="52578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703320"/>
            <a:ext cx="82296" cy="2148840"/>
          </a:xfrm>
          <a:prstGeom prst="rect">
            <a:avLst/>
          </a:prstGeom>
          <a:solidFill>
            <a:srgbClr val="F2B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3840480"/>
            <a:ext cx="4910328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2223A"/>
                </a:solidFill>
                <a:latin typeface="Aptos"/>
              </a:defRPr>
            </a:pPr>
            <a:r>
              <a:t>Microkernel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4297680"/>
            <a:ext cx="4892040" cy="1435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6303D"/>
                </a:solidFill>
                <a:latin typeface="Aptos"/>
              </a:defRPr>
            </a:pPr>
            <a:r>
              <a:t>Small core and stronger isolation potential; IPC overhead and service complexity.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03320"/>
            <a:ext cx="52578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3703320"/>
            <a:ext cx="82296" cy="2148840"/>
          </a:xfrm>
          <a:prstGeom prst="rect">
            <a:avLst/>
          </a:prstGeom>
          <a:solidFill>
            <a:srgbClr val="6C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3840480"/>
            <a:ext cx="4910328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2223A"/>
                </a:solidFill>
                <a:latin typeface="Aptos"/>
              </a:defRPr>
            </a:pPr>
            <a:r>
              <a:t>Hybrid / modular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4297680"/>
            <a:ext cx="4892040" cy="1435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6303D"/>
                </a:solidFill>
                <a:latin typeface="Aptos"/>
              </a:defRPr>
            </a:pPr>
            <a:r>
              <a:t>Practical compromise with modules and mixed design choices; architecture may be less conceptually pure.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429768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F2B437"/>
                </a:solidFill>
                <a:latin typeface="Aptos"/>
              </a:defRPr>
            </a:pPr>
            <a:r>
              <a:t>OPERATING SYSTEMS • WEEK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1088136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"/>
              </a:defRPr>
            </a:pPr>
            <a:r>
              <a:t>Apply the Concepts: A Laptop Scenario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6459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47104"/>
            <a:ext cx="731520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800" b="0">
                <a:solidFill>
                  <a:srgbClr val="5B697A"/>
                </a:solidFill>
                <a:latin typeface="Aptos"/>
              </a:defRPr>
            </a:pPr>
            <a:r>
              <a:t>Lecture 3–4  |  Operating System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37960"/>
            <a:ext cx="54864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1">
                <a:solidFill>
                  <a:srgbClr val="2563A0"/>
                </a:solidFill>
                <a:latin typeface="Aptos"/>
              </a:defRPr>
            </a:pPr>
            <a:r>
              <a:t>35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143000"/>
            <a:ext cx="10698480" cy="5074920"/>
          </a:xfrm>
          <a:prstGeom prst="rect">
            <a:avLst/>
          </a:prstGeom>
          <a:noFill/>
        </p:spPr>
        <p:txBody>
          <a:bodyPr wrap="square" lIns="109728" rIns="109728" tIns="73152" bIns="36576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6303D"/>
                </a:solidFill>
                <a:latin typeface="Aptos"/>
              </a:defRPr>
            </a:pPr>
            <a:r>
              <a:t>• Opening an app: The OS creates a process, maps memory, loads executable code, and schedules CPU time.</a:t>
            </a:r>
          </a:p>
          <a:p>
            <a:pPr>
              <a:spcAft>
                <a:spcPts val="1200"/>
              </a:spcAft>
              <a:defRPr sz="1800">
                <a:solidFill>
                  <a:srgbClr val="26303D"/>
                </a:solidFill>
                <a:latin typeface="Aptos"/>
              </a:defRPr>
            </a:pPr>
            <a:r>
              <a:t>• Opening a document: File services resolve the path, check permissions, and request data from storage.</a:t>
            </a:r>
          </a:p>
          <a:p>
            <a:pPr>
              <a:spcAft>
                <a:spcPts val="1200"/>
              </a:spcAft>
              <a:defRPr sz="1800">
                <a:solidFill>
                  <a:srgbClr val="26303D"/>
                </a:solidFill>
                <a:latin typeface="Aptos"/>
              </a:defRPr>
            </a:pPr>
            <a:r>
              <a:t>• Printing: The I/O subsystem queues output and communicates with the printer driver.</a:t>
            </a:r>
          </a:p>
          <a:p>
            <a:pPr>
              <a:spcAft>
                <a:spcPts val="1200"/>
              </a:spcAft>
              <a:defRPr sz="1800">
                <a:solidFill>
                  <a:srgbClr val="26303D"/>
                </a:solidFill>
                <a:latin typeface="Aptos"/>
              </a:defRPr>
            </a:pPr>
            <a:r>
              <a:t>• Joining Wi‑Fi: Networking services configure interfaces, obtain network settings, and route packets.</a:t>
            </a:r>
          </a:p>
          <a:p>
            <a:pPr>
              <a:spcAft>
                <a:spcPts val="1200"/>
              </a:spcAft>
              <a:defRPr sz="1800">
                <a:solidFill>
                  <a:srgbClr val="26303D"/>
                </a:solidFill>
                <a:latin typeface="Aptos"/>
              </a:defRPr>
            </a:pPr>
            <a:r>
              <a:t>• Security: User-mode isolation and access checks limit what the app can read or change.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429768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F2B437"/>
                </a:solidFill>
                <a:latin typeface="Aptos"/>
              </a:defRPr>
            </a:pPr>
            <a:r>
              <a:t>OPERATING SYSTEMS • WEEK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1088136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"/>
              </a:defRPr>
            </a:pPr>
            <a:r>
              <a:t>Knowledge Check: Discuss in Pairs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6459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47104"/>
            <a:ext cx="731520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800" b="0">
                <a:solidFill>
                  <a:srgbClr val="5B697A"/>
                </a:solidFill>
                <a:latin typeface="Aptos"/>
              </a:defRPr>
            </a:pPr>
            <a:r>
              <a:t>Lecture 3–4  |  Operating System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37960"/>
            <a:ext cx="54864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1">
                <a:solidFill>
                  <a:srgbClr val="2563A0"/>
                </a:solidFill>
                <a:latin typeface="Aptos"/>
              </a:defRPr>
            </a:pPr>
            <a:r>
              <a:t>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143000"/>
            <a:ext cx="10698480" cy="5074920"/>
          </a:xfrm>
          <a:prstGeom prst="rect">
            <a:avLst/>
          </a:prstGeom>
          <a:noFill/>
        </p:spPr>
        <p:txBody>
          <a:bodyPr wrap="square" lIns="109728" rIns="109728" tIns="73152" bIns="36576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6303D"/>
                </a:solidFill>
                <a:latin typeface="Aptos"/>
              </a:defRPr>
            </a:pPr>
            <a:r>
              <a:t>• Why is a process different from a program stored on disk?</a:t>
            </a:r>
          </a:p>
          <a:p>
            <a:pPr>
              <a:spcAft>
                <a:spcPts val="1200"/>
              </a:spcAft>
              <a:defRPr sz="1800">
                <a:solidFill>
                  <a:srgbClr val="26303D"/>
                </a:solidFill>
                <a:latin typeface="Aptos"/>
              </a:defRPr>
            </a:pPr>
            <a:r>
              <a:t>• How do virtual memory and process isolation support each other?</a:t>
            </a:r>
          </a:p>
          <a:p>
            <a:pPr>
              <a:spcAft>
                <a:spcPts val="1200"/>
              </a:spcAft>
              <a:defRPr sz="1800">
                <a:solidFill>
                  <a:srgbClr val="26303D"/>
                </a:solidFill>
                <a:latin typeface="Aptos"/>
              </a:defRPr>
            </a:pPr>
            <a:r>
              <a:t>• What is the role of a device driver in an I/O request?</a:t>
            </a:r>
          </a:p>
          <a:p>
            <a:pPr>
              <a:spcAft>
                <a:spcPts val="1200"/>
              </a:spcAft>
              <a:defRPr sz="1800">
                <a:solidFill>
                  <a:srgbClr val="26303D"/>
                </a:solidFill>
                <a:latin typeface="Aptos"/>
              </a:defRPr>
            </a:pPr>
            <a:r>
              <a:t>• Give one example each of an OS service and an OS structural design.</a:t>
            </a:r>
          </a:p>
          <a:p>
            <a:pPr>
              <a:spcAft>
                <a:spcPts val="1200"/>
              </a:spcAft>
              <a:defRPr sz="1800">
                <a:solidFill>
                  <a:srgbClr val="26303D"/>
                </a:solidFill>
                <a:latin typeface="Aptos"/>
              </a:defRPr>
            </a:pPr>
            <a:r>
              <a:t>• Why might a microkernel improve reliability but introduce performance overhead?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429768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F2B437"/>
                </a:solidFill>
                <a:latin typeface="Aptos"/>
              </a:defRPr>
            </a:pPr>
            <a:r>
              <a:t>OPERATING SYSTEMS • WEEK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1088136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"/>
              </a:defRPr>
            </a:pPr>
            <a:r>
              <a:t>Quick Review: Key Answers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6459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47104"/>
            <a:ext cx="731520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800" b="0">
                <a:solidFill>
                  <a:srgbClr val="5B697A"/>
                </a:solidFill>
                <a:latin typeface="Aptos"/>
              </a:defRPr>
            </a:pPr>
            <a:r>
              <a:t>Lecture 3–4  |  Operating System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37960"/>
            <a:ext cx="54864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1">
                <a:solidFill>
                  <a:srgbClr val="2563A0"/>
                </a:solidFill>
                <a:latin typeface="Aptos"/>
              </a:defRPr>
            </a:pPr>
            <a:r>
              <a:t>37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143000"/>
            <a:ext cx="10698480" cy="5074920"/>
          </a:xfrm>
          <a:prstGeom prst="rect">
            <a:avLst/>
          </a:prstGeom>
          <a:noFill/>
        </p:spPr>
        <p:txBody>
          <a:bodyPr wrap="square" lIns="109728" rIns="109728" tIns="73152" bIns="36576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6303D"/>
                </a:solidFill>
                <a:latin typeface="Aptos"/>
              </a:defRPr>
            </a:pPr>
            <a:r>
              <a:t>• Program vs process: A program is passive instructions; a process is an executing instance with state and resources.</a:t>
            </a:r>
          </a:p>
          <a:p>
            <a:pPr>
              <a:spcAft>
                <a:spcPts val="1200"/>
              </a:spcAft>
              <a:defRPr sz="1800">
                <a:solidFill>
                  <a:srgbClr val="26303D"/>
                </a:solidFill>
                <a:latin typeface="Aptos"/>
              </a:defRPr>
            </a:pPr>
            <a:r>
              <a:t>• Virtual memory: Maps virtual addresses to physical memory and helps isolate address spaces.</a:t>
            </a:r>
          </a:p>
          <a:p>
            <a:pPr>
              <a:spcAft>
                <a:spcPts val="1200"/>
              </a:spcAft>
              <a:defRPr sz="1800">
                <a:solidFill>
                  <a:srgbClr val="26303D"/>
                </a:solidFill>
                <a:latin typeface="Aptos"/>
              </a:defRPr>
            </a:pPr>
            <a:r>
              <a:t>• Driver: Translates OS-level I/O requests into device-specific operations.</a:t>
            </a:r>
          </a:p>
          <a:p>
            <a:pPr>
              <a:spcAft>
                <a:spcPts val="1200"/>
              </a:spcAft>
              <a:defRPr sz="1800">
                <a:solidFill>
                  <a:srgbClr val="26303D"/>
                </a:solidFill>
                <a:latin typeface="Aptos"/>
              </a:defRPr>
            </a:pPr>
            <a:r>
              <a:t>• Service vs structure: File manipulation is a service; layered or microkernel is a structural approach.</a:t>
            </a:r>
          </a:p>
          <a:p>
            <a:pPr>
              <a:spcAft>
                <a:spcPts val="1200"/>
              </a:spcAft>
              <a:defRPr sz="1800">
                <a:solidFill>
                  <a:srgbClr val="26303D"/>
                </a:solidFill>
                <a:latin typeface="Aptos"/>
              </a:defRPr>
            </a:pPr>
            <a:r>
              <a:t>• Microkernel trade-off: Smaller privileged core can improve isolation; inter-process communication may cost time.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429768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F2B437"/>
                </a:solidFill>
                <a:latin typeface="Aptos"/>
              </a:defRPr>
            </a:pPr>
            <a:r>
              <a:t>OPERATING SYSTEMS • WEEK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1088136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"/>
              </a:defRPr>
            </a:pPr>
            <a:r>
              <a:t>Mini Activity: Design an OS for a Smart Device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6459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47104"/>
            <a:ext cx="731520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800" b="0">
                <a:solidFill>
                  <a:srgbClr val="5B697A"/>
                </a:solidFill>
                <a:latin typeface="Aptos"/>
              </a:defRPr>
            </a:pPr>
            <a:r>
              <a:t>Lecture 3–4  |  Operating System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37960"/>
            <a:ext cx="54864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1">
                <a:solidFill>
                  <a:srgbClr val="2563A0"/>
                </a:solidFill>
                <a:latin typeface="Aptos"/>
              </a:defRPr>
            </a:pPr>
            <a:r>
              <a:t>38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143000"/>
            <a:ext cx="10698480" cy="5074920"/>
          </a:xfrm>
          <a:prstGeom prst="rect">
            <a:avLst/>
          </a:prstGeom>
          <a:noFill/>
        </p:spPr>
        <p:txBody>
          <a:bodyPr wrap="square" lIns="109728" rIns="109728" tIns="73152" bIns="36576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6303D"/>
                </a:solidFill>
                <a:latin typeface="Aptos"/>
              </a:defRPr>
            </a:pPr>
            <a:r>
              <a:t>• Choose three critical services for a smart watch, router, or industrial controller.</a:t>
            </a:r>
          </a:p>
          <a:p>
            <a:pPr>
              <a:spcAft>
                <a:spcPts val="1200"/>
              </a:spcAft>
              <a:defRPr sz="1800">
                <a:solidFill>
                  <a:srgbClr val="26303D"/>
                </a:solidFill>
                <a:latin typeface="Aptos"/>
              </a:defRPr>
            </a:pPr>
            <a:r>
              <a:t>• Identify which functions must run with high privilege and which can be isolated in user space.</a:t>
            </a:r>
          </a:p>
          <a:p>
            <a:pPr>
              <a:spcAft>
                <a:spcPts val="1200"/>
              </a:spcAft>
              <a:defRPr sz="1800">
                <a:solidFill>
                  <a:srgbClr val="26303D"/>
                </a:solidFill>
                <a:latin typeface="Aptos"/>
              </a:defRPr>
            </a:pPr>
            <a:r>
              <a:t>• Sketch three or four layers or components and label their interfaces.</a:t>
            </a:r>
          </a:p>
          <a:p>
            <a:pPr>
              <a:spcAft>
                <a:spcPts val="1200"/>
              </a:spcAft>
              <a:defRPr sz="1800">
                <a:solidFill>
                  <a:srgbClr val="26303D"/>
                </a:solidFill>
                <a:latin typeface="Aptos"/>
              </a:defRPr>
            </a:pPr>
            <a:r>
              <a:t>• Name one likely failure and explain how your design would contain or recover from it.</a:t>
            </a:r>
          </a:p>
          <a:p>
            <a:pPr>
              <a:spcAft>
                <a:spcPts val="1200"/>
              </a:spcAft>
              <a:defRPr sz="1800">
                <a:solidFill>
                  <a:srgbClr val="26303D"/>
                </a:solidFill>
                <a:latin typeface="Aptos"/>
              </a:defRPr>
            </a:pPr>
            <a:r>
              <a:t>• Share the main trade-off: performance, reliability, energy, simplicity, or security.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429768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F2B437"/>
                </a:solidFill>
                <a:latin typeface="Aptos"/>
              </a:defRPr>
            </a:pPr>
            <a:r>
              <a:t>OPERATING SYSTEMS • WEEK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1088136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"/>
              </a:defRPr>
            </a:pPr>
            <a:r>
              <a:t>Key Takeaways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6459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47104"/>
            <a:ext cx="731520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800" b="0">
                <a:solidFill>
                  <a:srgbClr val="5B697A"/>
                </a:solidFill>
                <a:latin typeface="Aptos"/>
              </a:defRPr>
            </a:pPr>
            <a:r>
              <a:t>Lecture 3–4  |  Operating System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37960"/>
            <a:ext cx="54864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1">
                <a:solidFill>
                  <a:srgbClr val="2563A0"/>
                </a:solidFill>
                <a:latin typeface="Aptos"/>
              </a:defRPr>
            </a:pPr>
            <a:r>
              <a:t>39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325880"/>
            <a:ext cx="52578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325880"/>
            <a:ext cx="82296" cy="214884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1463039"/>
            <a:ext cx="4910328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2223A"/>
                </a:solidFill>
                <a:latin typeface="Aptos"/>
              </a:defRPr>
            </a:pPr>
            <a:r>
              <a:t>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1920240"/>
            <a:ext cx="4892040" cy="1435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6303D"/>
                </a:solidFill>
                <a:latin typeface="Aptos"/>
              </a:defRPr>
            </a:pPr>
            <a:r>
              <a:t>The OS coordinates execution, memory, files, I/O, storage, networks, and access protection.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25880"/>
            <a:ext cx="52578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325880"/>
            <a:ext cx="82296" cy="2148840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1463039"/>
            <a:ext cx="4910328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2223A"/>
                </a:solidFill>
                <a:latin typeface="Aptos"/>
              </a:defRPr>
            </a:pPr>
            <a:r>
              <a:t>Services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1920240"/>
            <a:ext cx="4892040" cy="1435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6303D"/>
                </a:solidFill>
                <a:latin typeface="Aptos"/>
              </a:defRPr>
            </a:pPr>
            <a:r>
              <a:t>Applications rely on OS services through APIs and controlled system-call interfaces.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03320"/>
            <a:ext cx="52578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703320"/>
            <a:ext cx="82296" cy="2148840"/>
          </a:xfrm>
          <a:prstGeom prst="rect">
            <a:avLst/>
          </a:prstGeom>
          <a:solidFill>
            <a:srgbClr val="F2B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3840480"/>
            <a:ext cx="4910328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2223A"/>
                </a:solidFill>
                <a:latin typeface="Aptos"/>
              </a:defRPr>
            </a:pPr>
            <a:r>
              <a:t>Architecture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4297680"/>
            <a:ext cx="4892040" cy="1435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6303D"/>
                </a:solidFill>
                <a:latin typeface="Aptos"/>
              </a:defRPr>
            </a:pPr>
            <a:r>
              <a:t>Monolithic, layered, microkernel, and hybrid designs make different trade-offs.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03320"/>
            <a:ext cx="52578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3703320"/>
            <a:ext cx="82296" cy="2148840"/>
          </a:xfrm>
          <a:prstGeom prst="rect">
            <a:avLst/>
          </a:prstGeom>
          <a:solidFill>
            <a:srgbClr val="6C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3840480"/>
            <a:ext cx="4910328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12223A"/>
                </a:solidFill>
                <a:latin typeface="Aptos"/>
              </a:defRPr>
            </a:pPr>
            <a:r>
              <a:t>Evaluate context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4297680"/>
            <a:ext cx="4892040" cy="1435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26303D"/>
                </a:solidFill>
                <a:latin typeface="Aptos"/>
              </a:defRPr>
            </a:pPr>
            <a:r>
              <a:t>The best structure depends on performance needs, reliability goals, hardware, and threat model.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429768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1">
                <a:solidFill>
                  <a:srgbClr val="F2B437"/>
                </a:solidFill>
                <a:latin typeface="Aptos"/>
              </a:defRPr>
            </a:pPr>
            <a:r>
              <a:t>OPERATING SYSTEMS • WEEK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1088136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"/>
              </a:defRPr>
            </a:pPr>
            <a:r>
              <a:t>Essential Terminology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6459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47104"/>
            <a:ext cx="731520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800" b="0">
                <a:solidFill>
                  <a:srgbClr val="5B697A"/>
                </a:solidFill>
                <a:latin typeface="Aptos"/>
              </a:defRPr>
            </a:pPr>
            <a:r>
              <a:t>Lecture 3–4  |  Operating System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37960"/>
            <a:ext cx="54864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900" b="1">
                <a:solidFill>
                  <a:srgbClr val="2563A0"/>
                </a:solidFill>
                <a:latin typeface="Aptos"/>
              </a:defRPr>
            </a:pPr>
            <a:r>
              <a:t>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143000"/>
            <a:ext cx="10698480" cy="5074920"/>
          </a:xfrm>
          <a:prstGeom prst="rect">
            <a:avLst/>
          </a:prstGeom>
          <a:noFill/>
        </p:spPr>
        <p:txBody>
          <a:bodyPr wrap="square" lIns="109728" rIns="109728" tIns="73152" bIns="36576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6303D"/>
                </a:solidFill>
                <a:latin typeface="Aptos"/>
              </a:defRPr>
            </a:pPr>
            <a:r>
              <a:t>• Process / scheduler: An executing program / component that selects work for CPU time.</a:t>
            </a:r>
          </a:p>
          <a:p>
            <a:pPr>
              <a:spcAft>
                <a:spcPts val="1200"/>
              </a:spcAft>
              <a:defRPr sz="1800">
                <a:solidFill>
                  <a:srgbClr val="26303D"/>
                </a:solidFill>
                <a:latin typeface="Aptos"/>
              </a:defRPr>
            </a:pPr>
            <a:r>
              <a:t>• Virtual memory / page fault: Address-space abstraction / event triggered when a required page is not currently mapped as expected.</a:t>
            </a:r>
          </a:p>
          <a:p>
            <a:pPr>
              <a:spcAft>
                <a:spcPts val="1200"/>
              </a:spcAft>
              <a:defRPr sz="1800">
                <a:solidFill>
                  <a:srgbClr val="26303D"/>
                </a:solidFill>
                <a:latin typeface="Aptos"/>
              </a:defRPr>
            </a:pPr>
            <a:r>
              <a:t>• Driver / interrupt: Device-specific OS component / signal that requests CPU attention.</a:t>
            </a:r>
          </a:p>
          <a:p>
            <a:pPr>
              <a:spcAft>
                <a:spcPts val="1200"/>
              </a:spcAft>
              <a:defRPr sz="1800">
                <a:solidFill>
                  <a:srgbClr val="26303D"/>
                </a:solidFill>
                <a:latin typeface="Aptos"/>
              </a:defRPr>
            </a:pPr>
            <a:r>
              <a:t>• System call / IPC: Controlled request to kernel services / mechanisms for processes to communicate.</a:t>
            </a:r>
          </a:p>
          <a:p>
            <a:pPr>
              <a:spcAft>
                <a:spcPts val="1200"/>
              </a:spcAft>
              <a:defRPr sz="1800">
                <a:solidFill>
                  <a:srgbClr val="26303D"/>
                </a:solidFill>
                <a:latin typeface="Aptos"/>
              </a:defRPr>
            </a:pPr>
            <a:r>
              <a:t>• Kernel mode / microkernel: Privileged execution mode / architecture that keeps core kernel mechanisms small.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31520"/>
            <a:ext cx="548640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1">
                <a:solidFill>
                  <a:srgbClr val="F2B437"/>
                </a:solidFill>
                <a:latin typeface="Aptos"/>
              </a:defRPr>
            </a:pPr>
            <a:r>
              <a:t>WEEK 2 COMPLETE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8046720" cy="7315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60320"/>
            <a:ext cx="7772400" cy="8229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900" b="0">
                <a:solidFill>
                  <a:srgbClr val="D3E2F0"/>
                </a:solidFill>
                <a:latin typeface="Aptos"/>
              </a:defRPr>
            </a:pPr>
            <a:r>
              <a:t>Review the management functions, OS services, and structural trade-offs before the next lecture.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8961120" cy="8229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100" b="1">
                <a:solidFill>
                  <a:srgbClr val="009196"/>
                </a:solidFill>
                <a:latin typeface="Aptos"/>
              </a:defRPr>
            </a:pPr>
            <a:r>
              <a:t>Think like an OS designer: what should be shared, isolated, prioritized, and protected?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080760"/>
            <a:ext cx="640080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00" b="1">
                <a:solidFill>
                  <a:srgbClr val="F2B437"/>
                </a:solidFill>
                <a:latin typeface="Aptos"/>
              </a:defRPr>
            </a:pPr>
            <a:r>
              <a:t>OPERATING SYSTEMS • LECTURE 3 &amp;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