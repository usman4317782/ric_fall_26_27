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embeddedFontLst>
    <p:embeddedFont>
      <p:font typeface="Plus Jakarta Sans"/>
      <p:regular r:id="rId37"/>
      <p:bold r:id="rId38"/>
      <p:italic r:id="rId39"/>
      <p:boldItalic r:id="rId40"/>
    </p:embeddedFont>
    <p:embeddedFont>
      <p:font typeface="JetBrains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2F71DA-9AE6-4F03-9BE0-5E4056E60F22}">
  <a:tblStyle styleId="{832F71DA-9AE6-4F03-9BE0-5E4056E60F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-boldItalic.fntdata"/><Relationship Id="rId20" Type="http://schemas.openxmlformats.org/officeDocument/2006/relationships/slide" Target="slides/slide14.xml"/><Relationship Id="rId42" Type="http://schemas.openxmlformats.org/officeDocument/2006/relationships/font" Target="fonts/JetBrainsMono-bold.fntdata"/><Relationship Id="rId41" Type="http://schemas.openxmlformats.org/officeDocument/2006/relationships/font" Target="fonts/JetBrainsMono-regular.fntdata"/><Relationship Id="rId22" Type="http://schemas.openxmlformats.org/officeDocument/2006/relationships/slide" Target="slides/slide16.xml"/><Relationship Id="rId44" Type="http://schemas.openxmlformats.org/officeDocument/2006/relationships/font" Target="fonts/JetBrains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JetBrainsMon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lusJakartaSans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PlusJakartaSans-italic.fntdata"/><Relationship Id="rId16" Type="http://schemas.openxmlformats.org/officeDocument/2006/relationships/slide" Target="slides/slide10.xml"/><Relationship Id="rId38" Type="http://schemas.openxmlformats.org/officeDocument/2006/relationships/font" Target="fonts/PlusJakarta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194720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194720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034629"/>
            <a:ext cx="50661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SCIENCE UNDERGRADUATE CURRICULUM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2282279"/>
            <a:ext cx="9101137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Operating System: Introduction &amp; Background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623220"/>
            <a:ext cx="665559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Comprehensive 2-Lecture Academic Teaching Series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4432845"/>
            <a:ext cx="5214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604295"/>
            <a:ext cx="5214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Operating Systems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10150" y="4432845"/>
            <a:ext cx="5214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010150" y="4604295"/>
            <a:ext cx="5214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Types of Operating Systems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609600" y="2999482"/>
            <a:ext cx="5372100" cy="1700807"/>
          </a:xfrm>
          <a:prstGeom prst="roundRect">
            <a:avLst>
              <a:gd fmla="val 67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210300" y="2879526"/>
            <a:ext cx="5372100" cy="1940718"/>
          </a:xfrm>
          <a:prstGeom prst="roundRect">
            <a:avLst>
              <a:gd fmla="val 588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261419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141464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OVERVIEW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Objectives &amp; Lecture Roadmap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62050" y="3237607"/>
            <a:ext cx="5805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 Foundations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7725" y="3590032"/>
            <a:ext cx="611981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Abstraction: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System stack and intermediary roles.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7725" y="3906142"/>
            <a:ext cx="611981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Layers: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System vs. Application software.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7725" y="4222253"/>
            <a:ext cx="611981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Instruction Execution: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Machine code to microprogramming.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62750" y="3117651"/>
            <a:ext cx="5429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 Classification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48425" y="3470076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Categories: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Batch, multiprogramming, real-time, distributed.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448425" y="4026098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Client-server, P2P, cloud, virtualized.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448425" y="4342209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Historical Platforms: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UNIX, MS-DOS, Microsoft Windows.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6096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3434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0772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575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4575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4575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an Operating System?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81100" y="3433762"/>
            <a:ext cx="3452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Intermediary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77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Bridge between user applications and physical hardware.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867275" y="3433762"/>
            <a:ext cx="3500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 Manager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5815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Allocates CPU, memory, storage, and I/O efficiently.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601075" y="3433762"/>
            <a:ext cx="3500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Program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153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Manages execution to prevent errors and improper use.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6096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3434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80772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575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4575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4575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1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Do We Need an Operating System?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81100" y="3433762"/>
            <a:ext cx="3452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Convenience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77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Hides complex hardware details behind high-level interfaces.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848225" y="3433762"/>
            <a:ext cx="3519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Efficiency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5815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Maximizes hardware throughput and resource utilization.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582025" y="3433762"/>
            <a:ext cx="3519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Protection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153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Isolates concurrent processes to protect data integrity.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2286000" y="2516385"/>
            <a:ext cx="7620000" cy="581025"/>
          </a:xfrm>
          <a:prstGeom prst="roundRect">
            <a:avLst>
              <a:gd fmla="val 13114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286000" y="3211710"/>
            <a:ext cx="7620000" cy="581025"/>
          </a:xfrm>
          <a:prstGeom prst="roundRect">
            <a:avLst>
              <a:gd fmla="val 13114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286000" y="3907035"/>
            <a:ext cx="7620000" cy="581025"/>
          </a:xfrm>
          <a:prstGeom prst="roundRect">
            <a:avLst>
              <a:gd fmla="val 131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286000" y="4602360"/>
            <a:ext cx="7620000" cy="581025"/>
          </a:xfrm>
          <a:prstGeom prst="roundRect">
            <a:avLst>
              <a:gd fmla="val 13114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2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System Layered Architecture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504950" y="2687835"/>
            <a:ext cx="9182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Users (Command Line / Graphical User Interface)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504950" y="3383160"/>
            <a:ext cx="9182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 Software (Browsers, Compilers, DB Engines)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504950" y="4078485"/>
            <a:ext cx="9182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Software &amp; Operating System Kernel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504950" y="4773810"/>
            <a:ext cx="9182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Hardware (CPU, Main Memory, Storage, I/O Devices)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6096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3909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172200" y="3195637"/>
            <a:ext cx="26289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9535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2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Four Core Components of a System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477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Hardware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77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Provides basic computing resources (CPU, RAM, I/O devices).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36290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OS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6290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Controls and coordinates hardware use among applications.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410325" y="3433762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Apps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410325" y="3786187"/>
            <a:ext cx="2247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Defines computing tasks to solve user problems.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91916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Users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1916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People, machines, or remote systems requesting execution.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609600" y="2746176"/>
            <a:ext cx="5372100" cy="2207418"/>
          </a:xfrm>
          <a:prstGeom prst="roundRect">
            <a:avLst>
              <a:gd fmla="val 517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210300" y="2999482"/>
            <a:ext cx="5372100" cy="1700807"/>
          </a:xfrm>
          <a:prstGeom prst="roundRect">
            <a:avLst>
              <a:gd fmla="val 67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847725" y="3527226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847725" y="3919537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847725" y="4551759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08114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26141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3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 Software: Role &amp; Categories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181100" y="2984301"/>
            <a:ext cx="5786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Purpose &amp; Execution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734175" y="3237607"/>
            <a:ext cx="54578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Categories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448425" y="359003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Productivity: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Word processors, spreadsheets.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448425" y="390614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Compilers, IDEs, linkers.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448425" y="4222253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DBMS, ERP systems, web servers.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47725" y="3527226"/>
            <a:ext cx="6119812" cy="16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Solutions: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Solves specific user tasks directly.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47725" y="3919537"/>
            <a:ext cx="4991100" cy="403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Requests: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Invokes system calls for I/O and memory.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47725" y="4551759"/>
            <a:ext cx="6119812" cy="16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Mode: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Executes in unprivileged CPU state.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609600" y="3075682"/>
            <a:ext cx="2600325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400425" y="3075682"/>
            <a:ext cx="2600325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191250" y="3075682"/>
            <a:ext cx="2600325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8982075" y="3075682"/>
            <a:ext cx="2600325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4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Software Architecture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47725" y="3313807"/>
            <a:ext cx="26550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Kernel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47725" y="3666232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OS component with direct memory and hardware access.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3638550" y="3313807"/>
            <a:ext cx="26550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Device Drivers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3638550" y="3666232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Translates generic OS requests into device commands.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429375" y="3313807"/>
            <a:ext cx="26550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Translators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429375" y="3666232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Compilers and assemblers producing binary machine code.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9220200" y="3313807"/>
            <a:ext cx="26550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Utilities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220200" y="3666232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Disk defragmenters, diagnostic monitors, file managers.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609600" y="3630810"/>
            <a:ext cx="23654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975074" y="3630810"/>
            <a:ext cx="4275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250906" y="3630810"/>
            <a:ext cx="4331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09600" y="4107060"/>
            <a:ext cx="23654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975074" y="4107060"/>
            <a:ext cx="4275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7250906" y="4107060"/>
            <a:ext cx="4331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609600" y="4583310"/>
            <a:ext cx="23654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975074" y="4583310"/>
            <a:ext cx="4275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7250906" y="4583310"/>
            <a:ext cx="4331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09600" y="5059560"/>
            <a:ext cx="23654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975074" y="5059560"/>
            <a:ext cx="4275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250906" y="5059560"/>
            <a:ext cx="4331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" name="Google Shape;234;p21"/>
          <p:cNvGraphicFramePr/>
          <p:nvPr/>
        </p:nvGraphicFramePr>
        <p:xfrm>
          <a:off x="609600" y="27021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{832F71DA-9AE6-4F03-9BE0-5E4056E60F22}</a:tableStyleId>
              </a:tblPr>
              <a:tblGrid>
                <a:gridCol w="2365475"/>
                <a:gridCol w="4275825"/>
                <a:gridCol w="433150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System Software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Application Software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Manages hardware and platform infrastructure.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Performs user-defined tasks and domain goals.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Execution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Privileged Mode / Kernel Space.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Non-privileged Mode / User Space.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Hardware Dependency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(Direct physical interface).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Low (Interacts via system calls).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User Interaction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Background operation (Implicit).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Foreground interaction (Explicit).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4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 vs. System Software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/>
          <p:nvPr/>
        </p:nvSpPr>
        <p:spPr>
          <a:xfrm>
            <a:off x="609600" y="2700337"/>
            <a:ext cx="5372100" cy="2299096"/>
          </a:xfrm>
          <a:prstGeom prst="roundRect">
            <a:avLst>
              <a:gd fmla="val 497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6210300" y="2999482"/>
            <a:ext cx="5372100" cy="1700807"/>
          </a:xfrm>
          <a:prstGeom prst="roundRect">
            <a:avLst>
              <a:gd fmla="val 67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847725" y="3923109"/>
            <a:ext cx="4895850" cy="838200"/>
          </a:xfrm>
          <a:prstGeom prst="roundRect">
            <a:avLst>
              <a:gd fmla="val 909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9622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26141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5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Machine Language &amp; Processor Instructions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133475" y="2938462"/>
            <a:ext cx="5834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Binary Instruction Encoding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47725" y="3290887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Native sequence of 0s and 1s decoded by the hardware CPU logic directly.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038225" y="4113609"/>
            <a:ext cx="461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Opcode | Reg1 | Reg2 | Memory Offset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10110000 0001 0010 000000000100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734175" y="3237607"/>
            <a:ext cx="54578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CPU Instruction Cycle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448425" y="359003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Fetch: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Retrieves instruction from RAM.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448425" y="390614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Decode: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 Unit parses opcode.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448425" y="4222253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ALU or memory transfer operation.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/>
          <p:nvPr/>
        </p:nvSpPr>
        <p:spPr>
          <a:xfrm>
            <a:off x="609600" y="2953642"/>
            <a:ext cx="3505200" cy="1792485"/>
          </a:xfrm>
          <a:prstGeom prst="roundRect">
            <a:avLst>
              <a:gd fmla="val 637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343400" y="2719387"/>
            <a:ext cx="3505200" cy="2260996"/>
          </a:xfrm>
          <a:prstGeom prst="roundRect">
            <a:avLst>
              <a:gd fmla="val 505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077200" y="2953642"/>
            <a:ext cx="3505200" cy="1792485"/>
          </a:xfrm>
          <a:prstGeom prst="roundRect">
            <a:avLst>
              <a:gd fmla="val 637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847725" y="3898403"/>
            <a:ext cx="3028950" cy="6096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4581525" y="3904059"/>
            <a:ext cx="3028950" cy="838200"/>
          </a:xfrm>
          <a:prstGeom prst="roundRect">
            <a:avLst>
              <a:gd fmla="val 909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8315325" y="3898403"/>
            <a:ext cx="3028950" cy="6096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5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Language Hierarchy &amp; Abstraction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847725" y="3191767"/>
            <a:ext cx="37861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High-Level (C / Java)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847725" y="3544192"/>
            <a:ext cx="378618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independent syntax.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1038225" y="4088903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 = x + y;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4581525" y="2957512"/>
            <a:ext cx="37861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Assembly (Mnemonic)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4581525" y="330993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Human-readable architecture symbols.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4772025" y="409455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MOV EAX, [EBX]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ADD EAX, ECX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315325" y="3191767"/>
            <a:ext cx="37861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Machine Code (Binary)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315325" y="3544192"/>
            <a:ext cx="378618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processor opcodes.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505825" y="4088903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8B 03 01 C8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/>
          <p:nvPr/>
        </p:nvSpPr>
        <p:spPr>
          <a:xfrm>
            <a:off x="609600" y="3195637"/>
            <a:ext cx="53721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6210300" y="2999482"/>
            <a:ext cx="5372100" cy="1700807"/>
          </a:xfrm>
          <a:prstGeom prst="roundRect">
            <a:avLst>
              <a:gd fmla="val 67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575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261419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6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Microprogramming &amp; Control Logic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1133475" y="3433762"/>
            <a:ext cx="5834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Unit Implementation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47725" y="3786187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Translates ISA machine instructions into microinstructions stored in Control Store firmware.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762750" y="3237607"/>
            <a:ext cx="5429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Microinstruction Flow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448425" y="359003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Machine Instruction: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ADD EAX, EBX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448425" y="390614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Micro-step 1: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Gate EBX to internal bus.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448425" y="4222253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Micro-step 2: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Signal ALU ADD control line.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/>
          <p:nvPr/>
        </p:nvSpPr>
        <p:spPr>
          <a:xfrm>
            <a:off x="609600" y="3195637"/>
            <a:ext cx="2600325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3400425" y="3195637"/>
            <a:ext cx="2600325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6191250" y="3195637"/>
            <a:ext cx="2600325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8982075" y="3075682"/>
            <a:ext cx="2600325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7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Hardware Components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847725" y="3433762"/>
            <a:ext cx="26550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Processor (CPU)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847725" y="3786187"/>
            <a:ext cx="2219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Executes instructions and manages control flow.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3638550" y="3433762"/>
            <a:ext cx="26550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 Memory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3638550" y="3786187"/>
            <a:ext cx="2219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Volatile storage for active processes and data.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6429375" y="3433762"/>
            <a:ext cx="26550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Storage (NVMe)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6429375" y="3786187"/>
            <a:ext cx="2219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Non-volatile mass data retention.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9220200" y="3313807"/>
            <a:ext cx="26550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Controllers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9220200" y="3666232"/>
            <a:ext cx="22193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Electronic chipsets interfacing hardware to bus.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/>
          <p:nvPr/>
        </p:nvSpPr>
        <p:spPr>
          <a:xfrm>
            <a:off x="609600" y="3195637"/>
            <a:ext cx="26289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3390900" y="3195637"/>
            <a:ext cx="26289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6172200" y="3195637"/>
            <a:ext cx="26289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953500" y="3195637"/>
            <a:ext cx="26289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7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&amp; Hardware Interaction via Interrupts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847725" y="3433762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System Call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847725" y="3786187"/>
            <a:ext cx="2247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requests file read operation from kernel.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3629025" y="3433762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Driver Call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3629025" y="3786187"/>
            <a:ext cx="2247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passes request to controller register.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6410325" y="3433762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I/O Transfer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6410325" y="3786187"/>
            <a:ext cx="2247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Controller reads disk blocks asynchronously.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9191625" y="3433762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Interrupt (IRQ)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9191625" y="3786187"/>
            <a:ext cx="2247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Hardware signals CPU completion status.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/>
          <p:nvPr/>
        </p:nvSpPr>
        <p:spPr>
          <a:xfrm>
            <a:off x="6096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33909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61722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8953500" y="3195637"/>
            <a:ext cx="26289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1: TOPIC 8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Evolution of Operating Systems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8477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1940s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8477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Bare Metal: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Manual plugboards and single-user execution.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36290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1950s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36290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Batch Systems: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Sequenced punched card jobs.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64103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1960s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64103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Multiprogramming: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Memory-resident job switching.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9191625" y="3433762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1970s+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9191625" y="3786187"/>
            <a:ext cx="2247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Time-Sharing: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Interactive multi-user slicing.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/>
          <p:cNvSpPr/>
          <p:nvPr/>
        </p:nvSpPr>
        <p:spPr>
          <a:xfrm>
            <a:off x="6096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43434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80772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575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4575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4575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1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Taxonomy of Operating Systems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1133475" y="3433762"/>
            <a:ext cx="3500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Batch Processing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8477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Groups similar jobs without active user interaction.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4867275" y="3433762"/>
            <a:ext cx="3500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Multiprogramming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45815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Keeps multiple programs in memory to maximize CPU usage.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8582025" y="3433762"/>
            <a:ext cx="3519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Time-Sharing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83153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Switches CPU rapidly between interactive user sessions.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/>
          <p:nvPr/>
        </p:nvSpPr>
        <p:spPr>
          <a:xfrm>
            <a:off x="609600" y="3868935"/>
            <a:ext cx="2114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2724298" y="3868935"/>
            <a:ext cx="3867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6591300" y="386893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8826847" y="3868935"/>
            <a:ext cx="27555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609600" y="4345185"/>
            <a:ext cx="2114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2724298" y="4345185"/>
            <a:ext cx="3867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6591300" y="434518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8826847" y="4345185"/>
            <a:ext cx="27555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609600" y="4821435"/>
            <a:ext cx="21146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2724298" y="4821435"/>
            <a:ext cx="3867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6591300" y="4821435"/>
            <a:ext cx="2235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8826847" y="4821435"/>
            <a:ext cx="27555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29"/>
          <p:cNvGraphicFramePr/>
          <p:nvPr/>
        </p:nvGraphicFramePr>
        <p:xfrm>
          <a:off x="609600" y="2940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{832F71DA-9AE6-4F03-9BE0-5E4056E60F22}</a:tableStyleId>
              </a:tblPr>
              <a:tblGrid>
                <a:gridCol w="2114700"/>
                <a:gridCol w="3867000"/>
                <a:gridCol w="2235550"/>
                <a:gridCol w="2755550"/>
              </a:tblGrid>
              <a:tr h="4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Paradigm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Key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User Interaction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Batch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Automate job execution sequences.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Job Throughput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 (Offline submission)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Multiprogramming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Eliminate CPU idle time during I/O.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CPU Utilization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Very 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Time-Sharing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Provide fast interactive user response.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Response Time (&lt;1s)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(Interactive Terminal)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1" name="Google Shape;381;p2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1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Batch vs. Multiprogramming vs. Time-Sharing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0"/>
          <p:cNvSpPr/>
          <p:nvPr/>
        </p:nvSpPr>
        <p:spPr>
          <a:xfrm>
            <a:off x="6096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43434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80772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0" name="Google Shape;3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575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4575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4575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1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Execution Paradigms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1133475" y="3433762"/>
            <a:ext cx="3500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Multitasking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8477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Preemptive concurrent execution of tasks on a single CPU core.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4867275" y="3433762"/>
            <a:ext cx="3500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Multiprocessing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45815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Parallel processing across multiple physical CPU cores.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8601075" y="3433762"/>
            <a:ext cx="3500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(RTOS)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83153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Guaranteed deterministic execution within precise deadlines.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1"/>
          <p:cNvSpPr/>
          <p:nvPr/>
        </p:nvSpPr>
        <p:spPr>
          <a:xfrm>
            <a:off x="6096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/>
          <p:nvPr/>
        </p:nvSpPr>
        <p:spPr>
          <a:xfrm>
            <a:off x="3390900" y="3195637"/>
            <a:ext cx="26289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61722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89535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1</a:t>
            </a: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Distributed, Network, Embedded &amp; Mobile OS</a:t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8477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Distributed</a:t>
            </a:r>
            <a:endParaRPr/>
          </a:p>
        </p:txBody>
      </p:sp>
      <p:sp>
        <p:nvSpPr>
          <p:cNvPr id="412" name="Google Shape;412;p31"/>
          <p:cNvSpPr txBox="1"/>
          <p:nvPr/>
        </p:nvSpPr>
        <p:spPr>
          <a:xfrm>
            <a:off x="8477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system image across independent compute nodes.</a:t>
            </a:r>
            <a:endParaRPr/>
          </a:p>
        </p:txBody>
      </p:sp>
      <p:sp>
        <p:nvSpPr>
          <p:cNvPr id="413" name="Google Shape;413;p31"/>
          <p:cNvSpPr txBox="1"/>
          <p:nvPr/>
        </p:nvSpPr>
        <p:spPr>
          <a:xfrm>
            <a:off x="3629025" y="3433762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OS</a:t>
            </a:r>
            <a:endParaRPr/>
          </a:p>
        </p:txBody>
      </p:sp>
      <p:sp>
        <p:nvSpPr>
          <p:cNvPr id="414" name="Google Shape;414;p31"/>
          <p:cNvSpPr txBox="1"/>
          <p:nvPr/>
        </p:nvSpPr>
        <p:spPr>
          <a:xfrm>
            <a:off x="3629025" y="3786187"/>
            <a:ext cx="2247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File and print sharing across distinct systems.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64103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Embedded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64103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Resource-constrained specialized microcontrollers.</a:t>
            </a:r>
            <a:endParaRPr/>
          </a:p>
        </p:txBody>
      </p:sp>
      <p:sp>
        <p:nvSpPr>
          <p:cNvPr id="417" name="Google Shape;417;p31"/>
          <p:cNvSpPr txBox="1"/>
          <p:nvPr/>
        </p:nvSpPr>
        <p:spPr>
          <a:xfrm>
            <a:off x="91916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Mobile OS</a:t>
            </a:r>
            <a:endParaRPr/>
          </a:p>
        </p:txBody>
      </p:sp>
      <p:sp>
        <p:nvSpPr>
          <p:cNvPr id="418" name="Google Shape;418;p31"/>
          <p:cNvSpPr txBox="1"/>
          <p:nvPr/>
        </p:nvSpPr>
        <p:spPr>
          <a:xfrm>
            <a:off x="91916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Touch interface with aggressive power management.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2"/>
          <p:cNvSpPr/>
          <p:nvPr/>
        </p:nvSpPr>
        <p:spPr>
          <a:xfrm>
            <a:off x="609600" y="3630810"/>
            <a:ext cx="2345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2954833" y="3630810"/>
            <a:ext cx="35059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6460777" y="3630810"/>
            <a:ext cx="26564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9117210" y="3630810"/>
            <a:ext cx="2465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609600" y="4107060"/>
            <a:ext cx="2345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2954833" y="4107060"/>
            <a:ext cx="35059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6460777" y="4107060"/>
            <a:ext cx="26564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9117210" y="4107060"/>
            <a:ext cx="2465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609600" y="4583310"/>
            <a:ext cx="2345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2954833" y="4583310"/>
            <a:ext cx="35059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6460777" y="4583310"/>
            <a:ext cx="26564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9117210" y="4583310"/>
            <a:ext cx="2465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609600" y="5059560"/>
            <a:ext cx="2345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2954833" y="5059560"/>
            <a:ext cx="35059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2"/>
          <p:cNvSpPr/>
          <p:nvPr/>
        </p:nvSpPr>
        <p:spPr>
          <a:xfrm>
            <a:off x="6460777" y="5059560"/>
            <a:ext cx="26564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9117210" y="5059560"/>
            <a:ext cx="2465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9" name="Google Shape;439;p32"/>
          <p:cNvGraphicFramePr/>
          <p:nvPr/>
        </p:nvGraphicFramePr>
        <p:xfrm>
          <a:off x="609600" y="27021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{832F71DA-9AE6-4F03-9BE0-5E4056E60F22}</a:tableStyleId>
              </a:tblPr>
              <a:tblGrid>
                <a:gridCol w="2345225"/>
                <a:gridCol w="3505950"/>
                <a:gridCol w="2656425"/>
                <a:gridCol w="246520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OS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Core 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Typical Hardware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Example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Real-Time (RTOS)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Deterministic response deadlines.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Embedded controllers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FreeRTOS / VxWorks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Desktop Multitasking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Preemptive scheduling &amp; rich GUI.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x86-64 / ARM PCs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Windows 11 / macOS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Mobile 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Touch-first, battery awareness.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SoC ARM processors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Android / 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Network / Server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concurrency, security policy.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Multi-socket rack servers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Linux / Windows Server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0" name="Google Shape;440;p3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1</a:t>
            </a:r>
            <a:endParaRPr/>
          </a:p>
        </p:txBody>
      </p:sp>
      <p:sp>
        <p:nvSpPr>
          <p:cNvPr id="441" name="Google Shape;441;p32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Comprehensive Category Comparison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"/>
          <p:cNvSpPr/>
          <p:nvPr/>
        </p:nvSpPr>
        <p:spPr>
          <a:xfrm>
            <a:off x="6096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3"/>
          <p:cNvSpPr/>
          <p:nvPr/>
        </p:nvSpPr>
        <p:spPr>
          <a:xfrm>
            <a:off x="43434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3"/>
          <p:cNvSpPr/>
          <p:nvPr/>
        </p:nvSpPr>
        <p:spPr>
          <a:xfrm>
            <a:off x="8077200" y="3075682"/>
            <a:ext cx="35052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9" name="Google Shape;4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5757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4575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337619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2</a:t>
            </a:r>
            <a:endParaRPr/>
          </a:p>
        </p:txBody>
      </p:sp>
      <p:sp>
        <p:nvSpPr>
          <p:cNvPr id="453" name="Google Shape;453;p33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Evolution of Computing Environments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1162050" y="3433762"/>
            <a:ext cx="34718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Standalone Computing</a:t>
            </a:r>
            <a:endParaRPr/>
          </a:p>
        </p:txBody>
      </p:sp>
      <p:sp>
        <p:nvSpPr>
          <p:cNvPr id="455" name="Google Shape;455;p33"/>
          <p:cNvSpPr txBox="1"/>
          <p:nvPr/>
        </p:nvSpPr>
        <p:spPr>
          <a:xfrm>
            <a:off x="8477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Self-contained workstation executing isolated local applications.</a:t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4914900" y="3433762"/>
            <a:ext cx="3452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Networked Era</a:t>
            </a:r>
            <a:endParaRPr/>
          </a:p>
        </p:txBody>
      </p:sp>
      <p:sp>
        <p:nvSpPr>
          <p:cNvPr id="457" name="Google Shape;457;p33"/>
          <p:cNvSpPr txBox="1"/>
          <p:nvPr/>
        </p:nvSpPr>
        <p:spPr>
          <a:xfrm>
            <a:off x="45815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Interconnected machines sharing storage and network resources.</a:t>
            </a:r>
            <a:endParaRPr/>
          </a:p>
        </p:txBody>
      </p:sp>
      <p:sp>
        <p:nvSpPr>
          <p:cNvPr id="458" name="Google Shape;458;p33"/>
          <p:cNvSpPr txBox="1"/>
          <p:nvPr/>
        </p:nvSpPr>
        <p:spPr>
          <a:xfrm>
            <a:off x="8648700" y="3313807"/>
            <a:ext cx="3452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&amp; Distributed</a:t>
            </a:r>
            <a:endParaRPr/>
          </a:p>
        </p:txBody>
      </p:sp>
      <p:sp>
        <p:nvSpPr>
          <p:cNvPr id="459" name="Google Shape;459;p33"/>
          <p:cNvSpPr txBox="1"/>
          <p:nvPr/>
        </p:nvSpPr>
        <p:spPr>
          <a:xfrm>
            <a:off x="8315325" y="3666232"/>
            <a:ext cx="31242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On-demand elastic infrastructure pools and remote runtime environments.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/>
          <p:nvPr/>
        </p:nvSpPr>
        <p:spPr>
          <a:xfrm>
            <a:off x="609600" y="2822376"/>
            <a:ext cx="5372100" cy="2055018"/>
          </a:xfrm>
          <a:prstGeom prst="roundRect">
            <a:avLst>
              <a:gd fmla="val 55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6210300" y="2942332"/>
            <a:ext cx="5372100" cy="1815107"/>
          </a:xfrm>
          <a:prstGeom prst="roundRect">
            <a:avLst>
              <a:gd fmla="val 62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847725" y="4083248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847725" y="4475559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6448425" y="3963292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6448425" y="4355603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0" name="Google Shape;4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8431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204269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2</a:t>
            </a:r>
            <a:endParaRPr/>
          </a:p>
        </p:txBody>
      </p:sp>
      <p:sp>
        <p:nvSpPr>
          <p:cNvPr id="473" name="Google Shape;473;p3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Client-Server vs. Peer-to-Peer Networks</a:t>
            </a:r>
            <a:endParaRPr/>
          </a:p>
        </p:txBody>
      </p:sp>
      <p:sp>
        <p:nvSpPr>
          <p:cNvPr id="474" name="Google Shape;474;p34"/>
          <p:cNvSpPr txBox="1"/>
          <p:nvPr/>
        </p:nvSpPr>
        <p:spPr>
          <a:xfrm>
            <a:off x="1133475" y="3060501"/>
            <a:ext cx="5834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Client-Server Architecture</a:t>
            </a:r>
            <a:endParaRPr/>
          </a:p>
        </p:txBody>
      </p:sp>
      <p:sp>
        <p:nvSpPr>
          <p:cNvPr id="475" name="Google Shape;475;p34"/>
          <p:cNvSpPr txBox="1"/>
          <p:nvPr/>
        </p:nvSpPr>
        <p:spPr>
          <a:xfrm>
            <a:off x="847725" y="3412926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server responds to thin/thick client service requests.</a:t>
            </a:r>
            <a:endParaRPr/>
          </a:p>
        </p:txBody>
      </p:sp>
      <p:sp>
        <p:nvSpPr>
          <p:cNvPr id="476" name="Google Shape;476;p34"/>
          <p:cNvSpPr txBox="1"/>
          <p:nvPr/>
        </p:nvSpPr>
        <p:spPr>
          <a:xfrm>
            <a:off x="6762750" y="3180457"/>
            <a:ext cx="5429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Peer-to-Peer (P2P)</a:t>
            </a:r>
            <a:endParaRPr/>
          </a:p>
        </p:txBody>
      </p:sp>
      <p:sp>
        <p:nvSpPr>
          <p:cNvPr id="477" name="Google Shape;477;p34"/>
          <p:cNvSpPr txBox="1"/>
          <p:nvPr/>
        </p:nvSpPr>
        <p:spPr>
          <a:xfrm>
            <a:off x="6448425" y="353288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Equipotent nodes acting simultaneously as client and server.</a:t>
            </a:r>
            <a:endParaRPr/>
          </a:p>
        </p:txBody>
      </p:sp>
      <p:sp>
        <p:nvSpPr>
          <p:cNvPr id="478" name="Google Shape;478;p34"/>
          <p:cNvSpPr txBox="1"/>
          <p:nvPr/>
        </p:nvSpPr>
        <p:spPr>
          <a:xfrm>
            <a:off x="847725" y="4083248"/>
            <a:ext cx="6119812" cy="16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authentication control.</a:t>
            </a:r>
            <a:endParaRPr/>
          </a:p>
        </p:txBody>
      </p:sp>
      <p:sp>
        <p:nvSpPr>
          <p:cNvPr id="479" name="Google Shape;479;p34"/>
          <p:cNvSpPr txBox="1"/>
          <p:nvPr/>
        </p:nvSpPr>
        <p:spPr>
          <a:xfrm>
            <a:off x="847725" y="4475559"/>
            <a:ext cx="6119812" cy="16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server availability required.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6448425" y="3963292"/>
            <a:ext cx="5743575" cy="16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Decentralized resource distribution.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6448425" y="4355603"/>
            <a:ext cx="5743575" cy="16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fault tolerance.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/>
          <p:nvPr/>
        </p:nvSpPr>
        <p:spPr>
          <a:xfrm>
            <a:off x="6096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4343400" y="3195637"/>
            <a:ext cx="3505200" cy="1308496"/>
          </a:xfrm>
          <a:prstGeom prst="roundRect">
            <a:avLst>
              <a:gd fmla="val 873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5"/>
          <p:cNvSpPr/>
          <p:nvPr/>
        </p:nvSpPr>
        <p:spPr>
          <a:xfrm>
            <a:off x="8077200" y="3056632"/>
            <a:ext cx="3505200" cy="1586507"/>
          </a:xfrm>
          <a:prstGeom prst="roundRect">
            <a:avLst>
              <a:gd fmla="val 720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9" name="Google Shape;48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575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45757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318569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2</a:t>
            </a:r>
            <a:endParaRPr/>
          </a:p>
        </p:txBody>
      </p:sp>
      <p:sp>
        <p:nvSpPr>
          <p:cNvPr id="493" name="Google Shape;493;p3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Virtualization &amp; Cloud Infrastructure</a:t>
            </a:r>
            <a:endParaRPr/>
          </a:p>
        </p:txBody>
      </p:sp>
      <p:sp>
        <p:nvSpPr>
          <p:cNvPr id="494" name="Google Shape;494;p35"/>
          <p:cNvSpPr txBox="1"/>
          <p:nvPr/>
        </p:nvSpPr>
        <p:spPr>
          <a:xfrm>
            <a:off x="1181100" y="3433762"/>
            <a:ext cx="3452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Type-1 Hypervisor</a:t>
            </a:r>
            <a:endParaRPr/>
          </a:p>
        </p:txBody>
      </p:sp>
      <p:sp>
        <p:nvSpPr>
          <p:cNvPr id="495" name="Google Shape;495;p35"/>
          <p:cNvSpPr txBox="1"/>
          <p:nvPr/>
        </p:nvSpPr>
        <p:spPr>
          <a:xfrm>
            <a:off x="8477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Bare-metal virtualizer executing directly on host hardware (e.g., ESXi).</a:t>
            </a:r>
            <a:endParaRPr/>
          </a:p>
        </p:txBody>
      </p:sp>
      <p:sp>
        <p:nvSpPr>
          <p:cNvPr id="496" name="Google Shape;496;p35"/>
          <p:cNvSpPr txBox="1"/>
          <p:nvPr/>
        </p:nvSpPr>
        <p:spPr>
          <a:xfrm>
            <a:off x="4895850" y="3433762"/>
            <a:ext cx="34718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Type-2 Hypervisor</a:t>
            </a:r>
            <a:endParaRPr/>
          </a:p>
        </p:txBody>
      </p:sp>
      <p:sp>
        <p:nvSpPr>
          <p:cNvPr id="497" name="Google Shape;497;p35"/>
          <p:cNvSpPr txBox="1"/>
          <p:nvPr/>
        </p:nvSpPr>
        <p:spPr>
          <a:xfrm>
            <a:off x="4581525" y="3786187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Hosted virtualizer running on top of an OS (e.g., VirtualBox).</a:t>
            </a:r>
            <a:endParaRPr/>
          </a:p>
        </p:txBody>
      </p:sp>
      <p:sp>
        <p:nvSpPr>
          <p:cNvPr id="498" name="Google Shape;498;p35"/>
          <p:cNvSpPr txBox="1"/>
          <p:nvPr/>
        </p:nvSpPr>
        <p:spPr>
          <a:xfrm>
            <a:off x="8648700" y="3294757"/>
            <a:ext cx="3452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Layers</a:t>
            </a:r>
            <a:endParaRPr/>
          </a:p>
        </p:txBody>
      </p:sp>
      <p:sp>
        <p:nvSpPr>
          <p:cNvPr id="499" name="Google Shape;499;p35"/>
          <p:cNvSpPr txBox="1"/>
          <p:nvPr/>
        </p:nvSpPr>
        <p:spPr>
          <a:xfrm>
            <a:off x="8315325" y="3647182"/>
            <a:ext cx="3786187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IaaS: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Raw Virtual Machines.</a:t>
            </a:r>
            <a:endParaRPr/>
          </a:p>
        </p:txBody>
      </p:sp>
      <p:sp>
        <p:nvSpPr>
          <p:cNvPr id="500" name="Google Shape;500;p35"/>
          <p:cNvSpPr txBox="1"/>
          <p:nvPr/>
        </p:nvSpPr>
        <p:spPr>
          <a:xfrm>
            <a:off x="8315325" y="3925192"/>
            <a:ext cx="31242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PaaS: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Managed runtime environments.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/>
          <p:nvPr/>
        </p:nvSpPr>
        <p:spPr>
          <a:xfrm>
            <a:off x="6096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33909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6"/>
          <p:cNvSpPr/>
          <p:nvPr/>
        </p:nvSpPr>
        <p:spPr>
          <a:xfrm>
            <a:off x="61722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8953500" y="3075682"/>
            <a:ext cx="2628900" cy="1548407"/>
          </a:xfrm>
          <a:prstGeom prst="roundRect">
            <a:avLst>
              <a:gd fmla="val 73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3</a:t>
            </a:r>
            <a:endParaRPr/>
          </a:p>
        </p:txBody>
      </p:sp>
      <p:sp>
        <p:nvSpPr>
          <p:cNvPr id="510" name="Google Shape;510;p3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Milestones in OS History</a:t>
            </a:r>
            <a:endParaRPr/>
          </a:p>
        </p:txBody>
      </p:sp>
      <p:sp>
        <p:nvSpPr>
          <p:cNvPr id="511" name="Google Shape;511;p36"/>
          <p:cNvSpPr txBox="1"/>
          <p:nvPr/>
        </p:nvSpPr>
        <p:spPr>
          <a:xfrm>
            <a:off x="8477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1969</a:t>
            </a:r>
            <a:endParaRPr/>
          </a:p>
        </p:txBody>
      </p:sp>
      <p:sp>
        <p:nvSpPr>
          <p:cNvPr id="512" name="Google Shape;512;p36"/>
          <p:cNvSpPr txBox="1"/>
          <p:nvPr/>
        </p:nvSpPr>
        <p:spPr>
          <a:xfrm>
            <a:off x="8477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UNIX Created: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Bell Labs introduces portable multi-user OS.</a:t>
            </a:r>
            <a:endParaRPr/>
          </a:p>
        </p:txBody>
      </p:sp>
      <p:sp>
        <p:nvSpPr>
          <p:cNvPr id="513" name="Google Shape;513;p36"/>
          <p:cNvSpPr txBox="1"/>
          <p:nvPr/>
        </p:nvSpPr>
        <p:spPr>
          <a:xfrm>
            <a:off x="36290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1981</a:t>
            </a:r>
            <a:endParaRPr/>
          </a:p>
        </p:txBody>
      </p:sp>
      <p:sp>
        <p:nvSpPr>
          <p:cNvPr id="514" name="Google Shape;514;p36"/>
          <p:cNvSpPr txBox="1"/>
          <p:nvPr/>
        </p:nvSpPr>
        <p:spPr>
          <a:xfrm>
            <a:off x="36290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MS-DOS: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Standard CLI platform for IBM PC hardware.</a:t>
            </a:r>
            <a:endParaRPr/>
          </a:p>
        </p:txBody>
      </p:sp>
      <p:sp>
        <p:nvSpPr>
          <p:cNvPr id="515" name="Google Shape;515;p36"/>
          <p:cNvSpPr txBox="1"/>
          <p:nvPr/>
        </p:nvSpPr>
        <p:spPr>
          <a:xfrm>
            <a:off x="64103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1985 / 1993</a:t>
            </a:r>
            <a:endParaRPr/>
          </a:p>
        </p:txBody>
      </p:sp>
      <p:sp>
        <p:nvSpPr>
          <p:cNvPr id="516" name="Google Shape;516;p36"/>
          <p:cNvSpPr txBox="1"/>
          <p:nvPr/>
        </p:nvSpPr>
        <p:spPr>
          <a:xfrm>
            <a:off x="64103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Windows: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Emergence of GUI shell and Windows NT kernel.</a:t>
            </a:r>
            <a:endParaRPr/>
          </a:p>
        </p:txBody>
      </p:sp>
      <p:sp>
        <p:nvSpPr>
          <p:cNvPr id="517" name="Google Shape;517;p36"/>
          <p:cNvSpPr txBox="1"/>
          <p:nvPr/>
        </p:nvSpPr>
        <p:spPr>
          <a:xfrm>
            <a:off x="9191625" y="3313807"/>
            <a:ext cx="269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1991</a:t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9191625" y="3666232"/>
            <a:ext cx="22479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Linux Kernel: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Open-source monolithic kernel released.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7"/>
          <p:cNvSpPr/>
          <p:nvPr/>
        </p:nvSpPr>
        <p:spPr>
          <a:xfrm>
            <a:off x="609600" y="2506265"/>
            <a:ext cx="5372100" cy="2687240"/>
          </a:xfrm>
          <a:prstGeom prst="roundRect">
            <a:avLst>
              <a:gd fmla="val 42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7"/>
          <p:cNvSpPr/>
          <p:nvPr/>
        </p:nvSpPr>
        <p:spPr>
          <a:xfrm>
            <a:off x="6210300" y="2999482"/>
            <a:ext cx="5372100" cy="1700807"/>
          </a:xfrm>
          <a:prstGeom prst="roundRect">
            <a:avLst>
              <a:gd fmla="val 67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7"/>
          <p:cNvSpPr/>
          <p:nvPr/>
        </p:nvSpPr>
        <p:spPr>
          <a:xfrm>
            <a:off x="847725" y="3287315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7"/>
          <p:cNvSpPr/>
          <p:nvPr/>
        </p:nvSpPr>
        <p:spPr>
          <a:xfrm>
            <a:off x="847725" y="3919537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7"/>
          <p:cNvSpPr/>
          <p:nvPr/>
        </p:nvSpPr>
        <p:spPr>
          <a:xfrm>
            <a:off x="847725" y="4551759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8" name="Google Shape;5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768203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261419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4</a:t>
            </a:r>
            <a:endParaRPr/>
          </a:p>
        </p:txBody>
      </p:sp>
      <p:sp>
        <p:nvSpPr>
          <p:cNvPr id="531" name="Google Shape;531;p3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UNIX Architecture</a:t>
            </a:r>
            <a:endParaRPr/>
          </a:p>
        </p:txBody>
      </p:sp>
      <p:sp>
        <p:nvSpPr>
          <p:cNvPr id="532" name="Google Shape;532;p37"/>
          <p:cNvSpPr txBox="1"/>
          <p:nvPr/>
        </p:nvSpPr>
        <p:spPr>
          <a:xfrm>
            <a:off x="1162050" y="2744390"/>
            <a:ext cx="5805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UNIX Heritage &amp; Philosophy</a:t>
            </a:r>
            <a:endParaRPr/>
          </a:p>
        </p:txBody>
      </p:sp>
      <p:sp>
        <p:nvSpPr>
          <p:cNvPr id="533" name="Google Shape;533;p37"/>
          <p:cNvSpPr txBox="1"/>
          <p:nvPr/>
        </p:nvSpPr>
        <p:spPr>
          <a:xfrm>
            <a:off x="6715125" y="3237607"/>
            <a:ext cx="54768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UNIX System Layers</a:t>
            </a:r>
            <a:endParaRPr/>
          </a:p>
        </p:txBody>
      </p:sp>
      <p:sp>
        <p:nvSpPr>
          <p:cNvPr id="534" name="Google Shape;534;p37"/>
          <p:cNvSpPr txBox="1"/>
          <p:nvPr/>
        </p:nvSpPr>
        <p:spPr>
          <a:xfrm>
            <a:off x="6448425" y="359003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Kernel: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Memory, process, and device control.</a:t>
            </a:r>
            <a:endParaRPr/>
          </a:p>
        </p:txBody>
      </p:sp>
      <p:sp>
        <p:nvSpPr>
          <p:cNvPr id="535" name="Google Shape;535;p37"/>
          <p:cNvSpPr txBox="1"/>
          <p:nvPr/>
        </p:nvSpPr>
        <p:spPr>
          <a:xfrm>
            <a:off x="6448425" y="390614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Shell: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Command interpreter (sh, bash).</a:t>
            </a:r>
            <a:endParaRPr/>
          </a:p>
        </p:txBody>
      </p:sp>
      <p:sp>
        <p:nvSpPr>
          <p:cNvPr id="536" name="Google Shape;536;p37"/>
          <p:cNvSpPr txBox="1"/>
          <p:nvPr/>
        </p:nvSpPr>
        <p:spPr>
          <a:xfrm>
            <a:off x="6448425" y="4222253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Utilities: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grep, awk, sed, find.</a:t>
            </a:r>
            <a:endParaRPr/>
          </a:p>
        </p:txBody>
      </p:sp>
      <p:sp>
        <p:nvSpPr>
          <p:cNvPr id="537" name="Google Shape;537;p37"/>
          <p:cNvSpPr txBox="1"/>
          <p:nvPr/>
        </p:nvSpPr>
        <p:spPr>
          <a:xfrm>
            <a:off x="847725" y="3287315"/>
            <a:ext cx="4991100" cy="403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Developed at Bell Labs in 1969 (Ken Thompson &amp; Dennis Ritchie).</a:t>
            </a:r>
            <a:endParaRPr/>
          </a:p>
        </p:txBody>
      </p:sp>
      <p:sp>
        <p:nvSpPr>
          <p:cNvPr id="538" name="Google Shape;538;p37"/>
          <p:cNvSpPr txBox="1"/>
          <p:nvPr/>
        </p:nvSpPr>
        <p:spPr>
          <a:xfrm>
            <a:off x="847725" y="3919537"/>
            <a:ext cx="4991100" cy="403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Rewritten in C language (1972) for unmatched hardware portability.</a:t>
            </a:r>
            <a:endParaRPr/>
          </a:p>
        </p:txBody>
      </p:sp>
      <p:sp>
        <p:nvSpPr>
          <p:cNvPr id="539" name="Google Shape;539;p37"/>
          <p:cNvSpPr txBox="1"/>
          <p:nvPr/>
        </p:nvSpPr>
        <p:spPr>
          <a:xfrm>
            <a:off x="847725" y="4551759"/>
            <a:ext cx="4991100" cy="403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Philosophy: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Build small, composable tools that do one thing well.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8"/>
          <p:cNvSpPr/>
          <p:nvPr/>
        </p:nvSpPr>
        <p:spPr>
          <a:xfrm>
            <a:off x="609600" y="2491680"/>
            <a:ext cx="5372100" cy="2716410"/>
          </a:xfrm>
          <a:prstGeom prst="roundRect">
            <a:avLst>
              <a:gd fmla="val 42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8"/>
          <p:cNvSpPr/>
          <p:nvPr/>
        </p:nvSpPr>
        <p:spPr>
          <a:xfrm>
            <a:off x="6210300" y="2822376"/>
            <a:ext cx="5372100" cy="2055018"/>
          </a:xfrm>
          <a:prstGeom prst="roundRect">
            <a:avLst>
              <a:gd fmla="val 55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8"/>
          <p:cNvSpPr/>
          <p:nvPr/>
        </p:nvSpPr>
        <p:spPr>
          <a:xfrm>
            <a:off x="847725" y="3445966"/>
            <a:ext cx="4895850" cy="1524000"/>
          </a:xfrm>
          <a:prstGeom prst="roundRect">
            <a:avLst>
              <a:gd fmla="val 5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47" name="Google Shape;54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75361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8" name="Google Shape;54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084314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4</a:t>
            </a:r>
            <a:endParaRPr/>
          </a:p>
        </p:txBody>
      </p:sp>
      <p:sp>
        <p:nvSpPr>
          <p:cNvPr id="550" name="Google Shape;550;p3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UNIX File System &amp; Command Interface</a:t>
            </a:r>
            <a:endParaRPr/>
          </a:p>
        </p:txBody>
      </p:sp>
      <p:sp>
        <p:nvSpPr>
          <p:cNvPr id="551" name="Google Shape;551;p38"/>
          <p:cNvSpPr txBox="1"/>
          <p:nvPr/>
        </p:nvSpPr>
        <p:spPr>
          <a:xfrm>
            <a:off x="1162050" y="2729805"/>
            <a:ext cx="58054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Hierarchical Directory Tree</a:t>
            </a:r>
            <a:endParaRPr/>
          </a:p>
        </p:txBody>
      </p:sp>
      <p:sp>
        <p:nvSpPr>
          <p:cNvPr id="552" name="Google Shape;552;p38"/>
          <p:cNvSpPr txBox="1"/>
          <p:nvPr/>
        </p:nvSpPr>
        <p:spPr>
          <a:xfrm>
            <a:off x="847725" y="3082230"/>
            <a:ext cx="6119812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Everything is represented as a file under the root directory (/).</a:t>
            </a:r>
            <a:endParaRPr/>
          </a:p>
        </p:txBody>
      </p:sp>
      <p:sp>
        <p:nvSpPr>
          <p:cNvPr id="553" name="Google Shape;553;p38"/>
          <p:cNvSpPr txBox="1"/>
          <p:nvPr/>
        </p:nvSpPr>
        <p:spPr>
          <a:xfrm>
            <a:off x="1038225" y="3636466"/>
            <a:ext cx="461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bin/ (essential binaries)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etc/ (system configuration)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├── home/ (user home directories)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└── dev/ (device representations)</a:t>
            </a:r>
            <a:endParaRPr/>
          </a:p>
        </p:txBody>
      </p:sp>
      <p:sp>
        <p:nvSpPr>
          <p:cNvPr id="554" name="Google Shape;554;p38"/>
          <p:cNvSpPr txBox="1"/>
          <p:nvPr/>
        </p:nvSpPr>
        <p:spPr>
          <a:xfrm>
            <a:off x="6781800" y="3060501"/>
            <a:ext cx="54102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Essential Shell Commands</a:t>
            </a:r>
            <a:endParaRPr/>
          </a:p>
        </p:txBody>
      </p:sp>
      <p:sp>
        <p:nvSpPr>
          <p:cNvPr id="555" name="Google Shape;555;p38"/>
          <p:cNvSpPr txBox="1"/>
          <p:nvPr/>
        </p:nvSpPr>
        <p:spPr>
          <a:xfrm>
            <a:off x="6448425" y="3412926"/>
            <a:ext cx="57435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pwd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 Print working directory path.</a:t>
            </a:r>
            <a:endParaRPr/>
          </a:p>
        </p:txBody>
      </p:sp>
      <p:sp>
        <p:nvSpPr>
          <p:cNvPr id="556" name="Google Shape;556;p38"/>
          <p:cNvSpPr txBox="1"/>
          <p:nvPr/>
        </p:nvSpPr>
        <p:spPr>
          <a:xfrm>
            <a:off x="6448425" y="3738562"/>
            <a:ext cx="57435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ls -la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 List directory contents with metadata.</a:t>
            </a:r>
            <a:endParaRPr/>
          </a:p>
        </p:txBody>
      </p:sp>
      <p:sp>
        <p:nvSpPr>
          <p:cNvPr id="557" name="Google Shape;557;p38"/>
          <p:cNvSpPr txBox="1"/>
          <p:nvPr/>
        </p:nvSpPr>
        <p:spPr>
          <a:xfrm>
            <a:off x="6448425" y="4064198"/>
            <a:ext cx="57435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cd /var/log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 Change current directory context.</a:t>
            </a:r>
            <a:endParaRPr/>
          </a:p>
        </p:txBody>
      </p:sp>
      <p:sp>
        <p:nvSpPr>
          <p:cNvPr id="558" name="Google Shape;558;p38"/>
          <p:cNvSpPr txBox="1"/>
          <p:nvPr/>
        </p:nvSpPr>
        <p:spPr>
          <a:xfrm>
            <a:off x="6448425" y="4389834"/>
            <a:ext cx="57435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mkdir project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 Create new directory node.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9"/>
          <p:cNvSpPr/>
          <p:nvPr/>
        </p:nvSpPr>
        <p:spPr>
          <a:xfrm>
            <a:off x="609600" y="2639615"/>
            <a:ext cx="5372100" cy="2420540"/>
          </a:xfrm>
          <a:prstGeom prst="roundRect">
            <a:avLst>
              <a:gd fmla="val 47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9"/>
          <p:cNvSpPr/>
          <p:nvPr/>
        </p:nvSpPr>
        <p:spPr>
          <a:xfrm>
            <a:off x="6210300" y="2985194"/>
            <a:ext cx="5372100" cy="1729382"/>
          </a:xfrm>
          <a:prstGeom prst="roundRect">
            <a:avLst>
              <a:gd fmla="val 66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65" name="Google Shape;56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8425" y="324713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5</a:t>
            </a:r>
            <a:endParaRPr/>
          </a:p>
        </p:txBody>
      </p:sp>
      <p:sp>
        <p:nvSpPr>
          <p:cNvPr id="567" name="Google Shape;567;p3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MS-DOS</a:t>
            </a:r>
            <a:endParaRPr/>
          </a:p>
        </p:txBody>
      </p:sp>
      <p:sp>
        <p:nvSpPr>
          <p:cNvPr id="568" name="Google Shape;568;p39"/>
          <p:cNvSpPr txBox="1"/>
          <p:nvPr/>
        </p:nvSpPr>
        <p:spPr>
          <a:xfrm>
            <a:off x="942975" y="2877740"/>
            <a:ext cx="60245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Characteristics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847725" y="3230165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Single-User Single-Tasking: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Only one application executes at a time.</a:t>
            </a:r>
            <a:endParaRPr/>
          </a:p>
        </p:txBody>
      </p:sp>
      <p:sp>
        <p:nvSpPr>
          <p:cNvPr id="570" name="Google Shape;570;p39"/>
          <p:cNvSpPr txBox="1"/>
          <p:nvPr/>
        </p:nvSpPr>
        <p:spPr>
          <a:xfrm>
            <a:off x="847725" y="3786187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 Mode Execution: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16-bit addressing with 640 KB conventional RAM limit.</a:t>
            </a: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847725" y="4342209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Memory Protection: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Applications could overwrite OS memory space.</a:t>
            </a:r>
            <a:endParaRPr/>
          </a:p>
        </p:txBody>
      </p:sp>
      <p:sp>
        <p:nvSpPr>
          <p:cNvPr id="572" name="Google Shape;572;p39"/>
          <p:cNvSpPr txBox="1"/>
          <p:nvPr/>
        </p:nvSpPr>
        <p:spPr>
          <a:xfrm>
            <a:off x="6762750" y="3223319"/>
            <a:ext cx="5429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COMMAND.COM Opcodes</a:t>
            </a:r>
            <a:endParaRPr/>
          </a:p>
        </p:txBody>
      </p:sp>
      <p:sp>
        <p:nvSpPr>
          <p:cNvPr id="573" name="Google Shape;573;p39"/>
          <p:cNvSpPr txBox="1"/>
          <p:nvPr/>
        </p:nvSpPr>
        <p:spPr>
          <a:xfrm>
            <a:off x="6448425" y="3575744"/>
            <a:ext cx="57435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 C:\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 Display directory file listing.</a:t>
            </a:r>
            <a:endParaRPr/>
          </a:p>
        </p:txBody>
      </p:sp>
      <p:sp>
        <p:nvSpPr>
          <p:cNvPr id="574" name="Google Shape;574;p39"/>
          <p:cNvSpPr txBox="1"/>
          <p:nvPr/>
        </p:nvSpPr>
        <p:spPr>
          <a:xfrm>
            <a:off x="6448425" y="3901380"/>
            <a:ext cx="57435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COPY A.TXT B.TXT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 Duplicate file contents.</a:t>
            </a:r>
            <a:endParaRPr/>
          </a:p>
        </p:txBody>
      </p:sp>
      <p:sp>
        <p:nvSpPr>
          <p:cNvPr id="575" name="Google Shape;575;p39"/>
          <p:cNvSpPr txBox="1"/>
          <p:nvPr/>
        </p:nvSpPr>
        <p:spPr>
          <a:xfrm>
            <a:off x="6448425" y="4227016"/>
            <a:ext cx="5743575" cy="24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MD DATA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: Create new file directory.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0"/>
          <p:cNvSpPr/>
          <p:nvPr/>
        </p:nvSpPr>
        <p:spPr>
          <a:xfrm>
            <a:off x="609600" y="2639615"/>
            <a:ext cx="5372100" cy="2420540"/>
          </a:xfrm>
          <a:prstGeom prst="roundRect">
            <a:avLst>
              <a:gd fmla="val 47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0"/>
          <p:cNvSpPr/>
          <p:nvPr/>
        </p:nvSpPr>
        <p:spPr>
          <a:xfrm>
            <a:off x="6210300" y="2759571"/>
            <a:ext cx="5372100" cy="2180629"/>
          </a:xfrm>
          <a:prstGeom prst="roundRect">
            <a:avLst>
              <a:gd fmla="val 52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82" name="Google Shape;58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90155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3" name="Google Shape;58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021508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6</a:t>
            </a:r>
            <a:endParaRPr/>
          </a:p>
        </p:txBody>
      </p:sp>
      <p:sp>
        <p:nvSpPr>
          <p:cNvPr id="585" name="Google Shape;585;p4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Microsoft Windows Architecture</a:t>
            </a:r>
            <a:endParaRPr/>
          </a:p>
        </p:txBody>
      </p:sp>
      <p:sp>
        <p:nvSpPr>
          <p:cNvPr id="586" name="Google Shape;586;p40"/>
          <p:cNvSpPr txBox="1"/>
          <p:nvPr/>
        </p:nvSpPr>
        <p:spPr>
          <a:xfrm>
            <a:off x="1133475" y="2877740"/>
            <a:ext cx="5834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Architectural Evolution</a:t>
            </a:r>
            <a:endParaRPr/>
          </a:p>
        </p:txBody>
      </p:sp>
      <p:sp>
        <p:nvSpPr>
          <p:cNvPr id="587" name="Google Shape;587;p40"/>
          <p:cNvSpPr txBox="1"/>
          <p:nvPr/>
        </p:nvSpPr>
        <p:spPr>
          <a:xfrm>
            <a:off x="847725" y="3230165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Early GUI Shells (1.0–3.1):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Graphical frontend running on top of MS-DOS.</a:t>
            </a:r>
            <a:endParaRPr/>
          </a:p>
        </p:txBody>
      </p:sp>
      <p:sp>
        <p:nvSpPr>
          <p:cNvPr id="588" name="Google Shape;588;p40"/>
          <p:cNvSpPr txBox="1"/>
          <p:nvPr/>
        </p:nvSpPr>
        <p:spPr>
          <a:xfrm>
            <a:off x="847725" y="3786187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Windows NT Architecture: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32/64-bit preemptive multitasking kernel.</a:t>
            </a:r>
            <a:endParaRPr/>
          </a:p>
        </p:txBody>
      </p:sp>
      <p:sp>
        <p:nvSpPr>
          <p:cNvPr id="589" name="Google Shape;589;p40"/>
          <p:cNvSpPr txBox="1"/>
          <p:nvPr/>
        </p:nvSpPr>
        <p:spPr>
          <a:xfrm>
            <a:off x="847725" y="4342209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Kernel: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Combines microkernel modularity with monolithic execution speed.</a:t>
            </a:r>
            <a:endParaRPr/>
          </a:p>
        </p:txBody>
      </p:sp>
      <p:sp>
        <p:nvSpPr>
          <p:cNvPr id="590" name="Google Shape;590;p40"/>
          <p:cNvSpPr txBox="1"/>
          <p:nvPr/>
        </p:nvSpPr>
        <p:spPr>
          <a:xfrm>
            <a:off x="6781800" y="2997696"/>
            <a:ext cx="54102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Modern Services</a:t>
            </a:r>
            <a:endParaRPr/>
          </a:p>
        </p:txBody>
      </p:sp>
      <p:sp>
        <p:nvSpPr>
          <p:cNvPr id="591" name="Google Shape;591;p40"/>
          <p:cNvSpPr txBox="1"/>
          <p:nvPr/>
        </p:nvSpPr>
        <p:spPr>
          <a:xfrm>
            <a:off x="6448425" y="3350121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Win32 API: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Standard developer subsystem subsystem interface.</a:t>
            </a:r>
            <a:endParaRPr/>
          </a:p>
        </p:txBody>
      </p:sp>
      <p:sp>
        <p:nvSpPr>
          <p:cNvPr id="592" name="Google Shape;592;p40"/>
          <p:cNvSpPr txBox="1"/>
          <p:nvPr/>
        </p:nvSpPr>
        <p:spPr>
          <a:xfrm>
            <a:off x="6448425" y="390614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NTFS File System: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Journaling, ACL security, access controls.</a:t>
            </a:r>
            <a:endParaRPr/>
          </a:p>
        </p:txBody>
      </p:sp>
      <p:sp>
        <p:nvSpPr>
          <p:cNvPr id="593" name="Google Shape;593;p40"/>
          <p:cNvSpPr txBox="1"/>
          <p:nvPr/>
        </p:nvSpPr>
        <p:spPr>
          <a:xfrm>
            <a:off x="6448425" y="4222253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Plug and Play (PnP):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Dynamic driver load and hardware detection.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/>
          <p:nvPr/>
        </p:nvSpPr>
        <p:spPr>
          <a:xfrm>
            <a:off x="609600" y="3630810"/>
            <a:ext cx="1857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1"/>
          <p:cNvSpPr/>
          <p:nvPr/>
        </p:nvSpPr>
        <p:spPr>
          <a:xfrm>
            <a:off x="2467272" y="3630810"/>
            <a:ext cx="28682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1"/>
          <p:cNvSpPr/>
          <p:nvPr/>
        </p:nvSpPr>
        <p:spPr>
          <a:xfrm>
            <a:off x="5335488" y="3630810"/>
            <a:ext cx="3164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/>
          <p:cNvSpPr/>
          <p:nvPr/>
        </p:nvSpPr>
        <p:spPr>
          <a:xfrm>
            <a:off x="8499723" y="3630810"/>
            <a:ext cx="3082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1"/>
          <p:cNvSpPr/>
          <p:nvPr/>
        </p:nvSpPr>
        <p:spPr>
          <a:xfrm>
            <a:off x="609600" y="4107060"/>
            <a:ext cx="1857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1"/>
          <p:cNvSpPr/>
          <p:nvPr/>
        </p:nvSpPr>
        <p:spPr>
          <a:xfrm>
            <a:off x="2467272" y="4107060"/>
            <a:ext cx="28682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1"/>
          <p:cNvSpPr/>
          <p:nvPr/>
        </p:nvSpPr>
        <p:spPr>
          <a:xfrm>
            <a:off x="5335488" y="4107060"/>
            <a:ext cx="3164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1"/>
          <p:cNvSpPr/>
          <p:nvPr/>
        </p:nvSpPr>
        <p:spPr>
          <a:xfrm>
            <a:off x="8499723" y="4107060"/>
            <a:ext cx="3082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1"/>
          <p:cNvSpPr/>
          <p:nvPr/>
        </p:nvSpPr>
        <p:spPr>
          <a:xfrm>
            <a:off x="609600" y="4583310"/>
            <a:ext cx="1857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1"/>
          <p:cNvSpPr/>
          <p:nvPr/>
        </p:nvSpPr>
        <p:spPr>
          <a:xfrm>
            <a:off x="2467272" y="4583310"/>
            <a:ext cx="28682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1"/>
          <p:cNvSpPr/>
          <p:nvPr/>
        </p:nvSpPr>
        <p:spPr>
          <a:xfrm>
            <a:off x="5335488" y="4583310"/>
            <a:ext cx="3164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1"/>
          <p:cNvSpPr/>
          <p:nvPr/>
        </p:nvSpPr>
        <p:spPr>
          <a:xfrm>
            <a:off x="8499723" y="4583310"/>
            <a:ext cx="3082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1"/>
          <p:cNvSpPr/>
          <p:nvPr/>
        </p:nvSpPr>
        <p:spPr>
          <a:xfrm>
            <a:off x="609600" y="5059560"/>
            <a:ext cx="18576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1"/>
          <p:cNvSpPr/>
          <p:nvPr/>
        </p:nvSpPr>
        <p:spPr>
          <a:xfrm>
            <a:off x="2467272" y="5059560"/>
            <a:ext cx="28682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1"/>
          <p:cNvSpPr/>
          <p:nvPr/>
        </p:nvSpPr>
        <p:spPr>
          <a:xfrm>
            <a:off x="5335488" y="5059560"/>
            <a:ext cx="3164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1"/>
          <p:cNvSpPr/>
          <p:nvPr/>
        </p:nvSpPr>
        <p:spPr>
          <a:xfrm>
            <a:off x="8499723" y="5059560"/>
            <a:ext cx="3082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4" name="Google Shape;614;p41"/>
          <p:cNvGraphicFramePr/>
          <p:nvPr/>
        </p:nvGraphicFramePr>
        <p:xfrm>
          <a:off x="609600" y="27021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{832F71DA-9AE6-4F03-9BE0-5E4056E60F22}</a:tableStyleId>
              </a:tblPr>
              <a:tblGrid>
                <a:gridCol w="1857675"/>
                <a:gridCol w="2868225"/>
                <a:gridCol w="3164225"/>
                <a:gridCol w="3082675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MS-DOS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Microsoft Windows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Execution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Multi-user, Multitasking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Single-user, Single-tasking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Multi-user, Preemptive Multitasking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Interface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Command Line Shell (CLI)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Command Line (COMMAND.COM)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Graphical User Interface (GUI)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Memory Protection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Hardware Protected Page Tables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None (Direct Real Mode RAM access)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Virtual Memory with Paging Isolation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Kernel 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Monolithic (Modular)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Monolithic (Basic BIOS wrapper)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Microkernel / Executive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5" name="Google Shape;615;p4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2: TOPIC 4–6</a:t>
            </a:r>
            <a:endParaRPr/>
          </a:p>
        </p:txBody>
      </p:sp>
      <p:sp>
        <p:nvSpPr>
          <p:cNvPr id="616" name="Google Shape;616;p4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UNIX vs. MS-DOS vs. Windows Comparison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2"/>
          <p:cNvSpPr/>
          <p:nvPr/>
        </p:nvSpPr>
        <p:spPr>
          <a:xfrm>
            <a:off x="609600" y="2879526"/>
            <a:ext cx="5372100" cy="1940718"/>
          </a:xfrm>
          <a:prstGeom prst="roundRect">
            <a:avLst>
              <a:gd fmla="val 5889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2"/>
          <p:cNvSpPr/>
          <p:nvPr/>
        </p:nvSpPr>
        <p:spPr>
          <a:xfrm>
            <a:off x="6210300" y="2759571"/>
            <a:ext cx="5372100" cy="2180629"/>
          </a:xfrm>
          <a:prstGeom prst="roundRect">
            <a:avLst>
              <a:gd fmla="val 524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23" name="Google Shape;6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14146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4" name="Google Shape;62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02150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&amp; RECAP</a:t>
            </a:r>
            <a:endParaRPr/>
          </a:p>
        </p:txBody>
      </p:sp>
      <p:sp>
        <p:nvSpPr>
          <p:cNvPr id="626" name="Google Shape;626;p42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Takeaways &amp; Review Questions</a:t>
            </a:r>
            <a:endParaRPr/>
          </a:p>
        </p:txBody>
      </p:sp>
      <p:sp>
        <p:nvSpPr>
          <p:cNvPr id="627" name="Google Shape;627;p42"/>
          <p:cNvSpPr txBox="1"/>
          <p:nvPr/>
        </p:nvSpPr>
        <p:spPr>
          <a:xfrm>
            <a:off x="1133475" y="3117651"/>
            <a:ext cx="5834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Takeaways</a:t>
            </a:r>
            <a:endParaRPr/>
          </a:p>
        </p:txBody>
      </p:sp>
      <p:sp>
        <p:nvSpPr>
          <p:cNvPr id="628" name="Google Shape;628;p42"/>
          <p:cNvSpPr txBox="1"/>
          <p:nvPr/>
        </p:nvSpPr>
        <p:spPr>
          <a:xfrm>
            <a:off x="847725" y="3470076"/>
            <a:ext cx="611981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OS is a resource allocator and hardware control program.</a:t>
            </a:r>
            <a:endParaRPr/>
          </a:p>
        </p:txBody>
      </p:sp>
      <p:sp>
        <p:nvSpPr>
          <p:cNvPr id="629" name="Google Shape;629;p42"/>
          <p:cNvSpPr txBox="1"/>
          <p:nvPr/>
        </p:nvSpPr>
        <p:spPr>
          <a:xfrm>
            <a:off x="847725" y="3786187"/>
            <a:ext cx="611981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Evolution moved from batch jobs to time-sharing &amp; cloud.</a:t>
            </a:r>
            <a:endParaRPr/>
          </a:p>
        </p:txBody>
      </p:sp>
      <p:sp>
        <p:nvSpPr>
          <p:cNvPr id="630" name="Google Shape;630;p42"/>
          <p:cNvSpPr txBox="1"/>
          <p:nvPr/>
        </p:nvSpPr>
        <p:spPr>
          <a:xfrm>
            <a:off x="847725" y="4102298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Operating system platforms trade off simplicity and capability.</a:t>
            </a:r>
            <a:endParaRPr/>
          </a:p>
        </p:txBody>
      </p:sp>
      <p:sp>
        <p:nvSpPr>
          <p:cNvPr id="631" name="Google Shape;631;p42"/>
          <p:cNvSpPr txBox="1"/>
          <p:nvPr/>
        </p:nvSpPr>
        <p:spPr>
          <a:xfrm>
            <a:off x="6734175" y="2997696"/>
            <a:ext cx="54578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 Review Questions</a:t>
            </a:r>
            <a:endParaRPr/>
          </a:p>
        </p:txBody>
      </p:sp>
      <p:sp>
        <p:nvSpPr>
          <p:cNvPr id="632" name="Google Shape;632;p42"/>
          <p:cNvSpPr txBox="1"/>
          <p:nvPr/>
        </p:nvSpPr>
        <p:spPr>
          <a:xfrm>
            <a:off x="6448425" y="3350121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Q1: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Differentiate multiprogramming from time-sharing systems.</a:t>
            </a:r>
            <a:endParaRPr/>
          </a:p>
        </p:txBody>
      </p:sp>
      <p:sp>
        <p:nvSpPr>
          <p:cNvPr id="633" name="Google Shape;633;p42"/>
          <p:cNvSpPr txBox="1"/>
          <p:nvPr/>
        </p:nvSpPr>
        <p:spPr>
          <a:xfrm>
            <a:off x="6448425" y="3906142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Q2: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How do hardware interrupts assist OS I/O operations?</a:t>
            </a:r>
            <a:endParaRPr/>
          </a:p>
        </p:txBody>
      </p:sp>
      <p:sp>
        <p:nvSpPr>
          <p:cNvPr id="634" name="Google Shape;634;p42"/>
          <p:cNvSpPr txBox="1"/>
          <p:nvPr/>
        </p:nvSpPr>
        <p:spPr>
          <a:xfrm>
            <a:off x="6448425" y="4222253"/>
            <a:ext cx="49911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Q3: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Contrast MS-DOS real-mode with Windows NT virtual memory.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