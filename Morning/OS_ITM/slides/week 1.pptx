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658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961120" y="0"/>
            <a:ext cx="685800" cy="685800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9646920" y="0"/>
            <a:ext cx="685800" cy="6858000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332720" y="0"/>
            <a:ext cx="685800" cy="6858000"/>
          </a:xfrm>
          <a:prstGeom prst="rect">
            <a:avLst/>
          </a:prstGeom>
          <a:solidFill>
            <a:srgbClr val="EFB1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7955279" cy="164592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3700" b="1">
                <a:solidFill>
                  <a:srgbClr val="FFFFFF"/>
                </a:solidFill>
                <a:latin typeface="Aptos"/>
              </a:defRPr>
            </a:pPr>
            <a:r>
              <a:t>OPERATING</a:t>
            </a:r>
            <a:br/>
            <a:r>
              <a:t>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7863840" cy="5943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BFE2EB"/>
                </a:solidFill>
                <a:latin typeface="Aptos"/>
              </a:defRPr>
            </a:pPr>
            <a:r>
              <a:t>Introduction &amp; Background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886200"/>
            <a:ext cx="7223760" cy="36576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1">
                <a:solidFill>
                  <a:srgbClr val="EFB134"/>
                </a:solidFill>
                <a:latin typeface="Aptos"/>
              </a:defRPr>
            </a:pPr>
            <a:r>
              <a:t>WEEK 1 • LECTURES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897880"/>
            <a:ext cx="8229600" cy="20621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 dirty="0"/>
              <a:t>WEEK 1  •  TWO </a:t>
            </a:r>
            <a:r>
              <a:rPr dirty="0" smtClean="0"/>
              <a:t>LECTURES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By the end of Week 1, students should be able to…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Define an operating system and explain its major goals and services.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642616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532888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Describe the relationship among users, applications, system software, the OS, and physical hardware.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547872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438144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rPr dirty="0"/>
              <a:t>Distinguish machine language, microprogramming, application software, and system software.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4453128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4343400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Summarize major stages in operating-system evolution and compare common OS types.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5358384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5248656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Explain computing environments and identify core characteristics of UNIX, MS-DOS, and Windows.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What Is an Operating System?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Lecture 1 • Core concept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An operating system (OS) is system software that manages computer hardware and provides services for application programs.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642616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532888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It acts as an intermediary between users/applications and physical resources such as the CPU, memory, storage, and I/O devices.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547872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438144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Resource manager: allocates CPU time, memory, files, and devices among competing tasks.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4453128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4343400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Control program: coordinates execution and helps prevent errors or unauthorized interference.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5358384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5248656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Examples: Microsoft Windows, GNU/Linux distributions, macOS, Android, iOS, and UNIX-family systems.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Why Do We Need an 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The OS makes complex hardware usable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Convenience: provides familiar interfaces instead of requiring users to control hardware directly.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Efficiency: shares CPU time, memory, storage, and devices to reduce waste.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Abstraction: presents files, processes, virtual memory, and device interfaces instead of raw hardware details.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Protection and security: separates users and processes, checks permissions, and controls access.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Reliability: detects errors, manages failures, and supports recovery where possible.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Without an OS, each application would need to manage hardware and many low-level tasks independently.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Computer System: The Big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Four interacting components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Hardware: CPU, main memory, storage, input/output devices, and communication interfaces.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Operating system: controls and coordinates hardware use; exposes standard services and abstractions.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Application programs: browsers, editors, games, databases, media tools, and business software.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Users and other systems: people, sensors, remote clients, and network services that request work.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Typical path: user action → application request → OS service → device/CPU activity → result returned.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The layers are conceptual; modern systems also use firmware, drivers, libraries, virtual machines, and security boundaries.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Hardware Components &amp; Their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Physical resources managed by the 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CPU: executes instructions; cores can run multiple instruction streams in parallel.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Main memory (RAM): holds active instructions and data; volatile contents disappear when power is removed.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Secondary storage: SSDs and hard drives retain files and programs without power.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Input devices: keyboard, mouse, camera, microphone, scanner, and sensors.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Output devices: display, printer, speakers, and actuators.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Network interfaces: connect a system to local networks and the internet; devices need drivers and OS coordination.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06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rPr dirty="0"/>
              <a:t>Application Software vs System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Different purposes, connected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Application software helps users complete tasks: word processing, spreadsheets, browsers, design tools, and games.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642616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532888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System software operates or supports the computer: operating systems, device drivers, utilities, language translators, and system services.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547872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438144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The OS provides common services so applications do not need to manage every hardware detail themselves.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4453128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4343400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Examples can overlap in purpose: backup tools and security utilities are system-oriented, while cloud apps may run largely on remote servers.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5358384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5248656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Key distinction: applications focus on user tasks; system software focuses on operating, managing, or supporting the computing platform.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07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How an Application Uses the 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A request–service–response cycle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1. The user asks an application to open a document.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2. The application requests file access through an OS interface (system call or library wrapper).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3. The OS checks permissions and asks the file system and storage driver to retrieve data.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4. The device transfers data; the OS coordinates completion and handles errors.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5. The application receives the data and displays the document.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Teaching point: applications usually request services; the OS decides how and when resources are used.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08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Machine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The CPU’s native instruction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Machine language consists of binary-encoded instructions that a particular processor architecture can execute.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Instructions may specify operations such as arithmetic, data movement, comparison, branching, and memory access.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Machine instructions are architecture-dependent: code for one instruction set may not run directly on another.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Assembly language uses readable mnemonics; an assembler translates it into machine code.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High-level languages such as C, Java, or Python are translated or interpreted through toolchains and runtimes.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Example concept: an instruction can load a value, add two registers, or branch to another instruction address.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From Source Code to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A simplified software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Source code: human-readable program written in a language such as C.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Compiler/interpreter: translates or executes source-language constructs.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Assembler: converts assembly mnemonics into machine instructions when assembly is used.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Linker and loader: combine required program components and prepare a program for execution.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OS process services: create a process, assign virtual memory, schedule CPU time, and provide file/device access.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Modern toolchains vary; interpreted languages, bytecode, JIT compilation, and managed runtimes add other stages.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Microprogramming: Control Inside the 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A lower-level implementation concept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Microprogramming is a CPU control-design technique in which microinstructions sequence internal control signals to carry out machine instructions.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A machine instruction such as ADD may be implemented by several internal micro-operations: read operands, select an ALU operation, and store the result.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A control store may hold microcode; a microsequencer determines the next microinstruction.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Microprogramming can simplify implementation of complex instruction sets and make some control changes easier.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Not every processor uses the same approach: many modern CPUs combine hardwired control, microcode, pipelines, and other techniques.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Important distinction: machine language is the programmer-visible instruction set; microcode is an internal implementation mechanism.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Physical Devices, Drivers &amp; Interrupts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How the OS coordinates I/O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A device controller or interface manages communication between the system and a physical device.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A device driver is OS software that translates general OS requests into device-specific commands.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Polling repeatedly checks device status; it can be simple but may waste CPU time.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Interrupts notify the CPU that an event needs attention, such as I/O completion or a timer tick.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Direct Memory Access (DMA) can transfer blocks of data between a device and memory with limited CPU involvement.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Example: a keyboard event triggers device/OS handling, after which the focused application can receive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What Does the OS Manage?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Core management responsibilities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Process management: create, schedule, synchronize, and terminate running programs.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Memory management: allocate RAM, protect address spaces, and support virtual memory.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File-system management: organize files and directories, metadata, permissions, and storage space.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I/O and device management: coordinate drivers, buffers, queues, interrupts, and device access.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Security and networking: authenticate users, enforce permissions, and support communication.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User interface and services: command-line shells, graphical desktops, background services, and system utilities.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Evolution of Operating Systems: Early 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From manual operation to batch processing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Early computers in the 1940s–1950s often had no general-purpose OS; setup and operation were largely manual.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Programs were loaded and run one at a time, with substantial operator involvement.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Batch systems grouped jobs and ran them sequentially with little or no interactive user control.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Resident monitors automated job sequencing and basic control, reducing setup time between jobs.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Limitation: a job waiting for slow I/O could leave expensive CPU resources underused.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Historical development varied by machine, institution, and country; milestones were not identical everywhere.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14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Evolution: Multiprogramming to Modern 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More sharing, interaction, and abstraction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Multiprogramming keeps several jobs in memory so the CPU can switch when one job waits for I/O.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Time-sharing gives multiple interactive users short CPU time slices, creating responsive terminals.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Personal-computer OSs made computing accessible to individuals through command-line and later graphical interfaces.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Networked and distributed systems added remote access, shared resources, and communication across machines.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Modern OSs emphasize pre-emptive multitasking, virtual memory, security, multimedia, power management, and connectivity.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Mobile and cloud-era systems add touch interfaces, sandboxing, app stores, virtualization, containers, and large-scale service management.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Lecture 1 Recap &amp; Quick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Check your understanding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Explain the OS as both a resource manager and a control program.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Name the four broad components of a computer system and describe their relationship.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Give two examples each of application software and system software.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How are machine language and microprogramming different?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What is the purpose of a device driver, and how does an interrupt help?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Think–pair–share: why did time-sharing represent a major change from batch processing?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Types of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Lecture 2 •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OS types are often classified by how they schedule work, serve users, connect computers, and respond to events.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642616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532888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Categories can overlap: one OS may be multitasking, multiuser, networked, and multiprocessing at the same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547872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438144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Classification describes design goals and operating context—not a simple ranking from worst to best.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4453128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4343400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Useful dimensions: number of users, number of tasks, timing guarantees, number of processors, and system distribution.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5358384"/>
            <a:ext cx="118872" cy="118872"/>
          </a:xfrm>
          <a:prstGeom prst="ellipse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5248656"/>
            <a:ext cx="10149840" cy="78638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600" b="0">
                <a:solidFill>
                  <a:srgbClr val="27303D"/>
                </a:solidFill>
                <a:latin typeface="Aptos"/>
              </a:defRPr>
            </a:pPr>
            <a:r>
              <a:t>The following slides compare major types and where each is useful.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1  |  17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Batch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Jobs are collected and processed in groups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Jobs are submitted, grouped, and executed with little direct interaction during the run.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A scheduler or monitor selects jobs; output is collected for later review.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Strengths: efficient handling of repetitive, high-volume work and reduced operator intervention.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Limitations: long turnaround time, limited interactive control, and difficult diagnosis while a job runs.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Examples of suitable work: payroll processing, billing runs, and large periodic data-processing jobs.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Batch processing remains a useful operating mode even when implemented on modern servers.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18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Multiprogramming, Multitasking &amp; Time-Sharing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Related ideas with different emphasis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Multiprogramming: keep several jobs in memory and switch when one waits, improving CPU utilization.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Multitasking: allow multiple tasks to make progress during the same period, often by rapidly switching CPU execution.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Pre-emptive multitasking: the OS can interrupt a running task to enforce scheduling and responsiveness.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Time-sharing: extend interactive access to multiple users or sessions using short CPU time slices.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Benefits: better utilization and responsiveness; challenges include scheduling overhead, isolation, and fair allocation.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Example: a laptop can play audio, download a file, and respond to typing while several processes run.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19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Real-Time Operating Systems (RTOS)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Correctness can depend on timing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A real-time system is designed to meet timing constraints as well as produce correct results.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Hard real-time: missing a critical deadline is considered system failure; used in tightly constrained control systems.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Soft real-time: missing a deadline degrades quality but may not cause total failure; examples include some multimedia tasks.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Key mechanisms: predictable scheduling, bounded interrupt latency, priority management, and careful resource control.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Use cases may include industrial control, robotics, avionics, medical devices, and automotive systems.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Real-time does not simply mean “fast”; it means predictable behavior relative to deadlines.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Distributed, Network &amp; Multiprocessor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Working across connections and CPUs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Network operating systems provide services such as shared files, printers, user accounts, and remote access over a network.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Distributed systems coordinate multiple computers that communicate over a network; users may see one service even when work is spread across machines.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Multiprocessing systems use two or more processing cores/CPUs to execute work in parallel or concurrently.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Benefits include scalability, throughput, resource sharing, and resilience when designed appropriately.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Challenges include communication delays, synchronization, partial failures, consistency, and security across trust boundaries.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A distributed system is not the same as a single computer with multiple CPU cores.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21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Embedded, Mobile &amp; Other Specialized OSs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Designed around a particular context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Embedded OSs run inside devices such as appliances, routers, industrial controllers, and vehicles.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Mobile OSs manage touch interfaces, radios, sensors, battery use, app permissions, and sandboxed applications.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Server OS configurations prioritize networking, reliability, access control, storage, and concurrent workloads.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Desktop OSs emphasize interactive use, broad peripheral support, applications, accessibility, and user experience.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Many embedded systems have tight limits on memory, power, cost, or response time.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The categories overlap: a smartphone is a mobile computer with networking, multitasking, security, and real-time subsystems.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rPr dirty="0"/>
              <a:t>Computing Environments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Where and how computing takes place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Traditional desktop: local CPU, memory, storage, peripherals, and applications.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Client–server: clients request services from servers, such as a browser accessing a web application.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Peer-to-peer: participating systems can act as both clients and providers of resources.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Virtualized environment: a hypervisor runs multiple virtual machines on one physical host.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Cloud computing: on-demand access to shared computing, storage, platforms, or software over a network.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Mobile and edge computing place processing on portable devices or near data sources to reduce latency or network use.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Virtualization, Containers &amp;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Three ideas that are often confused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Virtual machine (VM): emulates a hardware environment so a guest OS can run in an isolated virtual computer.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Hypervisor: creates and manages VMs; it may run directly on hardware or above a host OS.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Container: packages an application and dependencies while sharing the host OS kernel; containers are not full hardware VMs.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Cloud services deliver resources through managed interfaces and can scale based on demand and configuration.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Advantages: consolidation, repeatable deployment, isolation, and flexible capacity; trade-offs include overhead, complexity, cost control, and security configuration.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Example: one physical server may host several VMs, each running its own OS; containers can then run inside a VM.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A Short History of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Milestones and their impact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1940s–1950s: manual operation and early batch monitors on early mainframes.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1960s: multiprogramming and time-sharing systems expanded utilization and interactive access.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1970s: UNIX emerged at Bell Labs; portability and a powerful tool-oriented environment influenced later systems.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1980s: personal computers spread; MS-DOS became prominent on IBM PC-compatible systems, while graphical systems evolved.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1990s: Windows matured as a mainstream graphical platform; Linux began in 1991 and grew through open-source collaboration.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2000s onward: 64-bit computing, virtualization, smartphones, cloud infrastructure, containers, and stronger security became central themes.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UNIX: Philosophy &amp; Characteristics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A family of influential operating systems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UNIX originated at AT&amp;T Bell Labs in the late 1960s and early 1970s; later standards and variants shaped a broad family.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Multiuser and multitasking design supports multiple accounts and concurrent processes.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The file-system hierarchy organizes resources under a common root; many resources are exposed through file-like interfaces.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Shells provide command interpretation and scripting; small utilities can be combined through pipes and redirection.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Portability and source-code availability helped UNIX ideas spread across universities, research, servers, and commercial systems.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Modern UNIX-like systems include Linux and BSD variants; Linux is UNIX-like but is not itself a certified UNIX system by default.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MS-DOS: Command-Line Personal Computing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A historically important PC operating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MS-DOS (Microsoft Disk Operating System) became widely used on IBM PC-compatible personal computers in the 1980s.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It primarily used a command-line interface and commands such as DIR, COPY, DEL, and CD.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Traditional MS-DOS was largely single-user and single-tasking, with limited memory protection and security compared with modern OSs.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Programs commonly interacted closely with hardware and relied on a relatively simple execution model.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Strengths for its era: modest resource requirements, direct command control, and broad PC software support.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Historical significance: it helped establish the PC software ecosystem, even as graphical and multitasking platforms expanded.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Windows: From GUI to Modern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A mainstream desktop and enterprise family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Early Windows versions provided a graphical environment that ran with MS-DOS; later Windows NT-based systems developed a more robust architecture.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Graphical interface: windows, icons, menus, pointer/touch interaction, and integrated desktop tools.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Modern Windows supports pre-emptive multitasking, virtual memory, user accounts, permissions, networking, and broad hardware support.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Windows NT-family architecture includes a kernel, executive services, drivers, security components, and user-mode subsystems.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Common contexts include personal computing, business desktops, gaming, development, and enterprise infrastructure.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Windows versions differ; features and security capabilities depend on edition, configuration, and release.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UNIX vs MS-DOS vs 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A high-level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UNIX / UNIX-like: strong multiuser and multitasking heritage; shell tools, permissions, and server use are prominent.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48412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37439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MS-DOS: classic command-line PC OS; simple, low-overhead design with limited built-in protection and multitasking.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323088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3121152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Windows: graphical-first mainstream platform with broad consumer and enterprise application/peripheral support.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97763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86791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Interfaces: UNIX commonly offers shells and graphical desktops; MS-DOS uses commands; Windows centers on a GUI and also provides command shells.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472439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461467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Security and process isolation are substantially stronger in modern systems than in classic MS-DOS.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5471159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5361431"/>
            <a:ext cx="10149840" cy="67360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Comparison is historical and broad: actual capabilities vary by version, distribution, configuration, and extensions.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29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2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10312"/>
            <a:ext cx="11064240" cy="47548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Review, Discussion &amp;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7784" y="749808"/>
            <a:ext cx="10972800" cy="22860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100" b="1">
                <a:solidFill>
                  <a:srgbClr val="B4DEE2"/>
                </a:solidFill>
                <a:latin typeface="Aptos"/>
              </a:defRPr>
            </a:pPr>
            <a:r>
              <a:t>Apply the concepts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44752"/>
            <a:ext cx="11155680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1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44752"/>
            <a:ext cx="82296" cy="4736592"/>
          </a:xfrm>
          <a:prstGeom prst="rect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04672" y="173736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10149840" cy="3749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1. Define an operating system and name four services it provides.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" y="2185416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2075688"/>
            <a:ext cx="10149840" cy="3749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2. Draw the relationship among hardware, OS, applications, and users.</a:t>
            </a:r>
          </a:p>
        </p:txBody>
      </p:sp>
      <p:sp>
        <p:nvSpPr>
          <p:cNvPr id="12" name="Oval 11"/>
          <p:cNvSpPr/>
          <p:nvPr/>
        </p:nvSpPr>
        <p:spPr>
          <a:xfrm>
            <a:off x="804672" y="2633472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8992" y="2523744"/>
            <a:ext cx="10149840" cy="3749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rPr dirty="0"/>
              <a:t>3. Distinguish application software from system software with two examples each.</a:t>
            </a:r>
          </a:p>
        </p:txBody>
      </p:sp>
      <p:sp>
        <p:nvSpPr>
          <p:cNvPr id="14" name="Oval 13"/>
          <p:cNvSpPr/>
          <p:nvPr/>
        </p:nvSpPr>
        <p:spPr>
          <a:xfrm>
            <a:off x="804672" y="3081528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2971800"/>
            <a:ext cx="10149840" cy="3749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4. Explain machine language and how it differs from microprogramming.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" y="3529584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78992" y="3419856"/>
            <a:ext cx="10149840" cy="3749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5. Describe the role of drivers, interrupts, and DMA in device management.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" y="3977640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992" y="3867912"/>
            <a:ext cx="10149840" cy="3749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6. Compare batch processing, time-sharing, and real-time operating systems.</a:t>
            </a:r>
          </a:p>
        </p:txBody>
      </p:sp>
      <p:sp>
        <p:nvSpPr>
          <p:cNvPr id="20" name="Oval 19"/>
          <p:cNvSpPr/>
          <p:nvPr/>
        </p:nvSpPr>
        <p:spPr>
          <a:xfrm>
            <a:off x="804672" y="4425696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78992" y="4315968"/>
            <a:ext cx="10149840" cy="3749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7. How do multiprocessing and distributed computing differ?</a:t>
            </a:r>
          </a:p>
        </p:txBody>
      </p:sp>
      <p:sp>
        <p:nvSpPr>
          <p:cNvPr id="22" name="Oval 21"/>
          <p:cNvSpPr/>
          <p:nvPr/>
        </p:nvSpPr>
        <p:spPr>
          <a:xfrm>
            <a:off x="804672" y="4873752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78992" y="4764024"/>
            <a:ext cx="10149840" cy="3749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8. Compare virtual machines and containers.</a:t>
            </a:r>
          </a:p>
        </p:txBody>
      </p:sp>
      <p:sp>
        <p:nvSpPr>
          <p:cNvPr id="24" name="Oval 23"/>
          <p:cNvSpPr/>
          <p:nvPr/>
        </p:nvSpPr>
        <p:spPr>
          <a:xfrm>
            <a:off x="804672" y="5321808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8992" y="5212080"/>
            <a:ext cx="10149840" cy="3749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9. State two characteristics each of UNIX, MS-DOS, and Windows.</a:t>
            </a:r>
          </a:p>
        </p:txBody>
      </p:sp>
      <p:sp>
        <p:nvSpPr>
          <p:cNvPr id="26" name="Oval 25"/>
          <p:cNvSpPr/>
          <p:nvPr/>
        </p:nvSpPr>
        <p:spPr>
          <a:xfrm>
            <a:off x="804672" y="5769864"/>
            <a:ext cx="118872" cy="118872"/>
          </a:xfrm>
          <a:prstGeom prst="ellipse">
            <a:avLst/>
          </a:prstGeom>
          <a:solidFill>
            <a:srgbClr val="265D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78992" y="5660136"/>
            <a:ext cx="10149840" cy="374904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1400" b="0">
                <a:solidFill>
                  <a:srgbClr val="27303D"/>
                </a:solidFill>
                <a:latin typeface="Aptos"/>
              </a:defRPr>
            </a:pPr>
            <a:r>
              <a:t>10. Which OS type or computing environment would you choose for an online banking service, a traffic controller, and a student laptop? Justify each choice.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10528"/>
            <a:ext cx="484632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>
              <a:defRPr sz="900" b="1">
                <a:solidFill>
                  <a:srgbClr val="5A687A"/>
                </a:solidFill>
                <a:latin typeface="Aptos"/>
              </a:defRPr>
            </a:pPr>
            <a:r>
              <a:t>OPERATING SYSTEMS  •  WEEK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6510528"/>
            <a:ext cx="1965960" cy="182880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r">
              <a:defRPr sz="900" b="1">
                <a:solidFill>
                  <a:srgbClr val="5A687A"/>
                </a:solidFill>
                <a:latin typeface="Aptos"/>
              </a:defRPr>
            </a:pPr>
            <a:r>
              <a:t>LECTURE 2  |  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419088"/>
            <a:ext cx="11155680" cy="22860"/>
          </a:xfrm>
          <a:prstGeom prst="rect">
            <a:avLst/>
          </a:prstGeom>
          <a:solidFill>
            <a:srgbClr val="008F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3559</Words>
  <Application>Microsoft Office PowerPoint</Application>
  <PresentationFormat>Widescreen</PresentationFormat>
  <Paragraphs>294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DELL E7450 A&amp;I</cp:lastModifiedBy>
  <cp:revision>3</cp:revision>
  <dcterms:created xsi:type="dcterms:W3CDTF">2013-01-27T09:14:16Z</dcterms:created>
  <dcterms:modified xsi:type="dcterms:W3CDTF">2026-10-12T16:51:33Z</dcterms:modified>
  <cp:category/>
</cp:coreProperties>
</file>