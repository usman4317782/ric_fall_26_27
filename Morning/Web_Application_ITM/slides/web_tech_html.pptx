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</a:rPr>
              <a:t>W1 — Web Technologies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Introduction to Web Technologies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09728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L1 &amp; L2 · HTML · Static &amp; Dynamic Websites · Tags · Attributes · Document Structure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457200"/>
            <a:ext cx="4572000" cy="45720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LECTURE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World Wide Web &amp; HTML Foundations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World Wide Web — Why It Matters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Invented by Tim Berners-Lee in 1989 at CERN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252728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Originally designed for sharing scientific documents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4533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4630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Largest information system in human history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1892808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81051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Over 5.4 billion internet users worldwide (2024)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103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Enables global communication, commerce, education &amp; entertainment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450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Powers e-commerce: trillions of dollars transacted online annually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7980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Foundation for modern software — SaaS, APIs, cloud services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22783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14553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Key protocols: HTTP/HTTPS (transport) + HTML (content) + URLs (addressing)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The Web runs on three pillars: URLs, HTTP, and HTML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Static vs. Dynamic Websites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4206240"/>
          </a:xfrm>
          <a:prstGeom prst="rect">
            <a:avLst>
              <a:gd name="adj" fmla="val 2222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⚡ Static Websites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0817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Fixed HTML files served as-is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Same content for every visitor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1984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server-side processing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313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Fast, simple, cheap to host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2491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642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Examples: portfolios, docs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File extensions: .html, .htm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00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Tools: plain HTML, Jekyll, Hugo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777240"/>
            <a:ext cx="4114800" cy="4206240"/>
          </a:xfrm>
          <a:prstGeom prst="rect">
            <a:avLst>
              <a:gd name="adj" fmla="val 2222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🔄 Dynamic Websites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40817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Content generated on the fly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173736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74920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Personalised per user/request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066544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74920" y="1984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Requires server-side language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395728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4920" y="2313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PHP, Python, Node.js, Ruby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724912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4920" y="2642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Database-driven (MySQL, etc.)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05409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920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Examples: social media, e-commerce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38328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74920" y="3300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File extensions: .php, .asp, .jsp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Markup Languages vs. Programming Languages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4206240"/>
          </a:xfrm>
          <a:prstGeom prst="rect">
            <a:avLst>
              <a:gd name="adj" fmla="val 2222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📄 Markup Languages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0817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Describe structure &amp; presentation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NOT Turing-complete (no logic)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1984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 tags / annotations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313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Interpreted by browsers/parsers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2491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642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Examples: HTML, XML, Markdown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HTML = HyperText Markup Language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00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CSS = Cascading Style Sheets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777240"/>
            <a:ext cx="4114800" cy="4206240"/>
          </a:xfrm>
          <a:prstGeom prst="rect">
            <a:avLst>
              <a:gd name="adj" fmla="val 2222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💻 Programming Languages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40817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Implement logic &amp; algorithms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173736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74920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Turing-complete (loops, conditions)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066544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74920" y="1984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Compiled or interpreted to machine ops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395728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4920" y="2313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Can manipulate data &amp; memory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724912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4920" y="2642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Examples: JavaScript, Python, PHP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05409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920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JavaScript makes web pages interactive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38328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74920" y="3300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handles server-side logic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Hypertext Markup Language (HTML)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 is the standard language for creating web pages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252728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Describes the structure and meaning (semantics) of web content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4533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4630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HyperText — text with links that connect documents together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81051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Markup Language — annotates text with tags to define elements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1579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Browsers read HTML and render it visually for users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505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 is NOT a programming language — it has no logic/conditions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2935224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8529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Works alongside CSS (styling) and JavaScript (interactivity)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28269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004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Current standard: HTML5 (released 2014, living standard)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HTML = Structure · CSS = Style · JavaScript = Behaviour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HTML Tags &amp; Attributes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Tags are keywords enclosed in angle brackets: &lt;tagname&gt;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252728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Most tags come in pairs: opening &lt;tag&gt; and closing &lt;/tag&gt;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545336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4630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Self-closing tags have no content: &lt;br&gt;, &lt;img&gt;, &lt;input&gt;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37944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7556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Attributes provide additional info about an element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185416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103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Written inside the opening tag: &lt;tag attribute="value"&gt;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478024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395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Common attributes: id, class, href, src, alt, style, 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7063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68833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Elements = Opening tag + Content + Closing tag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118104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035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Example: &lt;a href="https://example.com"&gt;Click here&lt;/a&gt;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Tag anatomy: &lt;tagname attribute="value"&gt;content&lt;/tagname&gt;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HTML Standards &amp; Evolution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 1.0 (1993) — Tim Berners-Lee's original specification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 2.0 (1995) — First formal standard by IETF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5179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 3.2 (1997) — Added tables, applets, text flow around images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8653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 4.01 (1999) — Introduced stylesheets, scripting, frames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295144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2128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XHTML 1.0 (2000) — HTML reformulated as XML (stricter syntax)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5603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HTML5 (2014) — W3C + WHATWG · Semantic elements, multimedia, APIs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2990088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907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Living Standard — continuously updated by WHATWG today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8269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004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W3C = World Wide Web Consortium (international standards body)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W3C Validator: https://validator.w3.org — always validate your HTML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HTML Enhancements &amp; Related Technologies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CSS (Cascading Style Sheets) — Controls visual presentation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252728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Colors, fonts, layout, animations, responsive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4533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4630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JavaScript — Adds interactivity and dynamic behaviour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1892808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81051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Form validation, DOM manipulation, AJAX calls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103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HTML5 APIs — Built-in browser capabilities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532888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450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Geolocation, Canvas, Web Storage, Web Workers, WebSockets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2549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7432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Multimedia — Native &lt;video&gt; and &lt;audio&gt; without plugins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17296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090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Accessibility — ARIA attributes for screen readers &amp; assistive tech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Modern HTML5 eliminates the need for Flash and other browser plugins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Creating an HTML Document — File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303520" cy="4206240"/>
          </a:xfrm>
          <a:prstGeom prst="rect">
            <a:avLst>
              <a:gd name="adj" fmla="val 1739"/>
            </a:avLst>
          </a:prstGeom>
          <a:solidFill>
            <a:srgbClr val="0A0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5303520" cy="274320"/>
          </a:xfrm>
          <a:prstGeom prst="rect">
            <a:avLst>
              <a:gd name="adj" fmla="val 26667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795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HTML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1430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38988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6367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18836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1305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3774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name="viewport"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6243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content="width=device-width"&gt;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8712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First Page&lt;/title&gt;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11810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&lt;link rel="stylesheet"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36499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href="style.css"&gt;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6118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85876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10565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3525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&lt;h1&gt;Hello, World!&lt;/h1&gt;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5994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&lt;p&gt;Welcome to HTML.&lt;/p&gt;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463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 src="app.js"&gt;&lt;/script&gt;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509320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534009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55869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777240"/>
            <a:ext cx="3154680" cy="4206240"/>
          </a:xfrm>
          <a:prstGeom prst="rect">
            <a:avLst>
              <a:gd name="adj" fmla="val 2319"/>
            </a:avLst>
          </a:prstGeom>
          <a:solidFill>
            <a:srgbClr val="1621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5216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Explanation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52160" y="137160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DOCTYPE declares HTML5 version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0" y="177393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&lt;html&gt; is the root element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0" y="217627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89320" y="2084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&lt;head&gt; holds metadata (not shown on page)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52160" y="257860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8932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charset UTF-8 supports all characters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52160" y="298094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89320" y="2889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viewport ensures mobile scaling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52160" y="338328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8932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&lt;title&gt; shows in browser tab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52160" y="378561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8932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&lt;link&gt; attaches external CSS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52160" y="418795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89320" y="4096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&lt;body&gt; holds visible content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852160" y="459028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89320" y="4498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&lt;h1&gt;–&lt;h6&gt; are headings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52160" y="499262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89320" y="4901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&lt;p&gt; is a paragraph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52160" y="539496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989320" y="5303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&lt;script&gt; loads JavaScript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HTML Editors &amp; Web Page File Extensions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4206240"/>
          </a:xfrm>
          <a:prstGeom prst="rect">
            <a:avLst>
              <a:gd name="adj" fmla="val 2222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🖊️ HTML Editors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0817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VS Code — Most popular (free, Microsoft)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Sublime Text — Fast, lightweight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1984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Notepad++ — Windows, free, syntax highlight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313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Atom — GitHub, open-source (deprecated)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2491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642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Brackets — Adobe, live preview feature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Dreamweaver — Adobe, visual WYSIWYG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00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Online: CodePen, JSFiddle, Replit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777240"/>
            <a:ext cx="4114800" cy="4206240"/>
          </a:xfrm>
          <a:prstGeom prst="rect">
            <a:avLst>
              <a:gd name="adj" fmla="val 2222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📁 File Extensions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40817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.html — Standard HTML file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173736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74920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.htm — Legacy (old Windows 8.3 limit)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066544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74920" y="1984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.xhtml — XHTML (XML-based HTML)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395728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4920" y="2313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.php — PHP server-side + HTML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724912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4920" y="2642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.asp / .aspx — Microsoft ASP.NET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05409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920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.jsp — Java Server Pages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38328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74920" y="3300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.css — Cascading Style Sheets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457200"/>
            <a:ext cx="4572000" cy="45720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LECTURE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HTML Document Structure &amp; Core Elements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Basic Structure of an HTML Document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&lt;!DOCTYPE html&gt; — Document type declaration (must be first line)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&lt;html&gt; — Root element; wraps entire document; lang attribute for language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5179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&lt;head&gt; — Metadata container (not rendered on the page)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1947672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8653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&lt;title&gt;, &lt;meta&gt;, &lt;link&gt;, &lt;style&gt;, &lt;script&gt; go here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1579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&lt;body&gt; — All visible page content goes here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587752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505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Headings, paragraphs, images, links, tables, forms…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7980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Indentation — Not required but essential for readable code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22783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14553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Comments — &lt;!-- This is a comment --&gt; (not displayed in browser)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Always write valid, well-structured HTML — it helps browsers, SEO, and accessibility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Paragraphs &amp; Text Formatting Tags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&lt;p&gt; — Defines a paragraph; browser adds spacing automatically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&lt;h1&gt; to &lt;h6&gt; — Headings (h1 = most important / largest, h6 = smallest)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5179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Use only ONE &lt;h1&gt; per page for SEO best practice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81051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&lt;br&gt; — Line break (self-closing, no closing tag needed)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1579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&lt;hr&gt; — Horizontal rule / thematic break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5054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&lt;b&gt; / &lt;strong&gt; — Bold text (&lt;strong&gt; has semantic importance)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2935224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8529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&lt;i&gt; / &lt;em&gt; — Italic (&lt;em&gt; = emphasised, read differently by screen readers)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28269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004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&lt;u&gt; — Underline · &lt;s&gt; — Strikethrough · &lt;mark&gt; — Highlighted text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63016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478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&lt;sub&gt; — Subscript (H₂O) · &lt;sup&gt; — Superscript (x²) · &lt;small&gt; — Smaller text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8953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&lt;pre&gt; — Preformatted text (preserves spaces &amp; line breaks)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Semantic tags like &lt;strong&gt; and &lt;em&gt; convey meaning, not just visual style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Linking — The &lt;a&gt; Anchor Tag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303520" cy="4206240"/>
          </a:xfrm>
          <a:prstGeom prst="rect">
            <a:avLst>
              <a:gd name="adj" fmla="val 1739"/>
            </a:avLst>
          </a:prstGeom>
          <a:solidFill>
            <a:srgbClr val="0A0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5303520" cy="274320"/>
          </a:xfrm>
          <a:prstGeom prst="rect">
            <a:avLst>
              <a:gd name="adj" fmla="val 26667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795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HTML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1430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External link (opens in new tab) --&gt;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38988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6367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target="_blank"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18836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rel="noopener noreferrer"&gt;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1305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 Google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3774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6243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8712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Internal page link --&gt;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11810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href="about.html"&gt;About Us&lt;/a&gt;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36499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6118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Anchor / jump link --&gt;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85876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href="#section2"&gt;Jump&lt;/a&gt;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10565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 id="section2"&gt;Section 2&lt;/h2&gt;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3525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5994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Email link --&gt;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463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href="mailto:hi@site.com"&gt;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509320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Us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534009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55869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583387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Tel link (mobile) --&gt;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608076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href="tel:+923001234567"&gt;Call&lt;/a&gt;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777240"/>
            <a:ext cx="3154680" cy="4206240"/>
          </a:xfrm>
          <a:prstGeom prst="rect">
            <a:avLst>
              <a:gd name="adj" fmla="val 2319"/>
            </a:avLst>
          </a:prstGeom>
          <a:solidFill>
            <a:srgbClr val="16213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5216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Explanation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52160" y="137160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href — Hypertext REFerence (URL)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0" y="177393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8932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Absolute URL includes full http/https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52160" y="217627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89320" y="2084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Relative URL — path within same site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52160" y="257860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8932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target="_blank" opens new tab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52160" y="298094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89320" y="2889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rel="noopener" — security best practice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52160" y="338328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8932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Anchor links jump to page sections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52160" y="378561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8932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id attribute marks the target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852160" y="418795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89320" y="4096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mailto: opens email client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52160" y="459028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89320" y="4498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tel: enables click-to-call on mobile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52160" y="499262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989320" y="4901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Download attr forces file download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Images — The &lt;img&gt; Tag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303520" cy="4206240"/>
          </a:xfrm>
          <a:prstGeom prst="rect">
            <a:avLst>
              <a:gd name="adj" fmla="val 1739"/>
            </a:avLst>
          </a:prstGeom>
          <a:solidFill>
            <a:srgbClr val="0A0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5303520" cy="274320"/>
          </a:xfrm>
          <a:prstGeom prst="rect">
            <a:avLst>
              <a:gd name="adj" fmla="val 26667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795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HTML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1430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Basic image --&gt;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38988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6367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alt="A landscape photo"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18836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width="800"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1305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height="600"&gt;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3774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6243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Image as a link --&gt;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8712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href="gallery.html"&gt;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11810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src="thumb.jpg"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36499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alt="Gallery thumbnail"&gt;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6118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85876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10565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Responsive image --&gt;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3525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src="hero.jpg"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5994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alt="Hero banner"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463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style="max-width:100%"&gt;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509320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534009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SVG (vector graphic) --&gt;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55869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src="logo.svg" alt="Logo"&gt;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777240"/>
            <a:ext cx="3154680" cy="4206240"/>
          </a:xfrm>
          <a:prstGeom prst="rect">
            <a:avLst>
              <a:gd name="adj" fmla="val 2319"/>
            </a:avLst>
          </a:prstGeom>
          <a:solidFill>
            <a:srgbClr val="1621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5216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Explanation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52160" y="137160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src — Source path or URL of image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0" y="177393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alt — Alternative text (accessibility!)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0" y="217627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89320" y="2084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  Screen readers read alt text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52160" y="257860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8932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  Shows if image fails to load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52160" y="298094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89320" y="2889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width / height — set in pixels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52160" y="338328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8932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  Always specify to avoid layout shift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52160" y="378561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8932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Supported formats: JPEG, PNG, GIF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52160" y="418795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89320" y="4096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WebP — modern, smaller file size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852160" y="459028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89320" y="4498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SVG — scalable vector (no pixelation)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52160" y="499262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89320" y="4901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Wrap in &lt;figure&gt;/&lt;figcaption&gt;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Tables — Structuring Tabular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303520" cy="4206240"/>
          </a:xfrm>
          <a:prstGeom prst="rect">
            <a:avLst>
              <a:gd name="adj" fmla="val 1739"/>
            </a:avLst>
          </a:prstGeom>
          <a:solidFill>
            <a:srgbClr val="0A0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5303520" cy="274320"/>
          </a:xfrm>
          <a:prstGeom prst="rect">
            <a:avLst>
              <a:gd name="adj" fmla="val 26667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795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HTML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1430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border="1"&gt;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38988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6367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18836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&lt;th&gt;Name&lt;/th&gt;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1305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&lt;th&gt;Age&lt;/th&gt;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3774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&lt;th&gt;City&lt;/th&gt;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6243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8712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11810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36499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6118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&lt;td&gt;Alice&lt;/td&gt;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85876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&lt;td&gt;22&lt;/td&gt;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10565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&lt;td&gt;Lahore&lt;/td&gt;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3525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5994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463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 colspan="2"&gt;Bob&lt;/td&gt;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509320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&lt;td&gt;Karachi&lt;/td&gt;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534009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55869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583387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777240"/>
            <a:ext cx="3154680" cy="4206240"/>
          </a:xfrm>
          <a:prstGeom prst="rect">
            <a:avLst>
              <a:gd name="adj" fmla="val 2319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Explanation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137160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&lt;table&gt; wraps the entire table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0" y="177393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932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&lt;thead&gt; — Table header section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52160" y="217627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2084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&lt;tbody&gt; — Table body (data rows)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52160" y="257860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8932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&lt;tfoot&gt; — Optional footer section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52160" y="298094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2889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&lt;tr&gt; — Table Row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52160" y="338328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&lt;th&gt; — Table Header cell (bold)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52160" y="378561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&lt;td&gt; — Table Data cell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52160" y="418795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89320" y="4096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colspan — Merge columns horizontally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852160" y="459028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89320" y="4498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rowspan — Merge rows vertically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52160" y="499262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989320" y="4901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border attr (deprecated) — use CSS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52160" y="539496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89320" y="5303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Never use tables for page layout!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Forms — Collecting User Input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303520" cy="4206240"/>
          </a:xfrm>
          <a:prstGeom prst="rect">
            <a:avLst>
              <a:gd name="adj" fmla="val 1739"/>
            </a:avLst>
          </a:prstGeom>
          <a:solidFill>
            <a:srgbClr val="0A0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5303520" cy="274320"/>
          </a:xfrm>
          <a:prstGeom prst="rect">
            <a:avLst>
              <a:gd name="adj" fmla="val 26667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795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HTML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1430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action="/submit" method="POST"&gt;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38988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for="name"&gt;Name:&lt;/label&gt;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6367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id="name"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18836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name="name" required&gt;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1305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3774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for="email"&gt;Email:&lt;/label&gt;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6243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id="email"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8712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name="email"&gt;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11810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36499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for="msg"&gt;Message:&lt;/label&gt;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6118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id="msg" rows="4"&gt;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85876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&lt;/textarea&gt;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10565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3525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&lt;select name="city"&gt;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5994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 value="lhr"&gt;Lahore&lt;/option&gt;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8463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 value="khi"&gt;Karachi&lt;/option&gt;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509320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&lt;/select&gt;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534009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55869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type="submit"&gt;Send&lt;/button&gt;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583387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F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777240"/>
            <a:ext cx="3154680" cy="4206240"/>
          </a:xfrm>
          <a:prstGeom prst="rect">
            <a:avLst>
              <a:gd name="adj" fmla="val 2319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Explanation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137160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action — URL to send data to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0" y="177393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932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method POST — data in request body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52160" y="217627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2084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method GET — data in URL params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52160" y="257860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8932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&lt;label&gt; links text to input via for/id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52160" y="298094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28895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type="text" — single-line text field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52160" y="338328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type="email" — validates email format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52160" y="378561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type="password" — hides characters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52160" y="4187952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89320" y="4096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type="checkbox" / type="radio"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852160" y="4590288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89320" y="4498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required — HTML5 validation attr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52160" y="4992624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989320" y="4901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&lt;textarea&gt; — multi-line text input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52160" y="539496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89320" y="5303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&lt;select&gt;/&lt;option&gt; — dropdown list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852160" y="5797296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89320" y="57058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&lt;button type="submit"&gt; — submits form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Meta Tags — Document Metadata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&lt;meta&gt; tags go inside &lt;head&gt; — they are NOT displayed on the page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charset — Defines character encoding for the document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5179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&lt;meta charset="UTF-8"&gt; — supports all languages &amp; symbols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81051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viewport — Controls layout on mobile/responsive devices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240280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1579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&lt;meta name="viewport" content="width=device-width, initial-scale=1.0"&gt;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450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description — Summary shown in search engine results (SEO)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7980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&lt;meta name="description" content="Learn HTML fundamentals"&gt;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7296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090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keywords — Historically for SEO (now mostly ignored by Google)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4381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author — Documents who created the page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3867912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7856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&lt;meta name="author" content="Your Name"&gt;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6052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07822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Open Graph (og:) — Controls social media preview cards (Facebook, etc.)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507992"/>
            <a:ext cx="109728" cy="10972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42569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&lt;meta property="og:title" content="Page Title"&gt;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Meta tags are invisible to users but vital for SEO, accessibility &amp; social sharing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Lecture Summary — Key Takeaways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0525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The Web uses HTTP + HTML + URLs to link and deliver documents globally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Static sites serve fixed files; Dynamic sites generate content per request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5179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Markup languages describe structure; Programming languages implement logic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8653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 uses tags (&lt;tag&gt;) and attributes (name="value") to define elements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295144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2128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Every HTML document: &lt;!DOCTYPE&gt; → &lt;html&gt; → &lt;head&gt; + &lt;body&gt;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5603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&lt;head&gt; holds metadata (title, charset, viewport, meta, links)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9077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&lt;body&gt; holds visible content — headings, paragraphs, images, links, tables, forms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552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Forms collect user input and submit it to a server via GET or POST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685032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60273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Meta tags are critical for SEO, social sharing, and character encoding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4032504"/>
            <a:ext cx="109728" cy="10972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9502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Always validate HTML at https://validator.w3.org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95360" cy="320040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65760" y="472744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💡 Next: CSS Styling — making your HTML pages look great!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2026-10-12T15:55:21Z</dcterms:created>
  <dcterms:modified xsi:type="dcterms:W3CDTF">2026-10-12T15:55:21Z</dcterms:modified>
</cp:coreProperties>
</file>