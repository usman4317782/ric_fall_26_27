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658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C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641080" y="685800"/>
            <a:ext cx="2377440" cy="2377440"/>
          </a:xfrm>
          <a:prstGeom prst="ellipse">
            <a:avLst/>
          </a:prstGeom>
          <a:solidFill>
            <a:srgbClr val="307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464040" y="1828800"/>
            <a:ext cx="1600200" cy="1600200"/>
          </a:xfrm>
          <a:prstGeom prst="ellipse">
            <a:avLst/>
          </a:prstGeom>
          <a:solidFill>
            <a:srgbClr val="2C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8092440" y="2331720"/>
            <a:ext cx="1005840" cy="1005840"/>
          </a:xfrm>
          <a:prstGeom prst="ellipse">
            <a:avLst/>
          </a:prstGeom>
          <a:solidFill>
            <a:srgbClr val="FFC2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914400"/>
            <a:ext cx="274320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2CCCD5"/>
                </a:solidFill>
                <a:latin typeface="Aptos"/>
              </a:rPr>
              <a:t>WEEK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481328"/>
            <a:ext cx="72237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600" b="1" i="0">
                <a:solidFill>
                  <a:srgbClr val="F8FAFD"/>
                </a:solidFill>
                <a:latin typeface="Aptos"/>
              </a:rPr>
              <a:t>BASIC CSS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651760"/>
            <a:ext cx="58521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 i="0">
                <a:solidFill>
                  <a:srgbClr val="E0E8F4"/>
                </a:solidFill>
                <a:latin typeface="Aptos"/>
              </a:rPr>
              <a:t>Lecture 3 &amp; Lecture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3429000"/>
            <a:ext cx="64922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 i="0">
                <a:solidFill>
                  <a:srgbClr val="A4B4CD"/>
                </a:solidFill>
                <a:latin typeface="Aptos"/>
              </a:rPr>
              <a:t>Introducing CSS • External Style Sheets • CSS Properties
Controlling Fonts • Text Formatting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" y="4983480"/>
            <a:ext cx="3108960" cy="566928"/>
          </a:xfrm>
          <a:prstGeom prst="roundRect">
            <a:avLst/>
          </a:prstGeom>
          <a:solidFill>
            <a:srgbClr val="19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32688" y="5157216"/>
            <a:ext cx="28346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2CCCD5"/>
                </a:solidFill>
                <a:latin typeface="Aptos"/>
              </a:rPr>
              <a:t>HTML STRUCTURE  +  CSS PRESENTATION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A4B4CD"/>
                </a:solidFill>
                <a:latin typeface="Aptos"/>
              </a:rPr>
              <a:t>W2 • BASIC CSS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01400" y="6473952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2CCCD5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07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54864" cy="6858000"/>
          </a:xfrm>
          <a:prstGeom prst="rect">
            <a:avLst/>
          </a:prstGeom>
          <a:solidFill>
            <a:srgbClr val="2C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38912"/>
            <a:ext cx="1088136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F8FAFD"/>
                </a:solidFill>
                <a:latin typeface="Aptos"/>
              </a:rPr>
              <a:t>Learning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097280"/>
            <a:ext cx="107899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A4B4CD"/>
                </a:solidFill>
                <a:latin typeface="Aptos"/>
              </a:rPr>
              <a:t>By the end of this week, students should be able to: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A4B4CD"/>
                </a:solidFill>
                <a:latin typeface="Aptos"/>
              </a:rPr>
              <a:t>W2 • BASIC CSS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2CCCD5"/>
                </a:solidFill>
                <a:latin typeface="Aptos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00200"/>
            <a:ext cx="10424160" cy="43891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F8FAFD"/>
                </a:solidFill>
                <a:latin typeface="Aptos"/>
              </a:defRPr>
            </a:pPr>
            <a:r>
              <a:t>•  Explain the purpose of CSS and how it works with HTML.</a:t>
            </a:r>
          </a:p>
          <a:p>
            <a:pPr>
              <a:spcAft>
                <a:spcPts val="1400"/>
              </a:spcAft>
              <a:defRPr sz="2000">
                <a:solidFill>
                  <a:srgbClr val="F8FAFD"/>
                </a:solidFill>
                <a:latin typeface="Aptos"/>
              </a:defRPr>
            </a:pPr>
            <a:r>
              <a:t>•  Identify inline, internal, and external CSS approaches.</a:t>
            </a:r>
          </a:p>
          <a:p>
            <a:pPr>
              <a:spcAft>
                <a:spcPts val="1400"/>
              </a:spcAft>
              <a:defRPr sz="2000">
                <a:solidFill>
                  <a:srgbClr val="F8FAFD"/>
                </a:solidFill>
                <a:latin typeface="Aptos"/>
              </a:defRPr>
            </a:pPr>
            <a:r>
              <a:t>•  Create and link an external stylesheet to an HTML document.</a:t>
            </a:r>
          </a:p>
          <a:p>
            <a:pPr>
              <a:spcAft>
                <a:spcPts val="1400"/>
              </a:spcAft>
              <a:defRPr sz="2000">
                <a:solidFill>
                  <a:srgbClr val="F8FAFD"/>
                </a:solidFill>
                <a:latin typeface="Aptos"/>
              </a:defRPr>
            </a:pPr>
            <a:r>
              <a:t>•  Apply common CSS properties to control colors, spacing, and layout.</a:t>
            </a:r>
          </a:p>
          <a:p>
            <a:pPr>
              <a:spcAft>
                <a:spcPts val="1400"/>
              </a:spcAft>
              <a:defRPr sz="2000">
                <a:solidFill>
                  <a:srgbClr val="F8FAFD"/>
                </a:solidFill>
                <a:latin typeface="Aptos"/>
              </a:defRPr>
            </a:pPr>
            <a:r>
              <a:t>•  Use font and text properties to improve readability and visual hierarchy.</a:t>
            </a:r>
          </a:p>
          <a:p>
            <a:pPr>
              <a:spcAft>
                <a:spcPts val="1400"/>
              </a:spcAft>
              <a:defRPr sz="2000">
                <a:solidFill>
                  <a:srgbClr val="F8FAFD"/>
                </a:solidFill>
                <a:latin typeface="Aptos"/>
              </a:defRPr>
            </a:pPr>
            <a:r>
              <a:t>•  Inspect a page and troubleshoot common CSS linking and syntax errors.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07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54864" cy="6858000"/>
          </a:xfrm>
          <a:prstGeom prst="rect">
            <a:avLst/>
          </a:prstGeom>
          <a:solidFill>
            <a:srgbClr val="2C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38912"/>
            <a:ext cx="1088136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F8FAFD"/>
                </a:solidFill>
                <a:latin typeface="Aptos"/>
              </a:rPr>
              <a:t>Lecture 3 • Introducing CSS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097280"/>
            <a:ext cx="107899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A4B4CD"/>
                </a:solidFill>
                <a:latin typeface="Aptos"/>
              </a:rPr>
              <a:t>CSS describes how HTML elements should look on screen or in other media.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A4B4CD"/>
                </a:solidFill>
                <a:latin typeface="Aptos"/>
              </a:rPr>
              <a:t>W2 • BASIC CSS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2CCCD5"/>
                </a:solidFill>
                <a:latin typeface="Aptos"/>
              </a:rP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00200"/>
            <a:ext cx="5166360" cy="4297680"/>
          </a:xfrm>
          <a:prstGeom prst="roundRect">
            <a:avLst/>
          </a:prstGeom>
          <a:solidFill>
            <a:srgbClr val="19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87552" y="1801368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2CCCD5"/>
                </a:solidFill>
                <a:latin typeface="Aptos"/>
              </a:rPr>
              <a:t>HTML vs CSS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377440"/>
            <a:ext cx="4663440" cy="3246120"/>
          </a:xfrm>
          <a:prstGeom prst="rect">
            <a:avLst/>
          </a:prstGeom>
          <a:noFill/>
        </p:spPr>
        <p:txBody>
          <a:bodyPr wrap="square" lIns="73152" tIns="73152" rIns="73152" bIns="36576">
            <a:spAutoFit/>
          </a:bodyPr>
          <a:lstStyle/>
          <a:p>
            <a:pPr>
              <a:spcAft>
                <a:spcPts val="1100"/>
              </a:spcAft>
              <a:defRPr sz="1700" b="0">
                <a:solidFill>
                  <a:srgbClr val="F8FAFD"/>
                </a:solidFill>
                <a:latin typeface="Aptos"/>
              </a:defRPr>
            </a:pPr>
            <a:r>
              <a:t>HTML defines content and structure.</a:t>
            </a:r>
          </a:p>
          <a:p>
            <a:pPr>
              <a:spcAft>
                <a:spcPts val="1100"/>
              </a:spcAft>
              <a:defRPr sz="1700" b="0">
                <a:solidFill>
                  <a:srgbClr val="F8FAFD"/>
                </a:solidFill>
                <a:latin typeface="Aptos"/>
              </a:defRPr>
            </a:pPr>
            <a:r>
              <a:t>CSS controls presentation and visual style.</a:t>
            </a:r>
          </a:p>
          <a:p>
            <a:pPr>
              <a:spcAft>
                <a:spcPts val="1100"/>
              </a:spcAft>
              <a:defRPr sz="1700" b="0">
                <a:solidFill>
                  <a:srgbClr val="F8FAFD"/>
                </a:solidFill>
                <a:latin typeface="Aptos"/>
              </a:defRPr>
            </a:pPr>
            <a:r>
              <a:t>One HTML page can use different stylesheets.</a:t>
            </a:r>
          </a:p>
          <a:p>
            <a:pPr>
              <a:spcAft>
                <a:spcPts val="1100"/>
              </a:spcAft>
              <a:defRPr sz="1700" b="0">
                <a:solidFill>
                  <a:srgbClr val="F8FAFD"/>
                </a:solidFill>
                <a:latin typeface="Aptos"/>
              </a:defRPr>
            </a:pPr>
            <a:r>
              <a:t>CSS helps keep design consistent across pages.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600200"/>
            <a:ext cx="5166360" cy="4297680"/>
          </a:xfrm>
          <a:prstGeom prst="roundRect">
            <a:avLst/>
          </a:prstGeom>
          <a:solidFill>
            <a:srgbClr val="19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28232" y="1801368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FFC247"/>
                </a:solidFill>
                <a:latin typeface="Aptos"/>
              </a:rPr>
              <a:t>A CSS Rule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377440"/>
            <a:ext cx="4663440" cy="3246120"/>
          </a:xfrm>
          <a:prstGeom prst="rect">
            <a:avLst/>
          </a:prstGeom>
          <a:noFill/>
        </p:spPr>
        <p:txBody>
          <a:bodyPr wrap="square" lIns="73152" tIns="73152" rIns="73152" bIns="36576">
            <a:spAutoFit/>
          </a:bodyPr>
          <a:lstStyle/>
          <a:p>
            <a:pPr>
              <a:spcAft>
                <a:spcPts val="1100"/>
              </a:spcAft>
              <a:defRPr sz="1700" b="0">
                <a:solidFill>
                  <a:srgbClr val="F8FAFD"/>
                </a:solidFill>
                <a:latin typeface="Aptos"/>
              </a:defRPr>
            </a:pPr>
            <a:r>
              <a:t>Selector: chooses the element(s).</a:t>
            </a:r>
          </a:p>
          <a:p>
            <a:pPr>
              <a:spcAft>
                <a:spcPts val="1100"/>
              </a:spcAft>
              <a:defRPr sz="1700" b="0">
                <a:solidFill>
                  <a:srgbClr val="F8FAFD"/>
                </a:solidFill>
                <a:latin typeface="Aptos"/>
              </a:defRPr>
            </a:pPr>
            <a:r>
              <a:t>Declaration block: contains style declarations.</a:t>
            </a:r>
          </a:p>
          <a:p>
            <a:pPr>
              <a:spcAft>
                <a:spcPts val="1100"/>
              </a:spcAft>
              <a:defRPr sz="1700" b="0">
                <a:solidFill>
                  <a:srgbClr val="F8FAFD"/>
                </a:solidFill>
                <a:latin typeface="Aptos"/>
              </a:defRPr>
            </a:pPr>
            <a:r>
              <a:t>Property: what you want to change.</a:t>
            </a:r>
          </a:p>
          <a:p>
            <a:pPr>
              <a:spcAft>
                <a:spcPts val="1100"/>
              </a:spcAft>
              <a:defRPr sz="1700" b="0">
                <a:solidFill>
                  <a:srgbClr val="F8FAFD"/>
                </a:solidFill>
                <a:latin typeface="Aptos"/>
              </a:defRPr>
            </a:pPr>
            <a:r>
              <a:t>Value: how the property should appear.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71800" y="4464534"/>
            <a:ext cx="6217920" cy="1369337"/>
          </a:xfrm>
          <a:prstGeom prst="roundRect">
            <a:avLst/>
          </a:prstGeom>
          <a:solidFill>
            <a:srgbClr val="19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193335" y="4600564"/>
            <a:ext cx="5815583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dirty="0">
                <a:solidFill>
                  <a:srgbClr val="2CCCD5"/>
                </a:solidFill>
                <a:latin typeface="Aptos"/>
              </a:rPr>
              <a:t>EXAMPLE RULE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18688" y="4802863"/>
            <a:ext cx="5815583" cy="457200"/>
          </a:xfrm>
          <a:prstGeom prst="rect">
            <a:avLst/>
          </a:prstGeom>
          <a:noFill/>
        </p:spPr>
        <p:txBody>
          <a:bodyPr wrap="none" lIns="0" tIns="0" rIns="0">
            <a:spAutoFit/>
          </a:bodyPr>
          <a:lstStyle/>
          <a:p>
            <a:pPr>
              <a:spcAft>
                <a:spcPts val="200"/>
              </a:spcAft>
              <a:defRPr sz="1500">
                <a:solidFill>
                  <a:srgbClr val="E0E8F4"/>
                </a:solidFill>
                <a:latin typeface="Consolas"/>
              </a:defRPr>
            </a:pPr>
            <a:r>
              <a:rPr dirty="0"/>
              <a:t>p {</a:t>
            </a:r>
          </a:p>
          <a:p>
            <a:pPr>
              <a:spcAft>
                <a:spcPts val="200"/>
              </a:spcAft>
              <a:defRPr sz="1500">
                <a:solidFill>
                  <a:srgbClr val="E0E8F4"/>
                </a:solidFill>
                <a:latin typeface="Consolas"/>
              </a:defRPr>
            </a:pPr>
            <a:r>
              <a:rPr dirty="0"/>
              <a:t>  color: navy;</a:t>
            </a:r>
          </a:p>
          <a:p>
            <a:pPr>
              <a:spcAft>
                <a:spcPts val="200"/>
              </a:spcAft>
              <a:defRPr sz="1500">
                <a:solidFill>
                  <a:srgbClr val="E0E8F4"/>
                </a:solidFill>
                <a:latin typeface="Consolas"/>
              </a:defRPr>
            </a:pPr>
            <a:r>
              <a:rPr dirty="0"/>
              <a:t>  font-size: 18px;</a:t>
            </a:r>
          </a:p>
          <a:p>
            <a:pPr>
              <a:spcAft>
                <a:spcPts val="200"/>
              </a:spcAft>
              <a:defRPr sz="1500">
                <a:solidFill>
                  <a:srgbClr val="E0E8F4"/>
                </a:solidFill>
                <a:latin typeface="Consolas"/>
              </a:defRPr>
            </a:pPr>
            <a:r>
              <a:rPr dirty="0"/>
              <a:t>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07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54864" cy="6858000"/>
          </a:xfrm>
          <a:prstGeom prst="rect">
            <a:avLst/>
          </a:prstGeom>
          <a:solidFill>
            <a:srgbClr val="2C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38912"/>
            <a:ext cx="1088136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F8FAFD"/>
                </a:solidFill>
                <a:latin typeface="Aptos"/>
              </a:rPr>
              <a:t>CSS Syntax: Read the Rule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097280"/>
            <a:ext cx="107899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A4B4CD"/>
                </a:solidFill>
                <a:latin typeface="Aptos"/>
              </a:rPr>
              <a:t>A declaration is written as a property, a colon, a value, and a semicolon.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A4B4CD"/>
                </a:solidFill>
                <a:latin typeface="Aptos"/>
              </a:rPr>
              <a:t>W2 • BASIC CSS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2CCCD5"/>
                </a:solidFill>
                <a:latin typeface="Aptos"/>
              </a:rP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691640"/>
            <a:ext cx="5669280" cy="3337560"/>
          </a:xfrm>
          <a:prstGeom prst="roundRect">
            <a:avLst/>
          </a:prstGeom>
          <a:solidFill>
            <a:srgbClr val="19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24128" y="1810512"/>
            <a:ext cx="526694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2CCCD5"/>
                </a:solidFill>
                <a:latin typeface="Aptos"/>
              </a:rPr>
              <a:t>CSS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" y="2130552"/>
            <a:ext cx="5266944" cy="2788920"/>
          </a:xfrm>
          <a:prstGeom prst="rect">
            <a:avLst/>
          </a:prstGeom>
          <a:noFill/>
        </p:spPr>
        <p:txBody>
          <a:bodyPr wrap="none" lIns="0" tIns="0" rIns="0">
            <a:spAutoFit/>
          </a:bodyPr>
          <a:lstStyle/>
          <a:p>
            <a:pPr>
              <a:spcAft>
                <a:spcPts val="200"/>
              </a:spcAft>
              <a:defRPr sz="1600">
                <a:solidFill>
                  <a:srgbClr val="E0E8F4"/>
                </a:solidFill>
                <a:latin typeface="Consolas"/>
              </a:defRPr>
            </a:pPr>
            <a:r>
              <a:t>h1 {</a:t>
            </a:r>
          </a:p>
          <a:p>
            <a:pPr>
              <a:spcAft>
                <a:spcPts val="200"/>
              </a:spcAft>
              <a:defRPr sz="1600">
                <a:solidFill>
                  <a:srgbClr val="E0E8F4"/>
                </a:solidFill>
                <a:latin typeface="Consolas"/>
              </a:defRPr>
            </a:pPr>
            <a:r>
              <a:t>  color: #2f77eb;</a:t>
            </a:r>
          </a:p>
          <a:p>
            <a:pPr>
              <a:spcAft>
                <a:spcPts val="200"/>
              </a:spcAft>
              <a:defRPr sz="1600">
                <a:solidFill>
                  <a:srgbClr val="E0E8F4"/>
                </a:solidFill>
                <a:latin typeface="Consolas"/>
              </a:defRPr>
            </a:pPr>
            <a:r>
              <a:t>  text-align: center;</a:t>
            </a:r>
          </a:p>
          <a:p>
            <a:pPr>
              <a:spcAft>
                <a:spcPts val="200"/>
              </a:spcAft>
              <a:defRPr sz="1600">
                <a:solidFill>
                  <a:srgbClr val="E0E8F4"/>
                </a:solidFill>
                <a:latin typeface="Consolas"/>
              </a:defRPr>
            </a:pPr>
            <a:r>
              <a:t>  font-size: 32px;</a:t>
            </a:r>
          </a:p>
          <a:p>
            <a:pPr>
              <a:spcAft>
                <a:spcPts val="200"/>
              </a:spcAft>
              <a:defRPr sz="1600">
                <a:solidFill>
                  <a:srgbClr val="E0E8F4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03720" y="1691640"/>
            <a:ext cx="4297680" cy="3337560"/>
          </a:xfrm>
          <a:prstGeom prst="roundRect">
            <a:avLst/>
          </a:prstGeom>
          <a:solidFill>
            <a:srgbClr val="19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269480" y="2011680"/>
            <a:ext cx="13716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900" b="1" i="0">
                <a:solidFill>
                  <a:srgbClr val="2CCCD5"/>
                </a:solidFill>
                <a:latin typeface="Aptos"/>
              </a:rPr>
              <a:t>h1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2084831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i="0">
                <a:solidFill>
                  <a:srgbClr val="F8FAFD"/>
                </a:solidFill>
                <a:latin typeface="Aptos"/>
              </a:rPr>
              <a:t>Selector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9480" y="274320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FFC247"/>
                </a:solidFill>
                <a:latin typeface="Aptos"/>
              </a:rPr>
              <a:t>color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2788920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i="0">
                <a:solidFill>
                  <a:srgbClr val="F8FAFD"/>
                </a:solidFill>
                <a:latin typeface="Aptos"/>
              </a:rPr>
              <a:t>Property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9480" y="3401568"/>
            <a:ext cx="1554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59D29B"/>
                </a:solidFill>
                <a:latin typeface="Aptos"/>
              </a:rPr>
              <a:t>#2f77eb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23960" y="3456432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i="0">
                <a:solidFill>
                  <a:srgbClr val="F8FAFD"/>
                </a:solidFill>
                <a:latin typeface="Aptos"/>
              </a:rPr>
              <a:t>Value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80" y="4160520"/>
            <a:ext cx="3383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>
                <a:solidFill>
                  <a:srgbClr val="A4B4CD"/>
                </a:solidFill>
                <a:latin typeface="Aptos"/>
              </a:rPr>
              <a:t>Declarations go inside { 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440680"/>
            <a:ext cx="102412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i="0">
                <a:solidFill>
                  <a:srgbClr val="E0E8F4"/>
                </a:solidFill>
                <a:latin typeface="Aptos"/>
              </a:rPr>
              <a:t>Tip: A missing brace or semicolon can prevent a declaration from working as expected.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07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54864" cy="6858000"/>
          </a:xfrm>
          <a:prstGeom prst="rect">
            <a:avLst/>
          </a:prstGeom>
          <a:solidFill>
            <a:srgbClr val="2C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38912"/>
            <a:ext cx="1088136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F8FAFD"/>
                </a:solidFill>
                <a:latin typeface="Aptos"/>
              </a:rPr>
              <a:t>Three Ways to Add CSS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097280"/>
            <a:ext cx="107899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A4B4CD"/>
                </a:solidFill>
                <a:latin typeface="Aptos"/>
              </a:rPr>
              <a:t>Choose the approach that fits the scope and maintainability of the page.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A4B4CD"/>
                </a:solidFill>
                <a:latin typeface="Aptos"/>
              </a:rPr>
              <a:t>W2 • BASIC CSS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2CCCD5"/>
                </a:solidFill>
                <a:latin typeface="Aptos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00200"/>
            <a:ext cx="5166360" cy="4297680"/>
          </a:xfrm>
          <a:prstGeom prst="roundRect">
            <a:avLst/>
          </a:prstGeom>
          <a:solidFill>
            <a:srgbClr val="19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87552" y="1801368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2CCCD5"/>
                </a:solidFill>
                <a:latin typeface="Aptos"/>
              </a:rPr>
              <a:t>Inline &amp; Internal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377440"/>
            <a:ext cx="4663440" cy="3246120"/>
          </a:xfrm>
          <a:prstGeom prst="rect">
            <a:avLst/>
          </a:prstGeom>
          <a:noFill/>
        </p:spPr>
        <p:txBody>
          <a:bodyPr wrap="square" lIns="73152" tIns="73152" rIns="73152" bIns="36576">
            <a:spAutoFit/>
          </a:bodyPr>
          <a:lstStyle/>
          <a:p>
            <a:pPr>
              <a:spcAft>
                <a:spcPts val="1100"/>
              </a:spcAft>
              <a:defRPr sz="1700" b="0">
                <a:solidFill>
                  <a:srgbClr val="F8FAFD"/>
                </a:solidFill>
                <a:latin typeface="Aptos"/>
              </a:defRPr>
            </a:pPr>
            <a:r>
              <a:t>Inline: style attribute on one HTML element.</a:t>
            </a:r>
          </a:p>
          <a:p>
            <a:pPr>
              <a:spcAft>
                <a:spcPts val="1100"/>
              </a:spcAft>
              <a:defRPr sz="1700" b="0">
                <a:solidFill>
                  <a:srgbClr val="F8FAFD"/>
                </a:solidFill>
                <a:latin typeface="Aptos"/>
              </a:defRPr>
            </a:pPr>
            <a:r>
              <a:t>Useful for quick tests; difficult to maintain at scale.</a:t>
            </a:r>
          </a:p>
          <a:p>
            <a:pPr>
              <a:spcAft>
                <a:spcPts val="1100"/>
              </a:spcAft>
              <a:defRPr sz="1700" b="0">
                <a:solidFill>
                  <a:srgbClr val="F8FAFD"/>
                </a:solidFill>
                <a:latin typeface="Aptos"/>
              </a:defRPr>
            </a:pPr>
            <a:r>
              <a:t>Internal: a &lt;style&gt; block in the document head.</a:t>
            </a:r>
          </a:p>
          <a:p>
            <a:pPr>
              <a:spcAft>
                <a:spcPts val="1100"/>
              </a:spcAft>
              <a:defRPr sz="1700" b="0">
                <a:solidFill>
                  <a:srgbClr val="F8FAFD"/>
                </a:solidFill>
                <a:latin typeface="Aptos"/>
              </a:defRPr>
            </a:pPr>
            <a:r>
              <a:t>Useful when one page needs its own styles.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600200"/>
            <a:ext cx="5166360" cy="4297680"/>
          </a:xfrm>
          <a:prstGeom prst="roundRect">
            <a:avLst/>
          </a:prstGeom>
          <a:solidFill>
            <a:srgbClr val="19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28232" y="1801368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FFC247"/>
                </a:solidFill>
                <a:latin typeface="Aptos"/>
              </a:rPr>
              <a:t>External CSS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377440"/>
            <a:ext cx="4663440" cy="3246120"/>
          </a:xfrm>
          <a:prstGeom prst="rect">
            <a:avLst/>
          </a:prstGeom>
          <a:noFill/>
        </p:spPr>
        <p:txBody>
          <a:bodyPr wrap="square" lIns="73152" tIns="73152" rIns="73152" bIns="36576">
            <a:spAutoFit/>
          </a:bodyPr>
          <a:lstStyle/>
          <a:p>
            <a:pPr>
              <a:spcAft>
                <a:spcPts val="1100"/>
              </a:spcAft>
              <a:defRPr sz="1700" b="0">
                <a:solidFill>
                  <a:srgbClr val="F8FAFD"/>
                </a:solidFill>
                <a:latin typeface="Aptos"/>
              </a:defRPr>
            </a:pPr>
            <a:r>
              <a:t>Rules live in a separate .css file.</a:t>
            </a:r>
          </a:p>
          <a:p>
            <a:pPr>
              <a:spcAft>
                <a:spcPts val="1100"/>
              </a:spcAft>
              <a:defRPr sz="1700" b="0">
                <a:solidFill>
                  <a:srgbClr val="F8FAFD"/>
                </a:solidFill>
                <a:latin typeface="Aptos"/>
              </a:defRPr>
            </a:pPr>
            <a:r>
              <a:t>Link it with &lt;link rel="stylesheet" href="styles.css"&gt;.</a:t>
            </a:r>
          </a:p>
          <a:p>
            <a:pPr>
              <a:spcAft>
                <a:spcPts val="1100"/>
              </a:spcAft>
              <a:defRPr sz="1700" b="0">
                <a:solidFill>
                  <a:srgbClr val="F8FAFD"/>
                </a:solidFill>
                <a:latin typeface="Aptos"/>
              </a:defRPr>
            </a:pPr>
            <a:r>
              <a:t>Reusable across multiple pages.</a:t>
            </a:r>
          </a:p>
          <a:p>
            <a:pPr>
              <a:spcAft>
                <a:spcPts val="1100"/>
              </a:spcAft>
              <a:defRPr sz="1700" b="0">
                <a:solidFill>
                  <a:srgbClr val="F8FAFD"/>
                </a:solidFill>
                <a:latin typeface="Aptos"/>
              </a:defRPr>
            </a:pPr>
            <a:r>
              <a:t>Usually the preferred approach for multi-page sites.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760720"/>
            <a:ext cx="10149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2CCCD5"/>
                </a:solidFill>
                <a:latin typeface="Aptos"/>
              </a:rPr>
              <a:t>Good practice: separate content (HTML) from presentation (CSS).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07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54864" cy="6858000"/>
          </a:xfrm>
          <a:prstGeom prst="rect">
            <a:avLst/>
          </a:prstGeom>
          <a:solidFill>
            <a:srgbClr val="2C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38912"/>
            <a:ext cx="1088136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F8FAFD"/>
                </a:solidFill>
                <a:latin typeface="Aptos"/>
              </a:rPr>
              <a:t>Lecture 3 • External Style Sheets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097280"/>
            <a:ext cx="107899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A4B4CD"/>
                </a:solidFill>
                <a:latin typeface="Aptos"/>
              </a:rPr>
              <a:t>A practical setup using two files in the same folder.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A4B4CD"/>
                </a:solidFill>
                <a:latin typeface="Aptos"/>
              </a:rPr>
              <a:t>W2 • BASIC CSS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2CCCD5"/>
                </a:solidFill>
                <a:latin typeface="Aptos"/>
              </a:rP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481328"/>
            <a:ext cx="6062472" cy="4599432"/>
          </a:xfrm>
          <a:prstGeom prst="roundRect">
            <a:avLst/>
          </a:prstGeom>
          <a:solidFill>
            <a:srgbClr val="19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86968" y="1719072"/>
            <a:ext cx="554126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2CCCD5"/>
                </a:solidFill>
                <a:latin typeface="Aptos"/>
              </a:rPr>
              <a:t>HTML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039112"/>
            <a:ext cx="5541264" cy="3931920"/>
          </a:xfrm>
          <a:prstGeom prst="rect">
            <a:avLst/>
          </a:prstGeom>
          <a:noFill/>
        </p:spPr>
        <p:txBody>
          <a:bodyPr wrap="none" lIns="0" tIns="0" rIns="0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E0E8F4"/>
                </a:solidFill>
                <a:latin typeface="Consolas"/>
              </a:defRPr>
            </a:pPr>
            <a:r>
              <a:t>&lt;!-- index.html --&gt;</a:t>
            </a:r>
          </a:p>
          <a:p>
            <a:pPr>
              <a:spcAft>
                <a:spcPts val="200"/>
              </a:spcAft>
              <a:defRPr sz="1200">
                <a:solidFill>
                  <a:srgbClr val="E0E8F4"/>
                </a:solidFill>
                <a:latin typeface="Consolas"/>
              </a:defRPr>
            </a:pPr>
            <a:r>
              <a:t>&lt;!doctype html&gt;</a:t>
            </a:r>
          </a:p>
          <a:p>
            <a:pPr>
              <a:spcAft>
                <a:spcPts val="200"/>
              </a:spcAft>
              <a:defRPr sz="1200">
                <a:solidFill>
                  <a:srgbClr val="E0E8F4"/>
                </a:solidFill>
                <a:latin typeface="Consolas"/>
              </a:defRPr>
            </a:pPr>
            <a:r>
              <a:t>&lt;html lang="en"&gt;</a:t>
            </a:r>
          </a:p>
          <a:p>
            <a:pPr>
              <a:spcAft>
                <a:spcPts val="200"/>
              </a:spcAft>
              <a:defRPr sz="1200">
                <a:solidFill>
                  <a:srgbClr val="E0E8F4"/>
                </a:solidFill>
                <a:latin typeface="Consolas"/>
              </a:defRPr>
            </a:pPr>
            <a:r>
              <a:t>&lt;head&gt;</a:t>
            </a:r>
          </a:p>
          <a:p>
            <a:pPr>
              <a:spcAft>
                <a:spcPts val="200"/>
              </a:spcAft>
              <a:defRPr sz="1200">
                <a:solidFill>
                  <a:srgbClr val="E0E8F4"/>
                </a:solidFill>
                <a:latin typeface="Consolas"/>
              </a:defRPr>
            </a:pPr>
            <a:r>
              <a:t>  &lt;meta charset="utf-8"&gt;</a:t>
            </a:r>
          </a:p>
          <a:p>
            <a:pPr>
              <a:spcAft>
                <a:spcPts val="200"/>
              </a:spcAft>
              <a:defRPr sz="1200">
                <a:solidFill>
                  <a:srgbClr val="E0E8F4"/>
                </a:solidFill>
                <a:latin typeface="Consolas"/>
              </a:defRPr>
            </a:pPr>
            <a:r>
              <a:t>  &lt;title&gt;My Page&lt;/title&gt;</a:t>
            </a:r>
          </a:p>
          <a:p>
            <a:pPr>
              <a:spcAft>
                <a:spcPts val="200"/>
              </a:spcAft>
              <a:defRPr sz="1200">
                <a:solidFill>
                  <a:srgbClr val="E0E8F4"/>
                </a:solidFill>
                <a:latin typeface="Consolas"/>
              </a:defRPr>
            </a:pPr>
            <a:r>
              <a:t>  &lt;link rel="stylesheet" href="styles.css"&gt;</a:t>
            </a:r>
          </a:p>
          <a:p>
            <a:pPr>
              <a:spcAft>
                <a:spcPts val="200"/>
              </a:spcAft>
              <a:defRPr sz="1200">
                <a:solidFill>
                  <a:srgbClr val="E0E8F4"/>
                </a:solidFill>
                <a:latin typeface="Consolas"/>
              </a:defRPr>
            </a:pPr>
            <a:r>
              <a:t>&lt;/head&gt;</a:t>
            </a:r>
          </a:p>
          <a:p>
            <a:pPr>
              <a:spcAft>
                <a:spcPts val="200"/>
              </a:spcAft>
              <a:defRPr sz="1200">
                <a:solidFill>
                  <a:srgbClr val="E0E8F4"/>
                </a:solidFill>
                <a:latin typeface="Consolas"/>
              </a:defRPr>
            </a:pPr>
            <a:r>
              <a:t>&lt;body&gt;</a:t>
            </a:r>
          </a:p>
          <a:p>
            <a:pPr>
              <a:spcAft>
                <a:spcPts val="200"/>
              </a:spcAft>
              <a:defRPr sz="1200">
                <a:solidFill>
                  <a:srgbClr val="E0E8F4"/>
                </a:solidFill>
                <a:latin typeface="Consolas"/>
              </a:defRPr>
            </a:pPr>
            <a:r>
              <a:t>  &lt;h1&gt;Welcome&lt;/h1&gt;</a:t>
            </a:r>
          </a:p>
          <a:p>
            <a:pPr>
              <a:spcAft>
                <a:spcPts val="200"/>
              </a:spcAft>
              <a:defRPr sz="1200">
                <a:solidFill>
                  <a:srgbClr val="E0E8F4"/>
                </a:solidFill>
                <a:latin typeface="Consolas"/>
              </a:defRPr>
            </a:pPr>
            <a:r>
              <a:t>  &lt;p&gt;My first styled page.&lt;/p&gt;</a:t>
            </a:r>
          </a:p>
          <a:p>
            <a:pPr>
              <a:spcAft>
                <a:spcPts val="200"/>
              </a:spcAft>
              <a:defRPr sz="1200">
                <a:solidFill>
                  <a:srgbClr val="E0E8F4"/>
                </a:solidFill>
                <a:latin typeface="Consolas"/>
              </a:defRPr>
            </a:pPr>
            <a:r>
              <a:t>&lt;/body&gt;</a:t>
            </a:r>
          </a:p>
          <a:p>
            <a:pPr>
              <a:spcAft>
                <a:spcPts val="200"/>
              </a:spcAft>
              <a:defRPr sz="1200">
                <a:solidFill>
                  <a:srgbClr val="E0E8F4"/>
                </a:solidFill>
                <a:latin typeface="Consolas"/>
              </a:defRPr>
            </a:pPr>
            <a:r>
              <a:t>&lt;/html&gt;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30568" y="1536192"/>
            <a:ext cx="4645152" cy="4544568"/>
          </a:xfrm>
          <a:prstGeom prst="roundRect">
            <a:avLst/>
          </a:prstGeom>
          <a:solidFill>
            <a:srgbClr val="19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104888" y="1719072"/>
            <a:ext cx="4169663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2CCCD5"/>
                </a:solidFill>
                <a:latin typeface="Aptos"/>
              </a:rPr>
              <a:t>CSS FILE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04888" y="2039112"/>
            <a:ext cx="4169663" cy="3931920"/>
          </a:xfrm>
          <a:prstGeom prst="rect">
            <a:avLst/>
          </a:prstGeom>
          <a:noFill/>
        </p:spPr>
        <p:txBody>
          <a:bodyPr wrap="none" lIns="0" tIns="0" rIns="0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59D29B"/>
                </a:solidFill>
                <a:latin typeface="Consolas"/>
              </a:defRPr>
            </a:pPr>
            <a:r>
              <a:t>/* styles.css */</a:t>
            </a:r>
          </a:p>
          <a:p>
            <a:pPr>
              <a:spcAft>
                <a:spcPts val="200"/>
              </a:spcAft>
              <a:defRPr sz="1300">
                <a:solidFill>
                  <a:srgbClr val="E0E8F4"/>
                </a:solidFill>
                <a:latin typeface="Consolas"/>
              </a:defRPr>
            </a:pPr>
            <a:r>
              <a:t>body {</a:t>
            </a:r>
          </a:p>
          <a:p>
            <a:pPr>
              <a:spcAft>
                <a:spcPts val="200"/>
              </a:spcAft>
              <a:defRPr sz="1300">
                <a:solidFill>
                  <a:srgbClr val="E0E8F4"/>
                </a:solidFill>
                <a:latin typeface="Consolas"/>
              </a:defRPr>
            </a:pPr>
            <a:r>
              <a:t>  font-family: Arial, sans-serif;</a:t>
            </a:r>
          </a:p>
          <a:p>
            <a:pPr>
              <a:spcAft>
                <a:spcPts val="200"/>
              </a:spcAft>
              <a:defRPr sz="1300">
                <a:solidFill>
                  <a:srgbClr val="E0E8F4"/>
                </a:solidFill>
                <a:latin typeface="Consolas"/>
              </a:defRPr>
            </a:pPr>
            <a:r>
              <a:t>  background-color: #f4f7fb;</a:t>
            </a:r>
          </a:p>
          <a:p>
            <a:pPr>
              <a:spcAft>
                <a:spcPts val="200"/>
              </a:spcAft>
              <a:defRPr sz="1300">
                <a:solidFill>
                  <a:srgbClr val="E0E8F4"/>
                </a:solidFill>
                <a:latin typeface="Consolas"/>
              </a:defRPr>
            </a:pPr>
            <a:r>
              <a:t>  color: #182238;</a:t>
            </a:r>
          </a:p>
          <a:p>
            <a:pPr>
              <a:spcAft>
                <a:spcPts val="200"/>
              </a:spcAft>
              <a:defRPr sz="1300">
                <a:solidFill>
                  <a:srgbClr val="E0E8F4"/>
                </a:solidFill>
                <a:latin typeface="Consolas"/>
              </a:defRPr>
            </a:pPr>
            <a:r>
              <a:t>}</a:t>
            </a:r>
          </a:p>
          <a:p>
            <a:pPr>
              <a:spcAft>
                <a:spcPts val="200"/>
              </a:spcAft>
              <a:defRPr sz="1300">
                <a:solidFill>
                  <a:srgbClr val="E0E8F4"/>
                </a:solidFill>
                <a:latin typeface="Consolas"/>
              </a:defRPr>
            </a:pPr>
            <a:r>
              <a:t>h1 {</a:t>
            </a:r>
          </a:p>
          <a:p>
            <a:pPr>
              <a:spcAft>
                <a:spcPts val="200"/>
              </a:spcAft>
              <a:defRPr sz="1300">
                <a:solidFill>
                  <a:srgbClr val="E0E8F4"/>
                </a:solidFill>
                <a:latin typeface="Consolas"/>
              </a:defRPr>
            </a:pPr>
            <a:r>
              <a:t>  color: #2f77eb;</a:t>
            </a:r>
          </a:p>
          <a:p>
            <a:pPr>
              <a:spcAft>
                <a:spcPts val="200"/>
              </a:spcAft>
              <a:defRPr sz="1300">
                <a:solidFill>
                  <a:srgbClr val="E0E8F4"/>
                </a:solidFill>
                <a:latin typeface="Consolas"/>
              </a:defRPr>
            </a:pPr>
            <a:r>
              <a:t>}</a:t>
            </a:r>
          </a:p>
          <a:p>
            <a:pPr>
              <a:spcAft>
                <a:spcPts val="200"/>
              </a:spcAft>
              <a:defRPr sz="1300">
                <a:solidFill>
                  <a:srgbClr val="E0E8F4"/>
                </a:solidFill>
                <a:latin typeface="Consolas"/>
              </a:defRPr>
            </a:pPr>
            <a:r>
              <a:t>p {</a:t>
            </a:r>
          </a:p>
          <a:p>
            <a:pPr>
              <a:spcAft>
                <a:spcPts val="200"/>
              </a:spcAft>
              <a:defRPr sz="1300">
                <a:solidFill>
                  <a:srgbClr val="E0E8F4"/>
                </a:solidFill>
                <a:latin typeface="Consolas"/>
              </a:defRPr>
            </a:pPr>
            <a:r>
              <a:t>  font-size: 18px;</a:t>
            </a:r>
          </a:p>
          <a:p>
            <a:pPr>
              <a:spcAft>
                <a:spcPts val="200"/>
              </a:spcAft>
              <a:defRPr sz="1300">
                <a:solidFill>
                  <a:srgbClr val="E0E8F4"/>
                </a:solidFill>
                <a:latin typeface="Consolas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07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54864" cy="6858000"/>
          </a:xfrm>
          <a:prstGeom prst="rect">
            <a:avLst/>
          </a:prstGeom>
          <a:solidFill>
            <a:srgbClr val="2C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38912"/>
            <a:ext cx="1088136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F8FAFD"/>
                </a:solidFill>
                <a:latin typeface="Aptos"/>
              </a:rPr>
              <a:t>Linking &amp; Troubleshooting CSS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097280"/>
            <a:ext cx="107899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A4B4CD"/>
                </a:solidFill>
                <a:latin typeface="Aptos"/>
              </a:rPr>
              <a:t>If styles do not appear, check the file path and browser tools.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A4B4CD"/>
                </a:solidFill>
                <a:latin typeface="Aptos"/>
              </a:rPr>
              <a:t>W2 • BASIC CSS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2CCCD5"/>
                </a:solidFill>
                <a:latin typeface="Aptos"/>
              </a:rP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00200"/>
            <a:ext cx="10424160" cy="43891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F8FAFD"/>
                </a:solidFill>
                <a:latin typeface="Aptos"/>
              </a:defRPr>
            </a:pPr>
            <a:r>
              <a:t>•  Keep index.html and styles.css in the same folder for this example.</a:t>
            </a:r>
          </a:p>
          <a:p>
            <a:pPr>
              <a:spcAft>
                <a:spcPts val="1400"/>
              </a:spcAft>
              <a:defRPr sz="1900">
                <a:solidFill>
                  <a:srgbClr val="F8FAFD"/>
                </a:solidFill>
                <a:latin typeface="Aptos"/>
              </a:defRPr>
            </a:pPr>
            <a:r>
              <a:t>•  The href value must match the CSS filename and relative path.</a:t>
            </a:r>
          </a:p>
          <a:p>
            <a:pPr>
              <a:spcAft>
                <a:spcPts val="1400"/>
              </a:spcAft>
              <a:defRPr sz="1900">
                <a:solidFill>
                  <a:srgbClr val="F8FAFD"/>
                </a:solidFill>
                <a:latin typeface="Aptos"/>
              </a:defRPr>
            </a:pPr>
            <a:r>
              <a:t>•  Use rel="stylesheet" in the link element.</a:t>
            </a:r>
          </a:p>
          <a:p>
            <a:pPr>
              <a:spcAft>
                <a:spcPts val="1400"/>
              </a:spcAft>
              <a:defRPr sz="1900">
                <a:solidFill>
                  <a:srgbClr val="F8FAFD"/>
                </a:solidFill>
                <a:latin typeface="Aptos"/>
              </a:defRPr>
            </a:pPr>
            <a:r>
              <a:t>•  Check spelling, braces, colons, semicolons, and quotation marks.</a:t>
            </a:r>
          </a:p>
          <a:p>
            <a:pPr>
              <a:spcAft>
                <a:spcPts val="1400"/>
              </a:spcAft>
              <a:defRPr sz="1900">
                <a:solidFill>
                  <a:srgbClr val="F8FAFD"/>
                </a:solidFill>
                <a:latin typeface="Aptos"/>
              </a:defRPr>
            </a:pPr>
            <a:r>
              <a:t>•  Refresh the page; inspect the browser console and Network panel if needed.</a:t>
            </a:r>
          </a:p>
          <a:p>
            <a:pPr>
              <a:spcAft>
                <a:spcPts val="1400"/>
              </a:spcAft>
              <a:defRPr sz="1900">
                <a:solidFill>
                  <a:srgbClr val="F8FAFD"/>
                </a:solidFill>
                <a:latin typeface="Aptos"/>
              </a:defRPr>
            </a:pPr>
            <a:r>
              <a:t>•  A relative path such as css/styles.css points to a file inside a css folder.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07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54864" cy="6858000"/>
          </a:xfrm>
          <a:prstGeom prst="rect">
            <a:avLst/>
          </a:prstGeom>
          <a:solidFill>
            <a:srgbClr val="2C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38912"/>
            <a:ext cx="1088136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F8FAFD"/>
                </a:solidFill>
                <a:latin typeface="Aptos"/>
              </a:rPr>
              <a:t>Lecture 4 • CSS Properties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097280"/>
            <a:ext cx="107899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A4B4CD"/>
                </a:solidFill>
                <a:latin typeface="Aptos"/>
              </a:rPr>
              <a:t>Properties control how elements look and how space is arranged.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A4B4CD"/>
                </a:solidFill>
                <a:latin typeface="Aptos"/>
              </a:rPr>
              <a:t>W2 • BASIC CSS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2CCCD5"/>
                </a:solidFill>
                <a:latin typeface="Aptos"/>
              </a:rP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00200"/>
            <a:ext cx="5166360" cy="4297680"/>
          </a:xfrm>
          <a:prstGeom prst="roundRect">
            <a:avLst/>
          </a:prstGeom>
          <a:solidFill>
            <a:srgbClr val="19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87552" y="1801368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2CCCD5"/>
                </a:solidFill>
                <a:latin typeface="Aptos"/>
              </a:rPr>
              <a:t>Color &amp; Background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377440"/>
            <a:ext cx="4663440" cy="3246120"/>
          </a:xfrm>
          <a:prstGeom prst="rect">
            <a:avLst/>
          </a:prstGeom>
          <a:noFill/>
        </p:spPr>
        <p:txBody>
          <a:bodyPr wrap="square" lIns="73152" tIns="73152" rIns="73152" bIns="36576">
            <a:spAutoFit/>
          </a:bodyPr>
          <a:lstStyle/>
          <a:p>
            <a:pPr>
              <a:spcAft>
                <a:spcPts val="1100"/>
              </a:spcAft>
              <a:defRPr sz="1700" b="0">
                <a:solidFill>
                  <a:srgbClr val="F8FAFD"/>
                </a:solidFill>
                <a:latin typeface="Aptos"/>
              </a:defRPr>
            </a:pPr>
            <a:r>
              <a:t>color: sets text color.</a:t>
            </a:r>
          </a:p>
          <a:p>
            <a:pPr>
              <a:spcAft>
                <a:spcPts val="1100"/>
              </a:spcAft>
              <a:defRPr sz="1700" b="0">
                <a:solidFill>
                  <a:srgbClr val="F8FAFD"/>
                </a:solidFill>
                <a:latin typeface="Aptos"/>
              </a:defRPr>
            </a:pPr>
            <a:r>
              <a:t>background-color: sets an element's background.</a:t>
            </a:r>
          </a:p>
          <a:p>
            <a:pPr>
              <a:spcAft>
                <a:spcPts val="1100"/>
              </a:spcAft>
              <a:defRPr sz="1700" b="0">
                <a:solidFill>
                  <a:srgbClr val="F8FAFD"/>
                </a:solidFill>
                <a:latin typeface="Aptos"/>
              </a:defRPr>
            </a:pPr>
            <a:r>
              <a:t>border: adds a visible edge.</a:t>
            </a:r>
          </a:p>
          <a:p>
            <a:pPr>
              <a:spcAft>
                <a:spcPts val="1100"/>
              </a:spcAft>
              <a:defRPr sz="1700" b="0">
                <a:solidFill>
                  <a:srgbClr val="F8FAFD"/>
                </a:solidFill>
                <a:latin typeface="Aptos"/>
              </a:defRPr>
            </a:pPr>
            <a:r>
              <a:t>Use named colors, hex, rgb(), or hsl() values.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600200"/>
            <a:ext cx="5166360" cy="4297680"/>
          </a:xfrm>
          <a:prstGeom prst="roundRect">
            <a:avLst/>
          </a:prstGeom>
          <a:solidFill>
            <a:srgbClr val="19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28232" y="1801368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FFC247"/>
                </a:solidFill>
                <a:latin typeface="Aptos"/>
              </a:rPr>
              <a:t>Spacing &amp; Sizing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377440"/>
            <a:ext cx="4663440" cy="3246120"/>
          </a:xfrm>
          <a:prstGeom prst="rect">
            <a:avLst/>
          </a:prstGeom>
          <a:noFill/>
        </p:spPr>
        <p:txBody>
          <a:bodyPr wrap="square" lIns="73152" tIns="73152" rIns="73152" bIns="36576">
            <a:spAutoFit/>
          </a:bodyPr>
          <a:lstStyle/>
          <a:p>
            <a:pPr>
              <a:spcAft>
                <a:spcPts val="1100"/>
              </a:spcAft>
              <a:defRPr sz="1700" b="0">
                <a:solidFill>
                  <a:srgbClr val="F8FAFD"/>
                </a:solidFill>
                <a:latin typeface="Aptos"/>
              </a:defRPr>
            </a:pPr>
            <a:r>
              <a:t>width / height: control dimensions.</a:t>
            </a:r>
          </a:p>
          <a:p>
            <a:pPr>
              <a:spcAft>
                <a:spcPts val="1100"/>
              </a:spcAft>
              <a:defRPr sz="1700" b="0">
                <a:solidFill>
                  <a:srgbClr val="F8FAFD"/>
                </a:solidFill>
                <a:latin typeface="Aptos"/>
              </a:defRPr>
            </a:pPr>
            <a:r>
              <a:t>margin: space outside the border.</a:t>
            </a:r>
          </a:p>
          <a:p>
            <a:pPr>
              <a:spcAft>
                <a:spcPts val="1100"/>
              </a:spcAft>
              <a:defRPr sz="1700" b="0">
                <a:solidFill>
                  <a:srgbClr val="F8FAFD"/>
                </a:solidFill>
                <a:latin typeface="Aptos"/>
              </a:defRPr>
            </a:pPr>
            <a:r>
              <a:t>padding: space between content and border.</a:t>
            </a:r>
          </a:p>
          <a:p>
            <a:pPr>
              <a:spcAft>
                <a:spcPts val="1100"/>
              </a:spcAft>
              <a:defRPr sz="1700" b="0">
                <a:solidFill>
                  <a:srgbClr val="F8FAFD"/>
                </a:solidFill>
                <a:latin typeface="Aptos"/>
              </a:defRPr>
            </a:pPr>
            <a:r>
              <a:t>border-radius: rounds corners.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07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54864" cy="6858000"/>
          </a:xfrm>
          <a:prstGeom prst="rect">
            <a:avLst/>
          </a:prstGeom>
          <a:solidFill>
            <a:srgbClr val="2C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38912"/>
            <a:ext cx="1088136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F8FAFD"/>
                </a:solidFill>
                <a:latin typeface="Aptos"/>
              </a:rPr>
              <a:t>The CSS Box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097280"/>
            <a:ext cx="107899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A4B4CD"/>
                </a:solidFill>
                <a:latin typeface="Aptos"/>
              </a:rPr>
              <a:t>Every element is laid out as content surrounded by padding, border, and margin.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A4B4CD"/>
                </a:solidFill>
                <a:latin typeface="Aptos"/>
              </a:rPr>
              <a:t>W2 • BASIC CSS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2CCCD5"/>
                </a:solidFill>
                <a:latin typeface="Aptos"/>
              </a:rPr>
              <a:t>09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1737360"/>
            <a:ext cx="5120640" cy="3749039"/>
          </a:xfrm>
          <a:prstGeom prst="rect">
            <a:avLst/>
          </a:prstGeom>
          <a:solidFill>
            <a:srgbClr val="4B58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1901952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F8FAFD"/>
                </a:solidFill>
                <a:latin typeface="Aptos"/>
              </a:rPr>
              <a:t>MARGIN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1600200" y="2331720"/>
            <a:ext cx="3749039" cy="2743200"/>
          </a:xfrm>
          <a:prstGeom prst="rect">
            <a:avLst/>
          </a:prstGeom>
          <a:solidFill>
            <a:srgbClr val="FFC2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783080" y="2487168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11B30"/>
                </a:solidFill>
                <a:latin typeface="Aptos"/>
              </a:rPr>
              <a:t>BORDER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48840" y="2788920"/>
            <a:ext cx="2651760" cy="1828800"/>
          </a:xfrm>
          <a:prstGeom prst="rect">
            <a:avLst/>
          </a:prstGeom>
          <a:solidFill>
            <a:srgbClr val="2C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331720" y="2944368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11B30"/>
                </a:solidFill>
                <a:latin typeface="Aptos"/>
              </a:rPr>
              <a:t>PADDING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97480" y="3337560"/>
            <a:ext cx="1554480" cy="868680"/>
          </a:xfrm>
          <a:prstGeom prst="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834640" y="3611880"/>
            <a:ext cx="12801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11B30"/>
                </a:solidFill>
                <a:latin typeface="Aptos"/>
              </a:rPr>
              <a:t>CONTENT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29400" y="1874519"/>
            <a:ext cx="4480560" cy="3566160"/>
          </a:xfrm>
          <a:prstGeom prst="roundRect">
            <a:avLst/>
          </a:prstGeom>
          <a:solidFill>
            <a:srgbClr val="19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30568" y="1993391"/>
            <a:ext cx="407822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2CCCD5"/>
                </a:solidFill>
                <a:latin typeface="Aptos"/>
              </a:rPr>
              <a:t>BOX MODEL EXAMPLE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30568" y="2313432"/>
            <a:ext cx="4078224" cy="3017520"/>
          </a:xfrm>
          <a:prstGeom prst="rect">
            <a:avLst/>
          </a:prstGeom>
          <a:noFill/>
        </p:spPr>
        <p:txBody>
          <a:bodyPr wrap="none" lIns="0" tIns="0" rIns="0">
            <a:spAutoFit/>
          </a:bodyPr>
          <a:lstStyle/>
          <a:p>
            <a:pPr>
              <a:spcAft>
                <a:spcPts val="200"/>
              </a:spcAft>
              <a:defRPr sz="1500">
                <a:solidFill>
                  <a:srgbClr val="E0E8F4"/>
                </a:solidFill>
                <a:latin typeface="Consolas"/>
              </a:defRPr>
            </a:pPr>
            <a:r>
              <a:t>.card {</a:t>
            </a:r>
          </a:p>
          <a:p>
            <a:pPr>
              <a:spcAft>
                <a:spcPts val="200"/>
              </a:spcAft>
              <a:defRPr sz="1500">
                <a:solidFill>
                  <a:srgbClr val="E0E8F4"/>
                </a:solidFill>
                <a:latin typeface="Consolas"/>
              </a:defRPr>
            </a:pPr>
            <a:r>
              <a:t>  width: 320px;</a:t>
            </a:r>
          </a:p>
          <a:p>
            <a:pPr>
              <a:spcAft>
                <a:spcPts val="200"/>
              </a:spcAft>
              <a:defRPr sz="1500">
                <a:solidFill>
                  <a:srgbClr val="E0E8F4"/>
                </a:solidFill>
                <a:latin typeface="Consolas"/>
              </a:defRPr>
            </a:pPr>
            <a:r>
              <a:t>  padding: 20px;</a:t>
            </a:r>
          </a:p>
          <a:p>
            <a:pPr>
              <a:spcAft>
                <a:spcPts val="200"/>
              </a:spcAft>
              <a:defRPr sz="1500">
                <a:solidFill>
                  <a:srgbClr val="E0E8F4"/>
                </a:solidFill>
                <a:latin typeface="Consolas"/>
              </a:defRPr>
            </a:pPr>
            <a:r>
              <a:t>  border: 2px solid navy;</a:t>
            </a:r>
          </a:p>
          <a:p>
            <a:pPr>
              <a:spcAft>
                <a:spcPts val="200"/>
              </a:spcAft>
              <a:defRPr sz="1500">
                <a:solidFill>
                  <a:srgbClr val="E0E8F4"/>
                </a:solidFill>
                <a:latin typeface="Consolas"/>
              </a:defRPr>
            </a:pPr>
            <a:r>
              <a:t>  margin: 16px;</a:t>
            </a:r>
          </a:p>
          <a:p>
            <a:pPr>
              <a:spcAft>
                <a:spcPts val="200"/>
              </a:spcAft>
              <a:defRPr sz="1500">
                <a:solidFill>
                  <a:srgbClr val="E0E8F4"/>
                </a:solidFill>
                <a:latin typeface="Consolas"/>
              </a:defRPr>
            </a:pPr>
            <a:r>
              <a:t>  border-radius: 12px;</a:t>
            </a:r>
          </a:p>
          <a:p>
            <a:pPr>
              <a:spcAft>
                <a:spcPts val="200"/>
              </a:spcAft>
              <a:defRPr sz="1500">
                <a:solidFill>
                  <a:srgbClr val="E0E8F4"/>
                </a:solidFill>
                <a:latin typeface="Consolas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07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54864" cy="6858000"/>
          </a:xfrm>
          <a:prstGeom prst="rect">
            <a:avLst/>
          </a:prstGeom>
          <a:solidFill>
            <a:srgbClr val="2C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38912"/>
            <a:ext cx="1088136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F8FAFD"/>
                </a:solidFill>
                <a:latin typeface="Aptos"/>
              </a:rPr>
              <a:t>Controlling Fonts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097280"/>
            <a:ext cx="107899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A4B4CD"/>
                </a:solidFill>
                <a:latin typeface="Aptos"/>
              </a:rPr>
              <a:t>Font properties influence readability, tone, and hierarchy.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A4B4CD"/>
                </a:solidFill>
                <a:latin typeface="Aptos"/>
              </a:rPr>
              <a:t>W2 • BASIC CSS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2CCCD5"/>
                </a:solidFill>
                <a:latin typeface="Aptos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00200"/>
            <a:ext cx="10424160" cy="43891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F8FAFD"/>
                </a:solidFill>
                <a:latin typeface="Aptos"/>
              </a:defRPr>
            </a:pPr>
            <a:r>
              <a:t>•  font-family: selects a typeface and fallback fonts.</a:t>
            </a:r>
          </a:p>
          <a:p>
            <a:pPr>
              <a:spcAft>
                <a:spcPts val="1400"/>
              </a:spcAft>
              <a:defRPr sz="2000">
                <a:solidFill>
                  <a:srgbClr val="F8FAFD"/>
                </a:solidFill>
                <a:latin typeface="Aptos"/>
              </a:defRPr>
            </a:pPr>
            <a:r>
              <a:t>•  font-size: sets text size using units such as px, rem, or em.</a:t>
            </a:r>
          </a:p>
          <a:p>
            <a:pPr>
              <a:spcAft>
                <a:spcPts val="1400"/>
              </a:spcAft>
              <a:defRPr sz="2000">
                <a:solidFill>
                  <a:srgbClr val="F8FAFD"/>
                </a:solidFill>
                <a:latin typeface="Aptos"/>
              </a:defRPr>
            </a:pPr>
            <a:r>
              <a:t>•  font-weight: controls thickness (for example, 400 or 700).</a:t>
            </a:r>
          </a:p>
          <a:p>
            <a:pPr>
              <a:spcAft>
                <a:spcPts val="1400"/>
              </a:spcAft>
              <a:defRPr sz="2000">
                <a:solidFill>
                  <a:srgbClr val="F8FAFD"/>
                </a:solidFill>
                <a:latin typeface="Aptos"/>
              </a:defRPr>
            </a:pPr>
            <a:r>
              <a:t>•  font-style: commonly normal or italic.</a:t>
            </a:r>
          </a:p>
          <a:p>
            <a:pPr>
              <a:spcAft>
                <a:spcPts val="1400"/>
              </a:spcAft>
              <a:defRPr sz="2000">
                <a:solidFill>
                  <a:srgbClr val="F8FAFD"/>
                </a:solidFill>
                <a:latin typeface="Aptos"/>
              </a:defRPr>
            </a:pPr>
            <a:r>
              <a:t>•  line-height: controls vertical spacing between lines.</a:t>
            </a:r>
          </a:p>
          <a:p>
            <a:pPr>
              <a:spcAft>
                <a:spcPts val="1400"/>
              </a:spcAft>
              <a:defRPr sz="2000">
                <a:solidFill>
                  <a:srgbClr val="F8FAFD"/>
                </a:solidFill>
                <a:latin typeface="Aptos"/>
              </a:defRPr>
            </a:pPr>
            <a:r>
              <a:t>•  Prefer readable font sizes, clear contrast, and a consistent type scale.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07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54864" cy="6858000"/>
          </a:xfrm>
          <a:prstGeom prst="rect">
            <a:avLst/>
          </a:prstGeom>
          <a:solidFill>
            <a:srgbClr val="2C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38912"/>
            <a:ext cx="1088136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F8FAFD"/>
                </a:solidFill>
                <a:latin typeface="Aptos"/>
              </a:rPr>
              <a:t>Font Properties •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097280"/>
            <a:ext cx="107899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A4B4CD"/>
                </a:solidFill>
                <a:latin typeface="Aptos"/>
              </a:rPr>
              <a:t>Use a font stack so the browser can fall back if the first font is unavailable.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A4B4CD"/>
                </a:solidFill>
                <a:latin typeface="Aptos"/>
              </a:rPr>
              <a:t>W2 • BASIC CSS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2CCCD5"/>
                </a:solidFill>
                <a:latin typeface="Aptos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26864"/>
            <a:ext cx="5897880" cy="4443984"/>
          </a:xfrm>
          <a:prstGeom prst="roundRect">
            <a:avLst/>
          </a:prstGeom>
          <a:solidFill>
            <a:srgbClr val="19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78408" y="1810512"/>
            <a:ext cx="5358383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2CCCD5"/>
                </a:solidFill>
                <a:latin typeface="Aptos"/>
              </a:rPr>
              <a:t>CSS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130552"/>
            <a:ext cx="5358383" cy="3749040"/>
          </a:xfrm>
          <a:prstGeom prst="rect">
            <a:avLst/>
          </a:prstGeom>
          <a:noFill/>
        </p:spPr>
        <p:txBody>
          <a:bodyPr wrap="none" lIns="0" tIns="0" rIns="0">
            <a:spAutoFit/>
          </a:bodyPr>
          <a:lstStyle/>
          <a:p>
            <a:pPr>
              <a:spcAft>
                <a:spcPts val="200"/>
              </a:spcAft>
              <a:defRPr sz="1600">
                <a:solidFill>
                  <a:srgbClr val="E0E8F4"/>
                </a:solidFill>
                <a:latin typeface="Consolas"/>
              </a:defRPr>
            </a:pPr>
            <a:r>
              <a:t>body {</a:t>
            </a:r>
          </a:p>
          <a:p>
            <a:pPr>
              <a:spcAft>
                <a:spcPts val="200"/>
              </a:spcAft>
              <a:defRPr sz="1600">
                <a:solidFill>
                  <a:srgbClr val="E0E8F4"/>
                </a:solidFill>
                <a:latin typeface="Consolas"/>
              </a:defRPr>
            </a:pPr>
            <a:r>
              <a:t>  font-family: Arial, Helvetica, sans-serif;</a:t>
            </a:r>
          </a:p>
          <a:p>
            <a:pPr>
              <a:spcAft>
                <a:spcPts val="200"/>
              </a:spcAft>
              <a:defRPr sz="1600">
                <a:solidFill>
                  <a:srgbClr val="E0E8F4"/>
                </a:solidFill>
                <a:latin typeface="Consolas"/>
              </a:defRPr>
            </a:pPr>
            <a:r>
              <a:t>  font-size: 16px;</a:t>
            </a:r>
          </a:p>
          <a:p>
            <a:pPr>
              <a:spcAft>
                <a:spcPts val="200"/>
              </a:spcAft>
              <a:defRPr sz="1600">
                <a:solidFill>
                  <a:srgbClr val="E0E8F4"/>
                </a:solidFill>
                <a:latin typeface="Consolas"/>
              </a:defRPr>
            </a:pPr>
            <a:r>
              <a:t>  line-height: 1.6;</a:t>
            </a:r>
          </a:p>
          <a:p>
            <a:pPr>
              <a:spcAft>
                <a:spcPts val="200"/>
              </a:spcAft>
              <a:defRPr sz="1600">
                <a:solidFill>
                  <a:srgbClr val="E0E8F4"/>
                </a:solidFill>
                <a:latin typeface="Consolas"/>
              </a:defRPr>
            </a:pPr>
            <a:r>
              <a:t>  color: #182238;</a:t>
            </a:r>
          </a:p>
          <a:p>
            <a:pPr>
              <a:spcAft>
                <a:spcPts val="200"/>
              </a:spcAft>
              <a:defRPr sz="1600">
                <a:solidFill>
                  <a:srgbClr val="E0E8F4"/>
                </a:solidFill>
                <a:latin typeface="Consolas"/>
              </a:defRPr>
            </a:pPr>
            <a:r>
              <a:t>}</a:t>
            </a:r>
          </a:p>
          <a:p>
            <a:pPr>
              <a:spcAft>
                <a:spcPts val="200"/>
              </a:spcAft>
              <a:defRPr sz="1600">
                <a:solidFill>
                  <a:srgbClr val="E0E8F4"/>
                </a:solidFill>
                <a:latin typeface="Consolas"/>
              </a:defRPr>
            </a:pPr>
            <a:endParaRPr/>
          </a:p>
          <a:p>
            <a:pPr>
              <a:spcAft>
                <a:spcPts val="200"/>
              </a:spcAft>
              <a:defRPr sz="1600">
                <a:solidFill>
                  <a:srgbClr val="E0E8F4"/>
                </a:solidFill>
                <a:latin typeface="Consolas"/>
              </a:defRPr>
            </a:pPr>
            <a:r>
              <a:t>h1 {</a:t>
            </a:r>
          </a:p>
          <a:p>
            <a:pPr>
              <a:spcAft>
                <a:spcPts val="200"/>
              </a:spcAft>
              <a:defRPr sz="1600">
                <a:solidFill>
                  <a:srgbClr val="E0E8F4"/>
                </a:solidFill>
                <a:latin typeface="Consolas"/>
              </a:defRPr>
            </a:pPr>
            <a:r>
              <a:t>  font-size: 2rem;</a:t>
            </a:r>
          </a:p>
          <a:p>
            <a:pPr>
              <a:spcAft>
                <a:spcPts val="200"/>
              </a:spcAft>
              <a:defRPr sz="1600">
                <a:solidFill>
                  <a:srgbClr val="E0E8F4"/>
                </a:solidFill>
                <a:latin typeface="Consolas"/>
              </a:defRPr>
            </a:pPr>
            <a:r>
              <a:t>  font-weight: 700;</a:t>
            </a:r>
          </a:p>
          <a:p>
            <a:pPr>
              <a:spcAft>
                <a:spcPts val="200"/>
              </a:spcAft>
              <a:defRPr sz="1600">
                <a:solidFill>
                  <a:srgbClr val="E0E8F4"/>
                </a:solidFill>
                <a:latin typeface="Consolas"/>
              </a:defRPr>
            </a:pPr>
            <a:r>
              <a:t>  font-style: normal;</a:t>
            </a:r>
          </a:p>
          <a:p>
            <a:pPr>
              <a:spcAft>
                <a:spcPts val="200"/>
              </a:spcAft>
              <a:defRPr sz="1600">
                <a:solidFill>
                  <a:srgbClr val="E0E8F4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03720" y="1691640"/>
            <a:ext cx="4297680" cy="4297680"/>
          </a:xfrm>
          <a:prstGeom prst="round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269480" y="2148840"/>
            <a:ext cx="356616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111B30"/>
                </a:solidFill>
                <a:latin typeface="Aptos"/>
              </a:rPr>
              <a:t>Readable heading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80" y="2971800"/>
            <a:ext cx="34290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i="0">
                <a:solidFill>
                  <a:srgbClr val="192640"/>
                </a:solidFill>
                <a:latin typeface="Aptos"/>
              </a:rPr>
              <a:t>This paragraph demonstrates a clean font stack, comfortable line spacing, and a dark text color on a light background.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9480" y="4983480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3077EB"/>
                </a:solidFill>
                <a:latin typeface="Aptos"/>
              </a:rPr>
              <a:t>font-size: 16px  •  line-height: 1.6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07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54864" cy="6858000"/>
          </a:xfrm>
          <a:prstGeom prst="rect">
            <a:avLst/>
          </a:prstGeom>
          <a:solidFill>
            <a:srgbClr val="2C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38912"/>
            <a:ext cx="1088136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F8FAFD"/>
                </a:solidFill>
                <a:latin typeface="Aptos"/>
              </a:rPr>
              <a:t>Text Formatting Properties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097280"/>
            <a:ext cx="107899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A4B4CD"/>
                </a:solidFill>
                <a:latin typeface="Aptos"/>
              </a:rPr>
              <a:t>Use text properties to control alignment, decoration, casing, and spacing.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A4B4CD"/>
                </a:solidFill>
                <a:latin typeface="Aptos"/>
              </a:rPr>
              <a:t>W2 • BASIC CSS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2CCCD5"/>
                </a:solidFill>
                <a:latin typeface="Aptos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00200"/>
            <a:ext cx="5166360" cy="4297680"/>
          </a:xfrm>
          <a:prstGeom prst="roundRect">
            <a:avLst/>
          </a:prstGeom>
          <a:solidFill>
            <a:srgbClr val="19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87552" y="1801368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2CCCD5"/>
                </a:solidFill>
                <a:latin typeface="Aptos"/>
              </a:rPr>
              <a:t>Common Properties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377440"/>
            <a:ext cx="4663440" cy="3246120"/>
          </a:xfrm>
          <a:prstGeom prst="rect">
            <a:avLst/>
          </a:prstGeom>
          <a:noFill/>
        </p:spPr>
        <p:txBody>
          <a:bodyPr wrap="square" lIns="73152" tIns="73152" rIns="73152" bIns="36576">
            <a:spAutoFit/>
          </a:bodyPr>
          <a:lstStyle/>
          <a:p>
            <a:pPr>
              <a:spcAft>
                <a:spcPts val="1100"/>
              </a:spcAft>
              <a:defRPr sz="1700" b="0">
                <a:solidFill>
                  <a:srgbClr val="F8FAFD"/>
                </a:solidFill>
                <a:latin typeface="Aptos"/>
              </a:defRPr>
            </a:pPr>
            <a:r>
              <a:t>text-align: left, center, right, justify.</a:t>
            </a:r>
          </a:p>
          <a:p>
            <a:pPr>
              <a:spcAft>
                <a:spcPts val="1100"/>
              </a:spcAft>
              <a:defRPr sz="1700" b="0">
                <a:solidFill>
                  <a:srgbClr val="F8FAFD"/>
                </a:solidFill>
                <a:latin typeface="Aptos"/>
              </a:defRPr>
            </a:pPr>
            <a:r>
              <a:t>text-decoration: underline, overline, line-through, none.</a:t>
            </a:r>
          </a:p>
          <a:p>
            <a:pPr>
              <a:spcAft>
                <a:spcPts val="1100"/>
              </a:spcAft>
              <a:defRPr sz="1700" b="0">
                <a:solidFill>
                  <a:srgbClr val="F8FAFD"/>
                </a:solidFill>
                <a:latin typeface="Aptos"/>
              </a:defRPr>
            </a:pPr>
            <a:r>
              <a:t>text-transform: uppercase, lowercase, capitalize.</a:t>
            </a:r>
          </a:p>
          <a:p>
            <a:pPr>
              <a:spcAft>
                <a:spcPts val="1100"/>
              </a:spcAft>
              <a:defRPr sz="1700" b="0">
                <a:solidFill>
                  <a:srgbClr val="F8FAFD"/>
                </a:solidFill>
                <a:latin typeface="Aptos"/>
              </a:defRPr>
            </a:pPr>
            <a:r>
              <a:t>text-indent: indents the first line.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600200"/>
            <a:ext cx="5166360" cy="4297680"/>
          </a:xfrm>
          <a:prstGeom prst="roundRect">
            <a:avLst/>
          </a:prstGeom>
          <a:solidFill>
            <a:srgbClr val="19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28232" y="1801368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FFC247"/>
                </a:solidFill>
                <a:latin typeface="Aptos"/>
              </a:rPr>
              <a:t>Spacing &amp; Readability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377440"/>
            <a:ext cx="4663440" cy="3246120"/>
          </a:xfrm>
          <a:prstGeom prst="rect">
            <a:avLst/>
          </a:prstGeom>
          <a:noFill/>
        </p:spPr>
        <p:txBody>
          <a:bodyPr wrap="square" lIns="73152" tIns="73152" rIns="73152" bIns="36576">
            <a:spAutoFit/>
          </a:bodyPr>
          <a:lstStyle/>
          <a:p>
            <a:pPr>
              <a:spcAft>
                <a:spcPts val="1100"/>
              </a:spcAft>
              <a:defRPr sz="1700" b="0">
                <a:solidFill>
                  <a:srgbClr val="F8FAFD"/>
                </a:solidFill>
                <a:latin typeface="Aptos"/>
              </a:defRPr>
            </a:pPr>
            <a:r>
              <a:t>letter-spacing: space between characters.</a:t>
            </a:r>
          </a:p>
          <a:p>
            <a:pPr>
              <a:spcAft>
                <a:spcPts val="1100"/>
              </a:spcAft>
              <a:defRPr sz="1700" b="0">
                <a:solidFill>
                  <a:srgbClr val="F8FAFD"/>
                </a:solidFill>
                <a:latin typeface="Aptos"/>
              </a:defRPr>
            </a:pPr>
            <a:r>
              <a:t>word-spacing: space between words.</a:t>
            </a:r>
          </a:p>
          <a:p>
            <a:pPr>
              <a:spcAft>
                <a:spcPts val="1100"/>
              </a:spcAft>
              <a:defRPr sz="1700" b="0">
                <a:solidFill>
                  <a:srgbClr val="F8FAFD"/>
                </a:solidFill>
                <a:latin typeface="Aptos"/>
              </a:defRPr>
            </a:pPr>
            <a:r>
              <a:t>line-height: vertical distance between text lines.</a:t>
            </a:r>
          </a:p>
          <a:p>
            <a:pPr>
              <a:spcAft>
                <a:spcPts val="1100"/>
              </a:spcAft>
              <a:defRPr sz="1700" b="0">
                <a:solidFill>
                  <a:srgbClr val="F8FAFD"/>
                </a:solidFill>
                <a:latin typeface="Aptos"/>
              </a:defRPr>
            </a:pPr>
            <a:r>
              <a:t>Avoid excessive decoration or very tight spacing.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07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54864" cy="6858000"/>
          </a:xfrm>
          <a:prstGeom prst="rect">
            <a:avLst/>
          </a:prstGeom>
          <a:solidFill>
            <a:srgbClr val="2C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38912"/>
            <a:ext cx="1088136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F8FAFD"/>
                </a:solidFill>
                <a:latin typeface="Aptos"/>
              </a:rPr>
              <a:t>Text Formatting •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097280"/>
            <a:ext cx="107899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A4B4CD"/>
                </a:solidFill>
                <a:latin typeface="Aptos"/>
              </a:rPr>
              <a:t>Apply a few focused rules rather than styling every element independently.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A4B4CD"/>
                </a:solidFill>
                <a:latin typeface="Aptos"/>
              </a:rPr>
              <a:t>W2 • BASIC CSS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2CCCD5"/>
                </a:solidFill>
                <a:latin typeface="Aptos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8691" y="1572767"/>
            <a:ext cx="6067829" cy="4652541"/>
          </a:xfrm>
          <a:prstGeom prst="roundRect">
            <a:avLst/>
          </a:prstGeom>
          <a:solidFill>
            <a:srgbClr val="19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78408" y="1764792"/>
            <a:ext cx="526694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2CCCD5"/>
                </a:solidFill>
                <a:latin typeface="Aptos"/>
              </a:rPr>
              <a:t>CSS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084832"/>
            <a:ext cx="5266944" cy="3886200"/>
          </a:xfrm>
          <a:prstGeom prst="rect">
            <a:avLst/>
          </a:prstGeom>
          <a:noFill/>
        </p:spPr>
        <p:txBody>
          <a:bodyPr wrap="none" lIns="0" tIns="0" rIns="0">
            <a:spAutoFit/>
          </a:bodyPr>
          <a:lstStyle/>
          <a:p>
            <a:pPr>
              <a:spcAft>
                <a:spcPts val="200"/>
              </a:spcAft>
              <a:defRPr sz="1600">
                <a:solidFill>
                  <a:srgbClr val="E0E8F4"/>
                </a:solidFill>
                <a:latin typeface="Consolas"/>
              </a:defRPr>
            </a:pPr>
            <a:r>
              <a:t>h1 {</a:t>
            </a:r>
          </a:p>
          <a:p>
            <a:pPr>
              <a:spcAft>
                <a:spcPts val="200"/>
              </a:spcAft>
              <a:defRPr sz="1600">
                <a:solidFill>
                  <a:srgbClr val="E0E8F4"/>
                </a:solidFill>
                <a:latin typeface="Consolas"/>
              </a:defRPr>
            </a:pPr>
            <a:r>
              <a:t>  text-align: center;</a:t>
            </a:r>
          </a:p>
          <a:p>
            <a:pPr>
              <a:spcAft>
                <a:spcPts val="200"/>
              </a:spcAft>
              <a:defRPr sz="1600">
                <a:solidFill>
                  <a:srgbClr val="E0E8F4"/>
                </a:solidFill>
                <a:latin typeface="Consolas"/>
              </a:defRPr>
            </a:pPr>
            <a:r>
              <a:t>  text-transform: uppercase;</a:t>
            </a:r>
          </a:p>
          <a:p>
            <a:pPr>
              <a:spcAft>
                <a:spcPts val="200"/>
              </a:spcAft>
              <a:defRPr sz="1600">
                <a:solidFill>
                  <a:srgbClr val="E0E8F4"/>
                </a:solidFill>
                <a:latin typeface="Consolas"/>
              </a:defRPr>
            </a:pPr>
            <a:r>
              <a:t>  letter-spacing: 1px;</a:t>
            </a:r>
          </a:p>
          <a:p>
            <a:pPr>
              <a:spcAft>
                <a:spcPts val="200"/>
              </a:spcAft>
              <a:defRPr sz="1600">
                <a:solidFill>
                  <a:srgbClr val="E0E8F4"/>
                </a:solidFill>
                <a:latin typeface="Consolas"/>
              </a:defRPr>
            </a:pPr>
            <a:r>
              <a:t>}</a:t>
            </a:r>
          </a:p>
          <a:p>
            <a:pPr>
              <a:spcAft>
                <a:spcPts val="200"/>
              </a:spcAft>
              <a:defRPr sz="1600">
                <a:solidFill>
                  <a:srgbClr val="E0E8F4"/>
                </a:solidFill>
                <a:latin typeface="Consolas"/>
              </a:defRPr>
            </a:pPr>
            <a:endParaRPr/>
          </a:p>
          <a:p>
            <a:pPr>
              <a:spcAft>
                <a:spcPts val="200"/>
              </a:spcAft>
              <a:defRPr sz="1600">
                <a:solidFill>
                  <a:srgbClr val="E0E8F4"/>
                </a:solidFill>
                <a:latin typeface="Consolas"/>
              </a:defRPr>
            </a:pPr>
            <a:r>
              <a:t>.notice {</a:t>
            </a:r>
          </a:p>
          <a:p>
            <a:pPr>
              <a:spcAft>
                <a:spcPts val="200"/>
              </a:spcAft>
              <a:defRPr sz="1600">
                <a:solidFill>
                  <a:srgbClr val="E0E8F4"/>
                </a:solidFill>
                <a:latin typeface="Consolas"/>
              </a:defRPr>
            </a:pPr>
            <a:r>
              <a:t>  text-decoration: underline;</a:t>
            </a:r>
          </a:p>
          <a:p>
            <a:pPr>
              <a:spcAft>
                <a:spcPts val="200"/>
              </a:spcAft>
              <a:defRPr sz="1600">
                <a:solidFill>
                  <a:srgbClr val="E0E8F4"/>
                </a:solidFill>
                <a:latin typeface="Consolas"/>
              </a:defRPr>
            </a:pPr>
            <a:r>
              <a:t>  text-indent: 20px;</a:t>
            </a:r>
          </a:p>
          <a:p>
            <a:pPr>
              <a:spcAft>
                <a:spcPts val="200"/>
              </a:spcAft>
              <a:defRPr sz="1600">
                <a:solidFill>
                  <a:srgbClr val="E0E8F4"/>
                </a:solidFill>
                <a:latin typeface="Consolas"/>
              </a:defRPr>
            </a:pPr>
            <a:r>
              <a:t>  line-height: 1.7;</a:t>
            </a:r>
          </a:p>
          <a:p>
            <a:pPr>
              <a:spcAft>
                <a:spcPts val="200"/>
              </a:spcAft>
              <a:defRPr sz="1600">
                <a:solidFill>
                  <a:srgbClr val="E0E8F4"/>
                </a:solidFill>
                <a:latin typeface="Consolas"/>
              </a:defRPr>
            </a:pPr>
            <a:r>
              <a:t>}</a:t>
            </a:r>
          </a:p>
          <a:p>
            <a:pPr>
              <a:spcAft>
                <a:spcPts val="200"/>
              </a:spcAft>
              <a:defRPr sz="1600">
                <a:solidFill>
                  <a:srgbClr val="E0E8F4"/>
                </a:solidFill>
                <a:latin typeface="Consolas"/>
              </a:defRPr>
            </a:pPr>
            <a:endParaRPr/>
          </a:p>
          <a:p>
            <a:pPr>
              <a:spcAft>
                <a:spcPts val="200"/>
              </a:spcAft>
              <a:defRPr sz="1600">
                <a:solidFill>
                  <a:srgbClr val="E0E8F4"/>
                </a:solidFill>
                <a:latin typeface="Consolas"/>
              </a:defRPr>
            </a:pPr>
            <a:r>
              <a:t>.muted {</a:t>
            </a:r>
          </a:p>
          <a:p>
            <a:pPr>
              <a:spcAft>
                <a:spcPts val="200"/>
              </a:spcAft>
              <a:defRPr sz="1600">
                <a:solidFill>
                  <a:srgbClr val="E0E8F4"/>
                </a:solidFill>
                <a:latin typeface="Consolas"/>
              </a:defRPr>
            </a:pPr>
            <a:r>
              <a:t>  color: #58657a;</a:t>
            </a:r>
          </a:p>
          <a:p>
            <a:pPr>
              <a:spcAft>
                <a:spcPts val="200"/>
              </a:spcAft>
              <a:defRPr sz="1600">
                <a:solidFill>
                  <a:srgbClr val="E0E8F4"/>
                </a:solidFill>
                <a:latin typeface="Consolas"/>
              </a:defRPr>
            </a:pPr>
            <a:r>
              <a:t>}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20840" y="1645920"/>
            <a:ext cx="4480560" cy="4434840"/>
          </a:xfrm>
          <a:prstGeom prst="roundRect">
            <a:avLst/>
          </a:prstGeom>
          <a:solidFill>
            <a:srgbClr val="F8FA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086600" y="2103120"/>
            <a:ext cx="3749039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 i="0">
                <a:solidFill>
                  <a:srgbClr val="3077EB"/>
                </a:solidFill>
                <a:latin typeface="Aptos"/>
              </a:rPr>
              <a:t>WELCOME TO CSS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3063240"/>
            <a:ext cx="3657600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i="0">
                <a:solidFill>
                  <a:srgbClr val="192640"/>
                </a:solidFill>
                <a:latin typeface="Aptos"/>
              </a:rPr>
              <a:t>This notice uses a subtle underline and increased line spacing to improve readability.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4754880"/>
            <a:ext cx="3657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58657A"/>
                </a:solidFill>
                <a:latin typeface="Aptos"/>
              </a:rPr>
              <a:t>Supporting text appears in a softer color.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07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54864" cy="6858000"/>
          </a:xfrm>
          <a:prstGeom prst="rect">
            <a:avLst/>
          </a:prstGeom>
          <a:solidFill>
            <a:srgbClr val="2C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38912"/>
            <a:ext cx="1088136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F8FAFD"/>
                </a:solidFill>
                <a:latin typeface="Aptos"/>
              </a:rPr>
              <a:t>CSS Cascade: Which Rule Wins?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097280"/>
            <a:ext cx="107899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A4B4CD"/>
                </a:solidFill>
                <a:latin typeface="Aptos"/>
              </a:rPr>
              <a:t>When multiple declarations target an element, the browser resolves conflicts.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A4B4CD"/>
                </a:solidFill>
                <a:latin typeface="Aptos"/>
              </a:rPr>
              <a:t>W2 • BASIC CSS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2CCCD5"/>
                </a:solidFill>
                <a:latin typeface="Aptos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00200"/>
            <a:ext cx="10424160" cy="43891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F8FAFD"/>
                </a:solidFill>
                <a:latin typeface="Aptos"/>
              </a:defRPr>
            </a:pPr>
            <a:r>
              <a:t>•  The cascade considers origin, importance, specificity, and source order.</a:t>
            </a:r>
          </a:p>
          <a:p>
            <a:pPr>
              <a:spcAft>
                <a:spcPts val="1400"/>
              </a:spcAft>
              <a:defRPr sz="2000">
                <a:solidFill>
                  <a:srgbClr val="F8FAFD"/>
                </a:solidFill>
                <a:latin typeface="Aptos"/>
              </a:defRPr>
            </a:pPr>
            <a:r>
              <a:t>•  A more specific selector generally beats a less specific selector.</a:t>
            </a:r>
          </a:p>
          <a:p>
            <a:pPr>
              <a:spcAft>
                <a:spcPts val="1400"/>
              </a:spcAft>
              <a:defRPr sz="2000">
                <a:solidFill>
                  <a:srgbClr val="F8FAFD"/>
                </a:solidFill>
                <a:latin typeface="Aptos"/>
              </a:defRPr>
            </a:pPr>
            <a:r>
              <a:t>•  When specificity is equal, a later declaration usually wins.</a:t>
            </a:r>
          </a:p>
          <a:p>
            <a:pPr>
              <a:spcAft>
                <a:spcPts val="1400"/>
              </a:spcAft>
              <a:defRPr sz="2000">
                <a:solidFill>
                  <a:srgbClr val="F8FAFD"/>
                </a:solidFill>
                <a:latin typeface="Aptos"/>
              </a:defRPr>
            </a:pPr>
            <a:r>
              <a:t>•  Avoid relying on !important as a routine fix.</a:t>
            </a:r>
          </a:p>
          <a:p>
            <a:pPr>
              <a:spcAft>
                <a:spcPts val="1400"/>
              </a:spcAft>
              <a:defRPr sz="2000">
                <a:solidFill>
                  <a:srgbClr val="F8FAFD"/>
                </a:solidFill>
                <a:latin typeface="Aptos"/>
              </a:defRPr>
            </a:pPr>
            <a:r>
              <a:t>•  External CSS can still be overridden by other applicable rules.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0" y="4617720"/>
            <a:ext cx="8503920" cy="1444752"/>
          </a:xfrm>
          <a:prstGeom prst="roundRect">
            <a:avLst/>
          </a:prstGeom>
          <a:solidFill>
            <a:srgbClr val="1926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029968" y="4736592"/>
            <a:ext cx="810158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2CCCD5"/>
                </a:solidFill>
                <a:latin typeface="Aptos"/>
              </a:rPr>
              <a:t>SPECIFICITY EXAMPLE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29968" y="5056631"/>
            <a:ext cx="8101584" cy="685800"/>
          </a:xfrm>
          <a:prstGeom prst="rect">
            <a:avLst/>
          </a:prstGeom>
          <a:noFill/>
        </p:spPr>
        <p:txBody>
          <a:bodyPr wrap="none" lIns="0" tIns="0" rIns="0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E0E8F4"/>
                </a:solidFill>
                <a:latin typeface="Consolas"/>
              </a:defRPr>
            </a:pPr>
            <a:r>
              <a:t>p { color: navy; }</a:t>
            </a:r>
          </a:p>
          <a:p>
            <a:pPr>
              <a:spcAft>
                <a:spcPts val="200"/>
              </a:spcAft>
              <a:defRPr sz="1400">
                <a:solidFill>
                  <a:srgbClr val="E0E8F4"/>
                </a:solidFill>
                <a:latin typeface="Consolas"/>
              </a:defRPr>
            </a:pPr>
            <a:r>
              <a:t>.article p { color: teal; }</a:t>
            </a:r>
          </a:p>
          <a:p>
            <a:pPr>
              <a:spcAft>
                <a:spcPts val="200"/>
              </a:spcAft>
              <a:defRPr sz="1400">
                <a:solidFill>
                  <a:srgbClr val="E0E8F4"/>
                </a:solidFill>
                <a:latin typeface="Consolas"/>
              </a:defRPr>
            </a:pPr>
            <a:endParaRPr/>
          </a:p>
          <a:p>
            <a:pPr>
              <a:spcAft>
                <a:spcPts val="200"/>
              </a:spcAft>
              <a:defRPr sz="1400">
                <a:solidFill>
                  <a:srgbClr val="59D29B"/>
                </a:solidFill>
                <a:latin typeface="Consolas"/>
              </a:defRPr>
            </a:pPr>
            <a:r>
              <a:t>/* A paragraph inside .article is teal. */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07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54864" cy="6858000"/>
          </a:xfrm>
          <a:prstGeom prst="rect">
            <a:avLst/>
          </a:prstGeom>
          <a:solidFill>
            <a:srgbClr val="2C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38912"/>
            <a:ext cx="1088136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F8FAFD"/>
                </a:solidFill>
                <a:latin typeface="Aptos"/>
              </a:rPr>
              <a:t>Guided Practice • Style a Profile Card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097280"/>
            <a:ext cx="107899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A4B4CD"/>
                </a:solidFill>
                <a:latin typeface="Aptos"/>
              </a:rPr>
              <a:t>Create a small profile card using an external stylesheet.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A4B4CD"/>
                </a:solidFill>
                <a:latin typeface="Aptos"/>
              </a:rPr>
              <a:t>W2 • BASIC CSS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2CCCD5"/>
                </a:solidFill>
                <a:latin typeface="Aptos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00200"/>
            <a:ext cx="10424160" cy="43891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8FAFD"/>
                </a:solidFill>
                <a:latin typeface="Aptos"/>
              </a:defRPr>
            </a:pPr>
            <a:r>
              <a:t>•  Create index.html and styles.css in one project folder.</a:t>
            </a:r>
          </a:p>
          <a:p>
            <a:pPr>
              <a:spcAft>
                <a:spcPts val="1400"/>
              </a:spcAft>
              <a:defRPr sz="1800">
                <a:solidFill>
                  <a:srgbClr val="F8FAFD"/>
                </a:solidFill>
                <a:latin typeface="Aptos"/>
              </a:defRPr>
            </a:pPr>
            <a:r>
              <a:t>•  Add a heading, a short paragraph, and a link or button in the HTML.</a:t>
            </a:r>
          </a:p>
          <a:p>
            <a:pPr>
              <a:spcAft>
                <a:spcPts val="1400"/>
              </a:spcAft>
              <a:defRPr sz="1800">
                <a:solidFill>
                  <a:srgbClr val="F8FAFD"/>
                </a:solidFill>
                <a:latin typeface="Aptos"/>
              </a:defRPr>
            </a:pPr>
            <a:r>
              <a:t>•  Link styles.css from the document head.</a:t>
            </a:r>
          </a:p>
          <a:p>
            <a:pPr>
              <a:spcAft>
                <a:spcPts val="1400"/>
              </a:spcAft>
              <a:defRPr sz="1800">
                <a:solidFill>
                  <a:srgbClr val="F8FAFD"/>
                </a:solidFill>
                <a:latin typeface="Aptos"/>
              </a:defRPr>
            </a:pPr>
            <a:r>
              <a:t>•  Style the page background, heading color, font family, and line height.</a:t>
            </a:r>
          </a:p>
          <a:p>
            <a:pPr>
              <a:spcAft>
                <a:spcPts val="1400"/>
              </a:spcAft>
              <a:defRPr sz="1800">
                <a:solidFill>
                  <a:srgbClr val="F8FAFD"/>
                </a:solidFill>
                <a:latin typeface="Aptos"/>
              </a:defRPr>
            </a:pPr>
            <a:r>
              <a:t>•  Give the card padding, a border, rounded corners, and margin.</a:t>
            </a:r>
          </a:p>
          <a:p>
            <a:pPr>
              <a:spcAft>
                <a:spcPts val="1400"/>
              </a:spcAft>
              <a:defRPr sz="1800">
                <a:solidFill>
                  <a:srgbClr val="F8FAFD"/>
                </a:solidFill>
                <a:latin typeface="Aptos"/>
              </a:defRPr>
            </a:pPr>
            <a:r>
              <a:t>•  Change the heading alignment and apply one text-formatting property.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07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54864" cy="6858000"/>
          </a:xfrm>
          <a:prstGeom prst="rect">
            <a:avLst/>
          </a:prstGeom>
          <a:solidFill>
            <a:srgbClr val="2C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38912"/>
            <a:ext cx="1088136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F8FAFD"/>
                </a:solidFill>
                <a:latin typeface="Aptos"/>
              </a:rPr>
              <a:t>Quick Check • Review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097280"/>
            <a:ext cx="107899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A4B4CD"/>
                </a:solidFill>
                <a:latin typeface="Aptos"/>
              </a:rPr>
              <a:t>Answer briefly, then compare your reasoning with the class.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A4B4CD"/>
                </a:solidFill>
                <a:latin typeface="Aptos"/>
              </a:rPr>
              <a:t>W2 • BASIC CSS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2CCCD5"/>
                </a:solidFill>
                <a:latin typeface="Aptos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00200"/>
            <a:ext cx="10424160" cy="43891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1400"/>
              </a:spcAft>
              <a:defRPr sz="1900">
                <a:solidFill>
                  <a:srgbClr val="F8FAFD"/>
                </a:solidFill>
                <a:latin typeface="Aptos"/>
              </a:defRPr>
            </a:pPr>
            <a:r>
              <a:t>•  What problem does CSS solve in a website?</a:t>
            </a:r>
          </a:p>
          <a:p>
            <a:pPr>
              <a:spcAft>
                <a:spcPts val="1400"/>
              </a:spcAft>
              <a:defRPr sz="1900">
                <a:solidFill>
                  <a:srgbClr val="F8FAFD"/>
                </a:solidFill>
                <a:latin typeface="Aptos"/>
              </a:defRPr>
            </a:pPr>
            <a:r>
              <a:t>•  Name one advantage of an external stylesheet.</a:t>
            </a:r>
          </a:p>
          <a:p>
            <a:pPr>
              <a:spcAft>
                <a:spcPts val="1400"/>
              </a:spcAft>
              <a:defRPr sz="1900">
                <a:solidFill>
                  <a:srgbClr val="F8FAFD"/>
                </a:solidFill>
                <a:latin typeface="Aptos"/>
              </a:defRPr>
            </a:pPr>
            <a:r>
              <a:t>•  In a CSS rule, what are a selector, property, and value?</a:t>
            </a:r>
          </a:p>
          <a:p>
            <a:pPr>
              <a:spcAft>
                <a:spcPts val="1400"/>
              </a:spcAft>
              <a:defRPr sz="1900">
                <a:solidFill>
                  <a:srgbClr val="F8FAFD"/>
                </a:solidFill>
                <a:latin typeface="Aptos"/>
              </a:defRPr>
            </a:pPr>
            <a:r>
              <a:t>•  How are margin and padding different?</a:t>
            </a:r>
          </a:p>
          <a:p>
            <a:pPr>
              <a:spcAft>
                <a:spcPts val="1400"/>
              </a:spcAft>
              <a:defRPr sz="1900">
                <a:solidFill>
                  <a:srgbClr val="F8FAFD"/>
                </a:solidFill>
                <a:latin typeface="Aptos"/>
              </a:defRPr>
            </a:pPr>
            <a:r>
              <a:t>•  Which property changes the font family? Which controls line spacing?</a:t>
            </a:r>
          </a:p>
          <a:p>
            <a:pPr>
              <a:spcAft>
                <a:spcPts val="1400"/>
              </a:spcAft>
              <a:defRPr sz="1900">
                <a:solidFill>
                  <a:srgbClr val="F8FAFD"/>
                </a:solidFill>
                <a:latin typeface="Aptos"/>
              </a:defRPr>
            </a:pPr>
            <a:r>
              <a:t>•  What would you check first if an external stylesheet does not load?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B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07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09728" y="0"/>
            <a:ext cx="54864" cy="6858000"/>
          </a:xfrm>
          <a:prstGeom prst="rect">
            <a:avLst/>
          </a:prstGeom>
          <a:solidFill>
            <a:srgbClr val="2CCC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438912"/>
            <a:ext cx="1088136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F8FAFD"/>
                </a:solidFill>
                <a:latin typeface="Aptos"/>
              </a:rP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097280"/>
            <a:ext cx="1078992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>
                <a:solidFill>
                  <a:srgbClr val="A4B4CD"/>
                </a:solidFill>
                <a:latin typeface="Aptos"/>
              </a:rPr>
              <a:t>The core ideas to remember from W2.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5029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>
                <a:solidFill>
                  <a:srgbClr val="A4B4CD"/>
                </a:solidFill>
                <a:latin typeface="Aptos"/>
              </a:rPr>
              <a:t>W2 • BASIC CSS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01400" y="6473952"/>
            <a:ext cx="4572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1" i="0">
                <a:solidFill>
                  <a:srgbClr val="2CCCD5"/>
                </a:solidFill>
                <a:latin typeface="Aptos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00200"/>
            <a:ext cx="10424160" cy="4389120"/>
          </a:xfrm>
          <a:prstGeom prst="rect">
            <a:avLst/>
          </a:prstGeom>
          <a:noFill/>
        </p:spPr>
        <p:txBody>
          <a:bodyPr wrap="square" lIns="73152" tIns="73152" rIns="73152" bIns="73152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F8FAFD"/>
                </a:solidFill>
                <a:latin typeface="Aptos"/>
              </a:defRPr>
            </a:pPr>
            <a:r>
              <a:t>•  HTML provides structure; CSS provides presentation.</a:t>
            </a:r>
          </a:p>
          <a:p>
            <a:pPr>
              <a:spcAft>
                <a:spcPts val="1400"/>
              </a:spcAft>
              <a:defRPr sz="2000">
                <a:solidFill>
                  <a:srgbClr val="F8FAFD"/>
                </a:solidFill>
                <a:latin typeface="Aptos"/>
              </a:defRPr>
            </a:pPr>
            <a:r>
              <a:t>•  A CSS rule combines a selector with declarations.</a:t>
            </a:r>
          </a:p>
          <a:p>
            <a:pPr>
              <a:spcAft>
                <a:spcPts val="1400"/>
              </a:spcAft>
              <a:defRPr sz="2000">
                <a:solidFill>
                  <a:srgbClr val="F8FAFD"/>
                </a:solidFill>
                <a:latin typeface="Aptos"/>
              </a:defRPr>
            </a:pPr>
            <a:r>
              <a:t>•  External stylesheets improve reuse and maintainability.</a:t>
            </a:r>
          </a:p>
          <a:p>
            <a:pPr>
              <a:spcAft>
                <a:spcPts val="1400"/>
              </a:spcAft>
              <a:defRPr sz="2000">
                <a:solidFill>
                  <a:srgbClr val="F8FAFD"/>
                </a:solidFill>
                <a:latin typeface="Aptos"/>
              </a:defRPr>
            </a:pPr>
            <a:r>
              <a:t>•  CSS properties control color, dimensions, spacing, fonts, and text appearance.</a:t>
            </a:r>
          </a:p>
          <a:p>
            <a:pPr>
              <a:spcAft>
                <a:spcPts val="1400"/>
              </a:spcAft>
              <a:defRPr sz="2000">
                <a:solidFill>
                  <a:srgbClr val="F8FAFD"/>
                </a:solidFill>
                <a:latin typeface="Aptos"/>
              </a:defRPr>
            </a:pPr>
            <a:r>
              <a:t>•  Readable typography and consistent spacing improve usability.</a:t>
            </a:r>
          </a:p>
          <a:p>
            <a:pPr>
              <a:spcAft>
                <a:spcPts val="1400"/>
              </a:spcAft>
              <a:defRPr sz="2000">
                <a:solidFill>
                  <a:srgbClr val="F8FAFD"/>
                </a:solidFill>
                <a:latin typeface="Aptos"/>
              </a:defRPr>
            </a:pPr>
            <a:r>
              <a:t>•  Test changes in the browser and troubleshoot paths and syntax systematically.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71500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2CCCD5"/>
                </a:solidFill>
                <a:latin typeface="Aptos"/>
              </a:rPr>
              <a:t>Next step: practice styling the same HTML page with different CSS rules.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1587</Words>
  <Application>Microsoft Office PowerPoint</Application>
  <PresentationFormat>Widescreen</PresentationFormat>
  <Paragraphs>252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DELL E7450 A&amp;I</cp:lastModifiedBy>
  <cp:revision>6</cp:revision>
  <dcterms:created xsi:type="dcterms:W3CDTF">2013-01-27T09:14:16Z</dcterms:created>
  <dcterms:modified xsi:type="dcterms:W3CDTF">2026-10-15T06:31:03Z</dcterms:modified>
  <cp:category/>
</cp:coreProperties>
</file>