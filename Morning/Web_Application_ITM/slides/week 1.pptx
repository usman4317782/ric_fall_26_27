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64008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1828800"/>
            <a:ext cx="1234440" cy="1234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2834640"/>
            <a:ext cx="685800" cy="6858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WEB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Introduction to the
World Wide Web &amp; 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6035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38BDF8"/>
                </a:solidFill>
                <a:latin typeface="Aptos"/>
              </a:rPr>
              <a:t>Week 1  |  Lecture 1 &amp; Lecture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4008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B4C2D6"/>
                </a:solidFill>
                <a:latin typeface="Aptos"/>
              </a:rPr>
              <a:t>From the web’s foundations to the structure of an HTML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840480"/>
            <a:ext cx="3657600" cy="1828800"/>
          </a:xfrm>
          <a:prstGeom prst="roundRect">
            <a:avLst/>
          </a:prstGeom>
          <a:solidFill>
            <a:srgbClr val="080F1D"/>
          </a:solidFill>
          <a:ln>
            <a:solidFill>
              <a:srgbClr val="35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4160520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onsolas"/>
              </a:rPr>
              <a:t>&lt;html&gt;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526280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  <a:latin typeface="Consolas"/>
              </a:rPr>
              <a:t>  &lt;body&gt;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892040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onsolas"/>
              </a:rPr>
              <a:t>    Hello, Web!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257800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  <a:latin typeface="Consolas"/>
              </a:rPr>
              <a:t>  &lt;/body&gt;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623560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onsolas"/>
              </a:rPr>
              <a:t>&lt;/html&gt;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73952"/>
            <a:ext cx="4572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424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Aptos"/>
              </a:rPr>
              <a:t>By the end of these lectures, you should be able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332720" cy="3749039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Explain the importance of the World Wide Web and distinguish it from the Internet.</a:t>
            </a:r>
          </a:p>
          <a:p>
            <a:pPr>
              <a:spcAft>
                <a:spcPts val="12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Compare static and dynamic websites using practical examples.</a:t>
            </a:r>
          </a:p>
          <a:p>
            <a:pPr>
              <a:spcAft>
                <a:spcPts val="12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Differentiate markup languages from programming languages.</a:t>
            </a:r>
          </a:p>
          <a:p>
            <a:pPr>
              <a:spcAft>
                <a:spcPts val="12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Describe HTML, tags, attributes, standards, editors, and common file extensions.</a:t>
            </a:r>
          </a:p>
          <a:p>
            <a:pPr>
              <a:spcAft>
                <a:spcPts val="12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Create a valid basic HTML document and explain its main parts.</a:t>
            </a:r>
          </a:p>
          <a:p>
            <a:pPr>
              <a:spcAft>
                <a:spcPts val="12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Use paragraphs, text formatting, links, images, tables, forms, and meta tags.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What is the World Wide Web?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82880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54864" cy="14996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The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44952" cy="10241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B4C2D6"/>
                </a:solidFill>
                <a:latin typeface="Aptos"/>
              </a:rPr>
              <a:t>A system of interlinked pages and resources accessed through web browsers.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182880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01952"/>
            <a:ext cx="54864" cy="14996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The Internet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10241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B4C2D6"/>
                </a:solidFill>
                <a:latin typeface="Aptos"/>
              </a:rPr>
              <a:t>The global network infrastructure that connects devices and networks.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182880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901952"/>
            <a:ext cx="54864" cy="14996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A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044952" cy="10241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B4C2D6"/>
                </a:solidFill>
                <a:latin typeface="Aptos"/>
              </a:rPr>
              <a:t>Software that requests, interprets, and displays web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4B8A6"/>
                </a:solidFill>
                <a:latin typeface="Aptos"/>
              </a:rPr>
              <a:t>Typical journey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09160"/>
            <a:ext cx="2057400" cy="822960"/>
          </a:xfrm>
          <a:prstGeom prst="roundRect">
            <a:avLst/>
          </a:prstGeom>
          <a:solidFill>
            <a:srgbClr val="162037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87451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User enters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892040"/>
            <a:ext cx="502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709160"/>
            <a:ext cx="2057400" cy="822960"/>
          </a:xfrm>
          <a:prstGeom prst="roundRect">
            <a:avLst/>
          </a:prstGeom>
          <a:solidFill>
            <a:srgbClr val="162037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03320" y="4937760"/>
            <a:ext cx="187451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Browser sends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892040"/>
            <a:ext cx="502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709160"/>
            <a:ext cx="2057400" cy="822960"/>
          </a:xfrm>
          <a:prstGeom prst="roundRect">
            <a:avLst/>
          </a:prstGeom>
          <a:solidFill>
            <a:srgbClr val="162037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937760"/>
            <a:ext cx="187451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Server responds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892040"/>
            <a:ext cx="502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4709160"/>
            <a:ext cx="2057400" cy="822960"/>
          </a:xfrm>
          <a:prstGeom prst="roundRect">
            <a:avLst/>
          </a:prstGeom>
          <a:solidFill>
            <a:srgbClr val="162037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4937760"/>
            <a:ext cx="187451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Page is rendered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The Web commonly uses URLs, HTTP/HTTPS, browsers, and web servers.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Why is the Web important?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5087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54864" cy="1179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44952" cy="704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Messaging, collaboration, publishing, and social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15087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01952"/>
            <a:ext cx="54864" cy="1179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704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Online courses, digital libraries, tutorials, and learning platforms.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15087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901952"/>
            <a:ext cx="54864" cy="1179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044952" cy="704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E-commerce, customer service, marketing, and online payments.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3429000" cy="15087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76472"/>
            <a:ext cx="54864" cy="1179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77647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Public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70248"/>
            <a:ext cx="3044952" cy="704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Portals for information, applications, and service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11880"/>
            <a:ext cx="3429000" cy="15087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776472"/>
            <a:ext cx="54864" cy="1179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377647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270248"/>
            <a:ext cx="3044952" cy="704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Access to publications, datasets, tools, and global communities.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611880"/>
            <a:ext cx="3429000" cy="15087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3776472"/>
            <a:ext cx="54864" cy="1179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77647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270248"/>
            <a:ext cx="3044952" cy="704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Information can be available across devices and locations.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B4C2D6"/>
                </a:solidFill>
                <a:latin typeface="Aptos"/>
              </a:rPr>
              <a:t>Good web experiences should also consider accessibility, privacy, security, and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Static vs. dynamic websites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29184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54864" cy="296265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STATIC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28032" cy="2487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B4C2D6"/>
                </a:solidFill>
                <a:latin typeface="Aptos"/>
              </a:rPr>
              <a:t>• Usually serves pre-prepared files
• Same core content for many visitors
• Often simple to host and cache
• Example: a basic portfolio or brochure 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329184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901952"/>
            <a:ext cx="54864" cy="29626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901952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DYNAMIC WEBSITE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95728"/>
            <a:ext cx="4828032" cy="2487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B4C2D6"/>
                </a:solidFill>
                <a:latin typeface="Aptos"/>
              </a:rPr>
              <a:t>• Content can change by user, data, or time
• May use server-side code, APIs, or databases
• Supports personalized and interactive features
• Example: a shopping site or student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6984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Aptos"/>
              </a:rPr>
              <a:t>Important: “static” does not mean “no interaction.” A static page can still use client-side JavaScript.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Markup languages vs. programming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06324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54864" cy="273405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Markup language — 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28032" cy="2258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B4C2D6"/>
                </a:solidFill>
                <a:latin typeface="Aptos"/>
              </a:rPr>
              <a:t>Describes the structure and meaning of content using elements and attributes.
Example: headings, paragraphs, links, and 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306324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901952"/>
            <a:ext cx="54864" cy="27340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901952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Programming language — 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95728"/>
            <a:ext cx="4828032" cy="2258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B4C2D6"/>
                </a:solidFill>
                <a:latin typeface="Aptos"/>
              </a:rPr>
              <a:t>Expresses instructions and logic to perform actions, calculate values, and respond to events.
Example: validate a form or update a 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HTML structures content • CSS controls presentation • JavaScript adds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HTML: the language of web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4B8A6"/>
                </a:solidFill>
                <a:latin typeface="Aptos"/>
              </a:rPr>
              <a:t>HTML stands for HyperText Markup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0241280" cy="246888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HyperText: text that can link to other documents or resources.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Markup: labels content so browsers can understand its role.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Language: a defined syntax and set of elements understood by browsers.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HTML is not a general-purpose programming language; it primarily describes document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83480"/>
            <a:ext cx="10241280" cy="1143000"/>
          </a:xfrm>
          <a:prstGeom prst="roundRect">
            <a:avLst/>
          </a:prstGeom>
          <a:solidFill>
            <a:srgbClr val="080F1D"/>
          </a:solidFill>
          <a:ln>
            <a:solidFill>
              <a:srgbClr val="35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5102352"/>
            <a:ext cx="9912096" cy="9052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&lt;h1&gt;Welcome&lt;/h1&gt;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&lt;p&gt;This is a paragraph.&lt;/p&gt;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&lt;a href="https://example.com"&gt;Visit a website&lt;/a&gt;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Tags, elements, and attributes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92024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54864" cy="159105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44952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A tag is markup written inside angle brackets, such as &lt;p&gt; or &lt;/p&gt;.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192024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01952"/>
            <a:ext cx="54864" cy="15910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An element generally includes a start tag, content, and an end tag.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192024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901952"/>
            <a:ext cx="54864" cy="159105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Attribute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044952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Provides additional information in an element’s start tag.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160520"/>
            <a:ext cx="10424160" cy="960120"/>
          </a:xfrm>
          <a:prstGeom prst="roundRect">
            <a:avLst/>
          </a:prstGeom>
          <a:solidFill>
            <a:srgbClr val="080F1D"/>
          </a:solidFill>
          <a:ln>
            <a:solidFill>
              <a:srgbClr val="35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1" y="4279392"/>
            <a:ext cx="10094976" cy="7223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A7F3D0"/>
                </a:solidFill>
                <a:latin typeface="Consolas"/>
              </a:defRPr>
            </a:pPr>
            <a:r>
              <a:t>&lt;a href="https://example.com" target="_blank"&gt;Open example&lt;/a&gt;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0241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Here, &lt;a&gt; is the element tag; href and target are attributes; the link text is the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HTML enhancements and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82880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54864" cy="14996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HTML5-era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28032" cy="10241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B4C2D6"/>
                </a:solidFill>
                <a:latin typeface="Aptos"/>
              </a:rPr>
              <a:t>Semantic elements, audio/video, canvas, improved forms, and richer browser APIs.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182880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901952"/>
            <a:ext cx="54864" cy="14996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901952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Standards matter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95728"/>
            <a:ext cx="4828032" cy="10241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B4C2D6"/>
                </a:solidFill>
                <a:latin typeface="Aptos"/>
              </a:rPr>
              <a:t>Standards improve interoperability, consistency, accessibility, and maintainability.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104241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Modern HTML is maintained as a living standard by WHATWG; W3C also publishes web standards and guidance.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Aptos"/>
              </a:rPr>
              <a:t>Best practices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10241280" cy="100584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B4C2D6"/>
                </a:solidFill>
                <a:latin typeface="Aptos"/>
              </a:defRPr>
            </a:pPr>
            <a:r>
              <a:t>•  Use semantic elements where appropriate.</a:t>
            </a:r>
          </a:p>
          <a:p>
            <a:pPr>
              <a:spcAft>
                <a:spcPts val="500"/>
              </a:spcAft>
              <a:defRPr sz="1400">
                <a:solidFill>
                  <a:srgbClr val="B4C2D6"/>
                </a:solidFill>
                <a:latin typeface="Aptos"/>
              </a:defRPr>
            </a:pPr>
            <a:r>
              <a:t>•  Use valid nesting, meaningful alternative text, and accessible labels.</a:t>
            </a:r>
          </a:p>
          <a:p>
            <a:pPr>
              <a:spcAft>
                <a:spcPts val="500"/>
              </a:spcAft>
              <a:defRPr sz="1400">
                <a:solidFill>
                  <a:srgbClr val="B4C2D6"/>
                </a:solidFill>
                <a:latin typeface="Aptos"/>
              </a:defRPr>
            </a:pPr>
            <a:r>
              <a:t>•  Test pages in more than one browser and at different screen sizes.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Creating HTML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332720" cy="246888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Write HTML in a text editor or code editor (for example, VS Code, Notepad++, or a simple text editor).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Save the file with an .html or .htm extension.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Open the file in a browser to view the rendered page.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Edit, save, and refresh the browser to see changes.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Keep filenames simple and avoid confusing extensions such as .html.txt.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3246120" cy="114300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736592"/>
            <a:ext cx="54864" cy="8138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736592"/>
            <a:ext cx="28620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.html / .htm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5230368"/>
            <a:ext cx="2862072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B4C2D6"/>
                </a:solidFill>
                <a:latin typeface="Aptos"/>
              </a:rPr>
              <a:t>HTML document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572000"/>
            <a:ext cx="3246120" cy="114300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4736592"/>
            <a:ext cx="54864" cy="8138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4736592"/>
            <a:ext cx="28620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.css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5230368"/>
            <a:ext cx="2862072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B4C2D6"/>
                </a:solidFill>
                <a:latin typeface="Aptos"/>
              </a:rPr>
              <a:t>Stylesheet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572000"/>
            <a:ext cx="3246120" cy="114300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4736592"/>
            <a:ext cx="54864" cy="8138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4736592"/>
            <a:ext cx="28620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5230368"/>
            <a:ext cx="2862072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B4C2D6"/>
                </a:solidFill>
                <a:latin typeface="Aptos"/>
              </a:rPr>
              <a:t>JavaScript 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Basic structure of an HTML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6492240" cy="4343400"/>
          </a:xfrm>
          <a:prstGeom prst="roundRect">
            <a:avLst/>
          </a:prstGeom>
          <a:solidFill>
            <a:srgbClr val="080F1D"/>
          </a:solidFill>
          <a:ln>
            <a:solidFill>
              <a:srgbClr val="35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10512"/>
            <a:ext cx="5267468" cy="32624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&lt;!</a:t>
            </a:r>
            <a:r>
              <a:rPr dirty="0" err="1"/>
              <a:t>doctype</a:t>
            </a:r>
            <a:r>
              <a:rPr dirty="0"/>
              <a:t> html&gt;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&lt;html </a:t>
            </a:r>
            <a:r>
              <a:rPr dirty="0" err="1"/>
              <a:t>lang</a:t>
            </a:r>
            <a:r>
              <a:rPr dirty="0"/>
              <a:t>="</a:t>
            </a:r>
            <a:r>
              <a:rPr dirty="0" err="1"/>
              <a:t>en</a:t>
            </a:r>
            <a:r>
              <a:rPr dirty="0"/>
              <a:t>"&gt;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&lt;head&gt;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  &lt;meta charset="UTF-8"&gt;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  &lt;meta name="viewport" content="width=device-width, </a:t>
            </a:r>
            <a:endParaRPr lang="en-GB" dirty="0" smtClean="0"/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lang="en-GB" dirty="0"/>
              <a:t>	</a:t>
            </a:r>
            <a:r>
              <a:rPr dirty="0" smtClean="0"/>
              <a:t>initial-scale=1.0</a:t>
            </a:r>
            <a:r>
              <a:rPr dirty="0"/>
              <a:t>"&gt;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  &lt;title&gt;My First Page&lt;/title&gt;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&lt;/head&gt;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&lt;body&gt;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  &lt;h1&gt;Hello, World!&lt;/h1&gt;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  &lt;p&gt;My first HTML page.&lt;/p&gt;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&lt;/body&gt;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rPr dirty="0"/>
              <a:t>&lt;/html&gt;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83080"/>
            <a:ext cx="3657600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947672"/>
            <a:ext cx="54864" cy="7223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194767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DOCTYPE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441448"/>
            <a:ext cx="3273552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Declares the document type for standards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063240"/>
            <a:ext cx="3657600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3227832"/>
            <a:ext cx="54864" cy="7223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322783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721608"/>
            <a:ext cx="3273552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Metadata and linked resources; not page body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343400"/>
            <a:ext cx="3657600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4507992"/>
            <a:ext cx="54864" cy="7223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450799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5001768"/>
            <a:ext cx="3273552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Content displayed as part of the page.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Paragraphs and text formatting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6492240" cy="4023360"/>
          </a:xfrm>
          <a:prstGeom prst="roundRect">
            <a:avLst/>
          </a:prstGeom>
          <a:solidFill>
            <a:srgbClr val="080F1D"/>
          </a:solidFill>
          <a:ln>
            <a:solidFill>
              <a:srgbClr val="35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56231"/>
            <a:ext cx="6242093" cy="21159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rPr dirty="0"/>
              <a:t>&lt;h1&gt;Main heading&lt;/h1&gt;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rPr dirty="0"/>
              <a:t>&lt;h2&gt;Subheading&lt;/h2&gt;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rPr dirty="0"/>
              <a:t>&lt;p&gt;This is a paragraph.&lt;/p&gt;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rPr dirty="0"/>
              <a:t>&lt;p&gt;&lt;strong&gt;Important&lt;/strong&gt; and &lt;</a:t>
            </a:r>
            <a:r>
              <a:rPr dirty="0" err="1"/>
              <a:t>em</a:t>
            </a:r>
            <a:r>
              <a:rPr dirty="0"/>
              <a:t>&gt;emphasized&lt;/</a:t>
            </a:r>
            <a:r>
              <a:rPr dirty="0" err="1"/>
              <a:t>em</a:t>
            </a:r>
            <a:r>
              <a:rPr dirty="0"/>
              <a:t>&gt; text</a:t>
            </a:r>
            <a:r>
              <a:rPr dirty="0" smtClean="0"/>
              <a:t>.</a:t>
            </a:r>
            <a:endParaRPr lang="en-GB" dirty="0" smtClean="0"/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rPr dirty="0" smtClean="0"/>
              <a:t>&lt;/</a:t>
            </a:r>
            <a:r>
              <a:rPr dirty="0"/>
              <a:t>p&gt;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rPr dirty="0"/>
              <a:t>&lt;p&gt;Line one&lt;</a:t>
            </a:r>
            <a:r>
              <a:rPr dirty="0" err="1"/>
              <a:t>br</a:t>
            </a:r>
            <a:r>
              <a:rPr dirty="0"/>
              <a:t>&gt;Line two&lt;/p&gt;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rPr dirty="0"/>
              <a:t>&lt;</a:t>
            </a:r>
            <a:r>
              <a:rPr dirty="0" err="1"/>
              <a:t>hr</a:t>
            </a:r>
            <a:r>
              <a:rPr dirty="0"/>
              <a:t>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rPr dirty="0"/>
              <a:t>&lt;p&gt;&lt;mark&gt;Highlighted text&lt;/mark&gt;&lt;/p&gt;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83080"/>
            <a:ext cx="3657600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947672"/>
            <a:ext cx="54864" cy="7223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194767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Headings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441448"/>
            <a:ext cx="3273552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Use h1–h6 to represent heading hierarchy.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063240"/>
            <a:ext cx="3657600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3227832"/>
            <a:ext cx="54864" cy="7223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322783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Meaningful emphasis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721608"/>
            <a:ext cx="3273552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Prefer strong and em when the meaning matters.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343400"/>
            <a:ext cx="3657600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4507992"/>
            <a:ext cx="54864" cy="7223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450799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Use elements correctly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5001768"/>
            <a:ext cx="3273552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Use br for a line break, not to create page spacing.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Links and 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2801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54864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Links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2803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The anchor element connects users to another page, file, section, or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4800600" cy="1051560"/>
          </a:xfrm>
          <a:prstGeom prst="roundRect">
            <a:avLst/>
          </a:prstGeom>
          <a:solidFill>
            <a:srgbClr val="080F1D"/>
          </a:solidFill>
          <a:ln>
            <a:solidFill>
              <a:srgbClr val="35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319272"/>
            <a:ext cx="4471416" cy="8138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&lt;a href="about.html"&gt;About us&lt;/a&gt;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&lt;a href="#contact"&gt;Go to contact&lt;/a&gt;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212080" cy="12801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901952"/>
            <a:ext cx="54864" cy="9509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901952"/>
            <a:ext cx="48280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395728"/>
            <a:ext cx="482803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The img element embeds an image; alt text conveys its meaning when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200400"/>
            <a:ext cx="4800600" cy="1051560"/>
          </a:xfrm>
          <a:prstGeom prst="roundRect">
            <a:avLst/>
          </a:prstGeom>
          <a:solidFill>
            <a:srgbClr val="080F1D"/>
          </a:solidFill>
          <a:ln>
            <a:solidFill>
              <a:srgbClr val="35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3319272"/>
            <a:ext cx="4471416" cy="8138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&lt;img src="images/campus.jpg"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     alt="University campus" width="600"&gt;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BBF24"/>
                </a:solidFill>
                <a:latin typeface="Aptos"/>
              </a:rPr>
              <a:t>Use descriptive link text, meaningful alt text, and appropriate image dimensions.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Creating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6400800" cy="4206240"/>
          </a:xfrm>
          <a:prstGeom prst="roundRect">
            <a:avLst/>
          </a:prstGeom>
          <a:solidFill>
            <a:srgbClr val="080F1D"/>
          </a:solidFill>
          <a:ln>
            <a:solidFill>
              <a:srgbClr val="35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56231"/>
            <a:ext cx="6071616" cy="39684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&lt;table&gt;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&lt;caption&gt;Student marks&lt;/caption&gt;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&lt;thead&gt;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  &lt;tr&gt;&lt;th scope="col"&gt;Name&lt;/th&gt;&lt;th scope="col"&gt;Marks&lt;/th&gt;&lt;/tr&gt;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&lt;/thead&gt;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&lt;tbody&gt;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  &lt;tr&gt;&lt;td&gt;Ayesha&lt;/td&gt;&lt;td&gt;85&lt;/td&gt;&lt;/tr&gt;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  &lt;tr&gt;&lt;td&gt;Bilal&lt;/td&gt;&lt;td&gt;78&lt;/td&gt;&lt;/tr&gt;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&lt;/tbody&gt;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&lt;/table&gt;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783080"/>
            <a:ext cx="3749039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947672"/>
            <a:ext cx="54864" cy="7223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44968" y="1947672"/>
            <a:ext cx="336499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2441448"/>
            <a:ext cx="3364991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Wraps tabular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063240"/>
            <a:ext cx="3749039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3227832"/>
            <a:ext cx="54864" cy="7223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4968" y="3227832"/>
            <a:ext cx="336499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tr / th / 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3721608"/>
            <a:ext cx="3364991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Rows, header cells, and data cells.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343400"/>
            <a:ext cx="3749039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43800" y="4507992"/>
            <a:ext cx="54864" cy="7223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8" y="4507992"/>
            <a:ext cx="336499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Accessibility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5001768"/>
            <a:ext cx="3364991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Use captions and clear header relationships.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Forms and user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6492240" cy="4206240"/>
          </a:xfrm>
          <a:prstGeom prst="roundRect">
            <a:avLst/>
          </a:prstGeom>
          <a:solidFill>
            <a:srgbClr val="080F1D"/>
          </a:solidFill>
          <a:ln>
            <a:solidFill>
              <a:srgbClr val="35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56231"/>
            <a:ext cx="6163055" cy="39684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&lt;form action="/register" method="post"&gt;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&lt;label for="name"&gt;Full name&lt;/label&gt;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&lt;input id="name" name="name" required&gt;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&lt;label for="email"&gt;Email&lt;/label&gt;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&lt;input id="email" name="email" type="email" required&gt;</a:t>
            </a:r>
          </a:p>
          <a:p>
            <a:pPr>
              <a:spcAft>
                <a:spcPts val="3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  &lt;button type="submit"&gt;Register&lt;/button&gt;</a:t>
            </a:r>
          </a:p>
          <a:p>
            <a:pPr>
              <a:spcAft>
                <a:spcPts val="300"/>
              </a:spcAft>
              <a:defRPr sz="1400">
                <a:solidFill>
                  <a:srgbClr val="A7F3D0"/>
                </a:solidFill>
                <a:latin typeface="Consolas"/>
              </a:defRPr>
            </a:pPr>
            <a:r>
              <a:t>&lt;/form&gt;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83080"/>
            <a:ext cx="3657600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947672"/>
            <a:ext cx="54864" cy="72237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194767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441448"/>
            <a:ext cx="3273552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Connects a clear description to an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063240"/>
            <a:ext cx="3657600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3227832"/>
            <a:ext cx="54864" cy="7223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322783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name attribute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721608"/>
            <a:ext cx="3273552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Identifies submitted data to the receiving endpoint.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343400"/>
            <a:ext cx="3657600" cy="105156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4507992"/>
            <a:ext cx="54864" cy="7223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450799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5001768"/>
            <a:ext cx="3273552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Use suitable input types and constraints; validate on the server too.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LECTURE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Meta tags and the document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6492240" cy="3383280"/>
          </a:xfrm>
          <a:prstGeom prst="roundRect">
            <a:avLst/>
          </a:prstGeom>
          <a:solidFill>
            <a:srgbClr val="080F1D"/>
          </a:solidFill>
          <a:ln>
            <a:solidFill>
              <a:srgbClr val="35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01952"/>
            <a:ext cx="6163055" cy="31455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&lt;head&gt;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  &lt;meta charset="UTF-8"&gt;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  &lt;meta name="viewport"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        content="width=device-width, initial-scale=1.0"&gt;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  &lt;meta name="description"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        content="An introduction to HTML."&gt;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  &lt;title&gt;Introduction to HTML&lt;/title&gt;</a:t>
            </a:r>
          </a:p>
          <a:p>
            <a:pPr>
              <a:spcAft>
                <a:spcPts val="300"/>
              </a:spcAft>
              <a:defRPr sz="1500">
                <a:solidFill>
                  <a:srgbClr val="A7F3D0"/>
                </a:solidFill>
                <a:latin typeface="Consolas"/>
              </a:defRPr>
            </a:pPr>
            <a:r>
              <a:t>&lt;/head&gt;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83080"/>
            <a:ext cx="3657600" cy="100584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947672"/>
            <a:ext cx="54864" cy="67665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194767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charset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441448"/>
            <a:ext cx="3273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Declares character encoding.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017520"/>
            <a:ext cx="3657600" cy="100584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3182112"/>
            <a:ext cx="54864" cy="6766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318211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viewport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675887"/>
            <a:ext cx="3273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Helps pages adapt to device width.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657600" cy="100584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4416552"/>
            <a:ext cx="54864" cy="67665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4416552"/>
            <a:ext cx="32735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4910328"/>
            <a:ext cx="3273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B4C2D6"/>
                </a:solidFill>
                <a:latin typeface="Aptos"/>
              </a:rPr>
              <a:t>Provides a concise page summary; search engines may use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B4C2D6"/>
                </a:solidFill>
                <a:latin typeface="Aptos"/>
              </a:rPr>
              <a:t>Meta elements provide metadata; they do not replace visible page content.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In-class activity: build a profile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Aptos"/>
              </a:rPr>
              <a:t>Create a file named profile.html and build a simple personal or fictional profile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241280" cy="320040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Include a page title, one main heading, and two paragraphs.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Format one phrase using strong or em.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Add one link to another page or a trusted website.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Insert an image with suitable alt text.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Create a small table with at least two rows of sample data.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Add a form with a name field, email field, and submit button.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Include charset and viewport meta tags.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Aptos"/>
              </a:rPr>
              <a:t>Check: save as .html, open in a browser, then inspect the source.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Aptos"/>
              </a:rP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77724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>
                <a:solidFill>
                  <a:srgbClr val="B4C2D6"/>
                </a:solidFill>
                <a:latin typeface="Aptos"/>
              </a:rPr>
              <a:t>W1  •  INTRODUCTION                                    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55448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54864" cy="122529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Web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44952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B4C2D6"/>
                </a:solidFill>
                <a:latin typeface="Aptos"/>
              </a:rPr>
              <a:t>The Web runs on Internet infrastructure and connects documents and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155448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01952"/>
            <a:ext cx="54864" cy="122529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HTML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B4C2D6"/>
                </a:solidFill>
                <a:latin typeface="Aptos"/>
              </a:rPr>
              <a:t>HTML uses elements and attributes to describe content and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1554480"/>
          </a:xfrm>
          <a:prstGeom prst="roundRect">
            <a:avLst/>
          </a:prstGeom>
          <a:solidFill>
            <a:srgbClr val="162037"/>
          </a:solidFill>
          <a:ln>
            <a:solidFill>
              <a:srgbClr val="2F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901952"/>
            <a:ext cx="54864" cy="122529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Page building blocks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044952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B4C2D6"/>
                </a:solidFill>
                <a:latin typeface="Aptos"/>
              </a:rPr>
              <a:t>Text, links, images, tables, forms, and metadata serve different roles.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2743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4B8A6"/>
                </a:solidFill>
                <a:latin typeface="Aptos"/>
              </a:rPr>
              <a:t>Quick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10332720" cy="164592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What is one difference between the Internet and the Web?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When might a website be described as dynamic?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What is the purpose of an HTML attribute?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Where do visible page contents usually go in an HTML document?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Why should a form input have a label?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96012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WEEK 1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Structure first.
Style and behavior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7772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>
                <a:solidFill>
                  <a:srgbClr val="B4C2D6"/>
                </a:solidFill>
                <a:latin typeface="Aptos"/>
              </a:rPr>
              <a:t>Next step: practice writing valid HTML by hand, then verify it in a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0"/>
            <a:ext cx="6400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HTML  •  CONTENT  •  LINKS  •  FORMS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1097280"/>
            <a:ext cx="1463040" cy="1463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2560320"/>
            <a:ext cx="1005840" cy="10058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0" y="3840480"/>
            <a:ext cx="594360" cy="5943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1706</Words>
  <Application>Microsoft Office PowerPoint</Application>
  <PresentationFormat>Widescreen</PresentationFormat>
  <Paragraphs>255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Introduction to the World Wide Web and HTML</dc:title>
  <dc:subject>Lecture 1 and Lecture 2 teaching presentation</dc:subject>
  <dc:creator>OpenAI</dc:creator>
  <cp:keywords>WWW, HTML, web development, lecture slides</cp:keywords>
  <dc:description>generated using python-pptx</dc:description>
  <cp:lastModifiedBy>DELL E7450 A&amp;I</cp:lastModifiedBy>
  <cp:revision>4</cp:revision>
  <dcterms:created xsi:type="dcterms:W3CDTF">2013-01-27T09:14:16Z</dcterms:created>
  <dcterms:modified xsi:type="dcterms:W3CDTF">2026-10-15T06:18:27Z</dcterms:modified>
  <cp:category/>
</cp:coreProperties>
</file>